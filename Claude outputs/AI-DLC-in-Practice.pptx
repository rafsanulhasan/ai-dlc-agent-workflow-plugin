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367" r:id="rId2"/>
    <p:sldId id="373" r:id="rId3"/>
    <p:sldId id="352" r:id="rId4"/>
    <p:sldId id="347" r:id="rId5"/>
    <p:sldId id="397" r:id="rId6"/>
    <p:sldId id="402" r:id="rId7"/>
    <p:sldId id="390" r:id="rId8"/>
    <p:sldId id="406" r:id="rId9"/>
    <p:sldId id="349" r:id="rId10"/>
    <p:sldId id="348" r:id="rId11"/>
    <p:sldId id="408" r:id="rId12"/>
    <p:sldId id="350" r:id="rId13"/>
    <p:sldId id="372" r:id="rId14"/>
    <p:sldId id="257" r:id="rId15"/>
    <p:sldId id="258" r:id="rId16"/>
    <p:sldId id="259" r:id="rId17"/>
    <p:sldId id="284" r:id="rId18"/>
    <p:sldId id="263" r:id="rId19"/>
    <p:sldId id="366" r:id="rId20"/>
    <p:sldId id="268" r:id="rId21"/>
    <p:sldId id="261" r:id="rId22"/>
    <p:sldId id="264" r:id="rId23"/>
    <p:sldId id="266" r:id="rId24"/>
    <p:sldId id="360" r:id="rId25"/>
    <p:sldId id="375" r:id="rId26"/>
    <p:sldId id="267" r:id="rId2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42824A6-926F-4130-B3BC-B0C063699EE0}" v="7" dt="2026-08-01T05:12:23.3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8184" autoAdjust="0"/>
    <p:restoredTop sz="64967" autoAdjust="0"/>
  </p:normalViewPr>
  <p:slideViewPr>
    <p:cSldViewPr snapToGrid="0" snapToObjects="1">
      <p:cViewPr>
        <p:scale>
          <a:sx n="75" d="100"/>
          <a:sy n="75" d="100"/>
        </p:scale>
        <p:origin x="307" y="62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fsanul Hasan" userId="229fc3553e4519d4" providerId="LiveId" clId="{5F5FE466-BA34-494F-AD44-0AB6F3856034}"/>
    <pc:docChg chg="undo custSel addSld delSld modSld sldOrd">
      <pc:chgData name="Rafsanul Hasan" userId="229fc3553e4519d4" providerId="LiveId" clId="{5F5FE466-BA34-494F-AD44-0AB6F3856034}" dt="2026-08-01T15:59:09.939" v="1672" actId="47"/>
      <pc:docMkLst>
        <pc:docMk/>
      </pc:docMkLst>
      <pc:sldChg chg="del">
        <pc:chgData name="Rafsanul Hasan" userId="229fc3553e4519d4" providerId="LiveId" clId="{5F5FE466-BA34-494F-AD44-0AB6F3856034}" dt="2026-08-01T15:59:09.939" v="1672" actId="47"/>
        <pc:sldMkLst>
          <pc:docMk/>
          <pc:sldMk cId="0" sldId="262"/>
        </pc:sldMkLst>
      </pc:sldChg>
      <pc:sldChg chg="ord">
        <pc:chgData name="Rafsanul Hasan" userId="229fc3553e4519d4" providerId="LiveId" clId="{5F5FE466-BA34-494F-AD44-0AB6F3856034}" dt="2026-08-01T08:34:29.699" v="1671"/>
        <pc:sldMkLst>
          <pc:docMk/>
          <pc:sldMk cId="0" sldId="263"/>
        </pc:sldMkLst>
      </pc:sldChg>
      <pc:sldChg chg="del">
        <pc:chgData name="Rafsanul Hasan" userId="229fc3553e4519d4" providerId="LiveId" clId="{5F5FE466-BA34-494F-AD44-0AB6F3856034}" dt="2026-08-01T08:34:19.501" v="1667" actId="47"/>
        <pc:sldMkLst>
          <pc:docMk/>
          <pc:sldMk cId="0" sldId="265"/>
        </pc:sldMkLst>
      </pc:sldChg>
      <pc:sldChg chg="modSp mod">
        <pc:chgData name="Rafsanul Hasan" userId="229fc3553e4519d4" providerId="LiveId" clId="{5F5FE466-BA34-494F-AD44-0AB6F3856034}" dt="2026-08-01T08:33:46.972" v="1666" actId="20577"/>
        <pc:sldMkLst>
          <pc:docMk/>
          <pc:sldMk cId="0" sldId="267"/>
        </pc:sldMkLst>
        <pc:spChg chg="mod">
          <ac:chgData name="Rafsanul Hasan" userId="229fc3553e4519d4" providerId="LiveId" clId="{5F5FE466-BA34-494F-AD44-0AB6F3856034}" dt="2026-08-01T08:33:46.972" v="1666" actId="20577"/>
          <ac:spMkLst>
            <pc:docMk/>
            <pc:sldMk cId="0" sldId="267"/>
            <ac:spMk id="5" creationId="{00000000-0000-0000-0000-000000000000}"/>
          </ac:spMkLst>
        </pc:spChg>
      </pc:sldChg>
      <pc:sldChg chg="modSp mod ord">
        <pc:chgData name="Rafsanul Hasan" userId="229fc3553e4519d4" providerId="LiveId" clId="{5F5FE466-BA34-494F-AD44-0AB6F3856034}" dt="2026-08-01T05:29:29.845" v="1485"/>
        <pc:sldMkLst>
          <pc:docMk/>
          <pc:sldMk cId="1600120864" sldId="348"/>
        </pc:sldMkLst>
        <pc:spChg chg="mod">
          <ac:chgData name="Rafsanul Hasan" userId="229fc3553e4519d4" providerId="LiveId" clId="{5F5FE466-BA34-494F-AD44-0AB6F3856034}" dt="2026-08-01T05:24:38.429" v="1470" actId="207"/>
          <ac:spMkLst>
            <pc:docMk/>
            <pc:sldMk cId="1600120864" sldId="348"/>
            <ac:spMk id="6" creationId="{D1691AE5-4F0E-4CAE-BD17-4FEEC0E29D52}"/>
          </ac:spMkLst>
        </pc:spChg>
      </pc:sldChg>
      <pc:sldChg chg="modSp mod">
        <pc:chgData name="Rafsanul Hasan" userId="229fc3553e4519d4" providerId="LiveId" clId="{5F5FE466-BA34-494F-AD44-0AB6F3856034}" dt="2026-08-01T05:27:10.589" v="1481" actId="14100"/>
        <pc:sldMkLst>
          <pc:docMk/>
          <pc:sldMk cId="1745436091" sldId="349"/>
        </pc:sldMkLst>
        <pc:spChg chg="mod">
          <ac:chgData name="Rafsanul Hasan" userId="229fc3553e4519d4" providerId="LiveId" clId="{5F5FE466-BA34-494F-AD44-0AB6F3856034}" dt="2026-08-01T05:27:10.589" v="1481" actId="14100"/>
          <ac:spMkLst>
            <pc:docMk/>
            <pc:sldMk cId="1745436091" sldId="349"/>
            <ac:spMk id="601" creationId="{00000000-0000-0000-0000-000000000000}"/>
          </ac:spMkLst>
        </pc:spChg>
        <pc:spChg chg="mod">
          <ac:chgData name="Rafsanul Hasan" userId="229fc3553e4519d4" providerId="LiveId" clId="{5F5FE466-BA34-494F-AD44-0AB6F3856034}" dt="2026-08-01T05:26:50.940" v="1477" actId="14100"/>
          <ac:spMkLst>
            <pc:docMk/>
            <pc:sldMk cId="1745436091" sldId="349"/>
            <ac:spMk id="612" creationId="{00000000-0000-0000-0000-000000000000}"/>
          </ac:spMkLst>
        </pc:spChg>
        <pc:spChg chg="mod">
          <ac:chgData name="Rafsanul Hasan" userId="229fc3553e4519d4" providerId="LiveId" clId="{5F5FE466-BA34-494F-AD44-0AB6F3856034}" dt="2026-08-01T05:26:39.492" v="1475" actId="14100"/>
          <ac:spMkLst>
            <pc:docMk/>
            <pc:sldMk cId="1745436091" sldId="349"/>
            <ac:spMk id="623" creationId="{00000000-0000-0000-0000-000000000000}"/>
          </ac:spMkLst>
        </pc:spChg>
      </pc:sldChg>
      <pc:sldChg chg="modSp del mod">
        <pc:chgData name="Rafsanul Hasan" userId="229fc3553e4519d4" providerId="LiveId" clId="{5F5FE466-BA34-494F-AD44-0AB6F3856034}" dt="2026-08-01T04:40:41.712" v="1151"/>
        <pc:sldMkLst>
          <pc:docMk/>
          <pc:sldMk cId="65766080" sldId="381"/>
        </pc:sldMkLst>
        <pc:spChg chg="mod">
          <ac:chgData name="Rafsanul Hasan" userId="229fc3553e4519d4" providerId="LiveId" clId="{5F5FE466-BA34-494F-AD44-0AB6F3856034}" dt="2026-07-31T22:53:39.463" v="139" actId="33524"/>
          <ac:spMkLst>
            <pc:docMk/>
            <pc:sldMk cId="65766080" sldId="381"/>
            <ac:spMk id="11" creationId="{22105EA8-50B9-1A04-CDA0-CD6C74BEA9F5}"/>
          </ac:spMkLst>
        </pc:spChg>
      </pc:sldChg>
      <pc:sldChg chg="del">
        <pc:chgData name="Rafsanul Hasan" userId="229fc3553e4519d4" providerId="LiveId" clId="{5F5FE466-BA34-494F-AD44-0AB6F3856034}" dt="2026-07-31T17:41:35.437" v="1"/>
        <pc:sldMkLst>
          <pc:docMk/>
          <pc:sldMk cId="1393610663" sldId="387"/>
        </pc:sldMkLst>
      </pc:sldChg>
      <pc:sldChg chg="modSp add del mod">
        <pc:chgData name="Rafsanul Hasan" userId="229fc3553e4519d4" providerId="LiveId" clId="{5F5FE466-BA34-494F-AD44-0AB6F3856034}" dt="2026-07-31T17:54:23.949" v="13"/>
        <pc:sldMkLst>
          <pc:docMk/>
          <pc:sldMk cId="936439164" sldId="388"/>
        </pc:sldMkLst>
        <pc:spChg chg="mod">
          <ac:chgData name="Rafsanul Hasan" userId="229fc3553e4519d4" providerId="LiveId" clId="{5F5FE466-BA34-494F-AD44-0AB6F3856034}" dt="2026-07-31T17:49:36.617" v="9"/>
          <ac:spMkLst>
            <pc:docMk/>
            <pc:sldMk cId="936439164" sldId="388"/>
            <ac:spMk id="1016" creationId="{6F03CF9A-94DB-4360-5490-8CFA120B1BA2}"/>
          </ac:spMkLst>
        </pc:spChg>
        <pc:cxnChg chg="mod">
          <ac:chgData name="Rafsanul Hasan" userId="229fc3553e4519d4" providerId="LiveId" clId="{5F5FE466-BA34-494F-AD44-0AB6F3856034}" dt="2026-07-31T17:50:23.979" v="10" actId="692"/>
          <ac:cxnSpMkLst>
            <pc:docMk/>
            <pc:sldMk cId="936439164" sldId="388"/>
            <ac:cxnSpMk id="212" creationId="{6C15DFEB-7D9A-97AD-8B1C-5E09E890A449}"/>
          </ac:cxnSpMkLst>
        </pc:cxnChg>
        <pc:cxnChg chg="mod">
          <ac:chgData name="Rafsanul Hasan" userId="229fc3553e4519d4" providerId="LiveId" clId="{5F5FE466-BA34-494F-AD44-0AB6F3856034}" dt="2026-07-31T17:49:36.615" v="2"/>
          <ac:cxnSpMkLst>
            <pc:docMk/>
            <pc:sldMk cId="936439164" sldId="388"/>
            <ac:cxnSpMk id="985" creationId="{B1C62F87-CC52-9570-7E41-12CCA78CD048}"/>
          </ac:cxnSpMkLst>
        </pc:cxnChg>
        <pc:cxnChg chg="mod">
          <ac:chgData name="Rafsanul Hasan" userId="229fc3553e4519d4" providerId="LiveId" clId="{5F5FE466-BA34-494F-AD44-0AB6F3856034}" dt="2026-07-31T17:49:36.615" v="3"/>
          <ac:cxnSpMkLst>
            <pc:docMk/>
            <pc:sldMk cId="936439164" sldId="388"/>
            <ac:cxnSpMk id="988" creationId="{CC1A6FE0-A7B9-34E5-881D-871E3EC06B88}"/>
          </ac:cxnSpMkLst>
        </pc:cxnChg>
        <pc:cxnChg chg="mod">
          <ac:chgData name="Rafsanul Hasan" userId="229fc3553e4519d4" providerId="LiveId" clId="{5F5FE466-BA34-494F-AD44-0AB6F3856034}" dt="2026-07-31T17:49:36.615" v="4"/>
          <ac:cxnSpMkLst>
            <pc:docMk/>
            <pc:sldMk cId="936439164" sldId="388"/>
            <ac:cxnSpMk id="1000" creationId="{4579F521-D2F0-1FE5-DBA6-7FC81B31F093}"/>
          </ac:cxnSpMkLst>
        </pc:cxnChg>
        <pc:cxnChg chg="mod">
          <ac:chgData name="Rafsanul Hasan" userId="229fc3553e4519d4" providerId="LiveId" clId="{5F5FE466-BA34-494F-AD44-0AB6F3856034}" dt="2026-07-31T17:49:36.616" v="5"/>
          <ac:cxnSpMkLst>
            <pc:docMk/>
            <pc:sldMk cId="936439164" sldId="388"/>
            <ac:cxnSpMk id="1006" creationId="{9378650E-922B-9C6D-8163-787F0CD1EF3F}"/>
          </ac:cxnSpMkLst>
        </pc:cxnChg>
        <pc:cxnChg chg="mod">
          <ac:chgData name="Rafsanul Hasan" userId="229fc3553e4519d4" providerId="LiveId" clId="{5F5FE466-BA34-494F-AD44-0AB6F3856034}" dt="2026-07-31T17:51:30.442" v="11" actId="14100"/>
          <ac:cxnSpMkLst>
            <pc:docMk/>
            <pc:sldMk cId="936439164" sldId="388"/>
            <ac:cxnSpMk id="1009" creationId="{78CEE974-C743-C21C-2BDD-F9B6FB1F0A68}"/>
          </ac:cxnSpMkLst>
        </pc:cxnChg>
      </pc:sldChg>
      <pc:sldChg chg="modSp add del mod">
        <pc:chgData name="Rafsanul Hasan" userId="229fc3553e4519d4" providerId="LiveId" clId="{5F5FE466-BA34-494F-AD44-0AB6F3856034}" dt="2026-07-31T22:03:11.712" v="77"/>
        <pc:sldMkLst>
          <pc:docMk/>
          <pc:sldMk cId="4062919655" sldId="389"/>
        </pc:sldMkLst>
        <pc:spChg chg="mod">
          <ac:chgData name="Rafsanul Hasan" userId="229fc3553e4519d4" providerId="LiveId" clId="{5F5FE466-BA34-494F-AD44-0AB6F3856034}" dt="2026-07-31T21:58:59.848" v="75"/>
          <ac:spMkLst>
            <pc:docMk/>
            <pc:sldMk cId="4062919655" sldId="389"/>
            <ac:spMk id="7" creationId="{7D6F52A3-C423-E429-C00E-6DA2A87391E4}"/>
          </ac:spMkLst>
        </pc:spChg>
        <pc:spChg chg="mod">
          <ac:chgData name="Rafsanul Hasan" userId="229fc3553e4519d4" providerId="LiveId" clId="{5F5FE466-BA34-494F-AD44-0AB6F3856034}" dt="2026-07-31T17:58:19.487" v="74" actId="1076"/>
          <ac:spMkLst>
            <pc:docMk/>
            <pc:sldMk cId="4062919655" sldId="389"/>
            <ac:spMk id="11" creationId="{22105EA8-50B9-1A04-CDA0-CD6C74BEA9F5}"/>
          </ac:spMkLst>
        </pc:spChg>
        <pc:spChg chg="mod">
          <ac:chgData name="Rafsanul Hasan" userId="229fc3553e4519d4" providerId="LiveId" clId="{5F5FE466-BA34-494F-AD44-0AB6F3856034}" dt="2026-07-31T17:58:11.617" v="72" actId="1037"/>
          <ac:spMkLst>
            <pc:docMk/>
            <pc:sldMk cId="4062919655" sldId="389"/>
            <ac:spMk id="980" creationId="{13B7CF06-8A11-4898-5833-E874F2175602}"/>
          </ac:spMkLst>
        </pc:spChg>
        <pc:spChg chg="mod">
          <ac:chgData name="Rafsanul Hasan" userId="229fc3553e4519d4" providerId="LiveId" clId="{5F5FE466-BA34-494F-AD44-0AB6F3856034}" dt="2026-07-31T17:58:11.617" v="72" actId="1037"/>
          <ac:spMkLst>
            <pc:docMk/>
            <pc:sldMk cId="4062919655" sldId="389"/>
            <ac:spMk id="981" creationId="{13B7CF06-8A11-4898-5833-E874F2175602}"/>
          </ac:spMkLst>
        </pc:spChg>
        <pc:spChg chg="mod">
          <ac:chgData name="Rafsanul Hasan" userId="229fc3553e4519d4" providerId="LiveId" clId="{5F5FE466-BA34-494F-AD44-0AB6F3856034}" dt="2026-07-31T17:58:11.617" v="72" actId="1037"/>
          <ac:spMkLst>
            <pc:docMk/>
            <pc:sldMk cId="4062919655" sldId="389"/>
            <ac:spMk id="982" creationId="{13B7CF06-8A11-4898-5833-E874F2175602}"/>
          </ac:spMkLst>
        </pc:spChg>
        <pc:spChg chg="mod">
          <ac:chgData name="Rafsanul Hasan" userId="229fc3553e4519d4" providerId="LiveId" clId="{5F5FE466-BA34-494F-AD44-0AB6F3856034}" dt="2026-07-31T17:56:08.033" v="21" actId="1037"/>
          <ac:spMkLst>
            <pc:docMk/>
            <pc:sldMk cId="4062919655" sldId="389"/>
            <ac:spMk id="1016" creationId="{6F03CF9A-94DB-4360-5490-8CFA120B1BA2}"/>
          </ac:spMkLst>
        </pc:spChg>
        <pc:cxnChg chg="mod">
          <ac:chgData name="Rafsanul Hasan" userId="229fc3553e4519d4" providerId="LiveId" clId="{5F5FE466-BA34-494F-AD44-0AB6F3856034}" dt="2026-07-31T17:58:11.617" v="72" actId="1037"/>
          <ac:cxnSpMkLst>
            <pc:docMk/>
            <pc:sldMk cId="4062919655" sldId="389"/>
            <ac:cxnSpMk id="914" creationId="{00000000-0000-0000-0000-000000000000}"/>
          </ac:cxnSpMkLst>
        </pc:cxnChg>
        <pc:cxnChg chg="mod">
          <ac:chgData name="Rafsanul Hasan" userId="229fc3553e4519d4" providerId="LiveId" clId="{5F5FE466-BA34-494F-AD44-0AB6F3856034}" dt="2026-07-31T17:58:11.617" v="72" actId="1037"/>
          <ac:cxnSpMkLst>
            <pc:docMk/>
            <pc:sldMk cId="4062919655" sldId="389"/>
            <ac:cxnSpMk id="915" creationId="{00000000-0000-0000-0000-000000000000}"/>
          </ac:cxnSpMkLst>
        </pc:cxnChg>
        <pc:cxnChg chg="mod">
          <ac:chgData name="Rafsanul Hasan" userId="229fc3553e4519d4" providerId="LiveId" clId="{5F5FE466-BA34-494F-AD44-0AB6F3856034}" dt="2026-07-31T17:58:11.617" v="72" actId="1037"/>
          <ac:cxnSpMkLst>
            <pc:docMk/>
            <pc:sldMk cId="4062919655" sldId="389"/>
            <ac:cxnSpMk id="916" creationId="{00000000-0000-0000-0000-000000000000}"/>
          </ac:cxnSpMkLst>
        </pc:cxnChg>
        <pc:cxnChg chg="mod">
          <ac:chgData name="Rafsanul Hasan" userId="229fc3553e4519d4" providerId="LiveId" clId="{5F5FE466-BA34-494F-AD44-0AB6F3856034}" dt="2026-07-31T17:56:22.736" v="22" actId="14100"/>
          <ac:cxnSpMkLst>
            <pc:docMk/>
            <pc:sldMk cId="4062919655" sldId="389"/>
            <ac:cxnSpMk id="988" creationId="{CC1A6FE0-A7B9-34E5-881D-871E3EC06B88}"/>
          </ac:cxnSpMkLst>
        </pc:cxnChg>
        <pc:cxnChg chg="mod">
          <ac:chgData name="Rafsanul Hasan" userId="229fc3553e4519d4" providerId="LiveId" clId="{5F5FE466-BA34-494F-AD44-0AB6F3856034}" dt="2026-07-31T17:57:54.285" v="24" actId="14100"/>
          <ac:cxnSpMkLst>
            <pc:docMk/>
            <pc:sldMk cId="4062919655" sldId="389"/>
            <ac:cxnSpMk id="1000" creationId="{4579F521-D2F0-1FE5-DBA6-7FC81B31F093}"/>
          </ac:cxnSpMkLst>
        </pc:cxnChg>
      </pc:sldChg>
      <pc:sldChg chg="modSp add mod">
        <pc:chgData name="Rafsanul Hasan" userId="229fc3553e4519d4" providerId="LiveId" clId="{5F5FE466-BA34-494F-AD44-0AB6F3856034}" dt="2026-07-31T22:15:03.216" v="92"/>
        <pc:sldMkLst>
          <pc:docMk/>
          <pc:sldMk cId="2609702011" sldId="390"/>
        </pc:sldMkLst>
        <pc:spChg chg="mod">
          <ac:chgData name="Rafsanul Hasan" userId="229fc3553e4519d4" providerId="LiveId" clId="{5F5FE466-BA34-494F-AD44-0AB6F3856034}" dt="2026-07-31T22:15:03.216" v="92"/>
          <ac:spMkLst>
            <pc:docMk/>
            <pc:sldMk cId="2609702011" sldId="390"/>
            <ac:spMk id="1016" creationId="{6F03CF9A-94DB-4360-5490-8CFA120B1BA2}"/>
          </ac:spMkLst>
        </pc:spChg>
      </pc:sldChg>
      <pc:sldChg chg="delSp add del mod">
        <pc:chgData name="Rafsanul Hasan" userId="229fc3553e4519d4" providerId="LiveId" clId="{5F5FE466-BA34-494F-AD44-0AB6F3856034}" dt="2026-07-31T22:39:44.491" v="132"/>
        <pc:sldMkLst>
          <pc:docMk/>
          <pc:sldMk cId="2462439678" sldId="391"/>
        </pc:sldMkLst>
        <pc:spChg chg="del">
          <ac:chgData name="Rafsanul Hasan" userId="229fc3553e4519d4" providerId="LiveId" clId="{5F5FE466-BA34-494F-AD44-0AB6F3856034}" dt="2026-07-31T22:36:14.979" v="94"/>
          <ac:spMkLst>
            <pc:docMk/>
            <pc:sldMk cId="2462439678" sldId="391"/>
            <ac:spMk id="14" creationId="{00000000-0000-0000-0000-000000000000}"/>
          </ac:spMkLst>
        </pc:spChg>
        <pc:spChg chg="del">
          <ac:chgData name="Rafsanul Hasan" userId="229fc3553e4519d4" providerId="LiveId" clId="{5F5FE466-BA34-494F-AD44-0AB6F3856034}" dt="2026-07-31T22:36:14.979" v="95"/>
          <ac:spMkLst>
            <pc:docMk/>
            <pc:sldMk cId="2462439678" sldId="391"/>
            <ac:spMk id="15" creationId="{00000000-0000-0000-0000-000000000000}"/>
          </ac:spMkLst>
        </pc:spChg>
        <pc:spChg chg="del">
          <ac:chgData name="Rafsanul Hasan" userId="229fc3553e4519d4" providerId="LiveId" clId="{5F5FE466-BA34-494F-AD44-0AB6F3856034}" dt="2026-07-31T22:36:14.979" v="96"/>
          <ac:spMkLst>
            <pc:docMk/>
            <pc:sldMk cId="2462439678" sldId="391"/>
            <ac:spMk id="16" creationId="{00000000-0000-0000-0000-000000000000}"/>
          </ac:spMkLst>
        </pc:spChg>
        <pc:spChg chg="del">
          <ac:chgData name="Rafsanul Hasan" userId="229fc3553e4519d4" providerId="LiveId" clId="{5F5FE466-BA34-494F-AD44-0AB6F3856034}" dt="2026-07-31T22:36:14.980" v="97"/>
          <ac:spMkLst>
            <pc:docMk/>
            <pc:sldMk cId="2462439678" sldId="391"/>
            <ac:spMk id="18" creationId="{00000000-0000-0000-0000-000000000000}"/>
          </ac:spMkLst>
        </pc:spChg>
        <pc:spChg chg="del">
          <ac:chgData name="Rafsanul Hasan" userId="229fc3553e4519d4" providerId="LiveId" clId="{5F5FE466-BA34-494F-AD44-0AB6F3856034}" dt="2026-07-31T22:36:14.980" v="98"/>
          <ac:spMkLst>
            <pc:docMk/>
            <pc:sldMk cId="2462439678" sldId="391"/>
            <ac:spMk id="19" creationId="{00000000-0000-0000-0000-000000000000}"/>
          </ac:spMkLst>
        </pc:spChg>
        <pc:spChg chg="del">
          <ac:chgData name="Rafsanul Hasan" userId="229fc3553e4519d4" providerId="LiveId" clId="{5F5FE466-BA34-494F-AD44-0AB6F3856034}" dt="2026-07-31T22:36:14.980" v="99"/>
          <ac:spMkLst>
            <pc:docMk/>
            <pc:sldMk cId="2462439678" sldId="391"/>
            <ac:spMk id="20" creationId="{00000000-0000-0000-0000-000000000000}"/>
          </ac:spMkLst>
        </pc:spChg>
        <pc:spChg chg="del">
          <ac:chgData name="Rafsanul Hasan" userId="229fc3553e4519d4" providerId="LiveId" clId="{5F5FE466-BA34-494F-AD44-0AB6F3856034}" dt="2026-07-31T22:36:14.980" v="100"/>
          <ac:spMkLst>
            <pc:docMk/>
            <pc:sldMk cId="2462439678" sldId="391"/>
            <ac:spMk id="22" creationId="{00000000-0000-0000-0000-000000000000}"/>
          </ac:spMkLst>
        </pc:spChg>
        <pc:spChg chg="del">
          <ac:chgData name="Rafsanul Hasan" userId="229fc3553e4519d4" providerId="LiveId" clId="{5F5FE466-BA34-494F-AD44-0AB6F3856034}" dt="2026-07-31T22:36:14.981" v="101"/>
          <ac:spMkLst>
            <pc:docMk/>
            <pc:sldMk cId="2462439678" sldId="391"/>
            <ac:spMk id="23" creationId="{00000000-0000-0000-0000-000000000000}"/>
          </ac:spMkLst>
        </pc:spChg>
        <pc:spChg chg="del">
          <ac:chgData name="Rafsanul Hasan" userId="229fc3553e4519d4" providerId="LiveId" clId="{5F5FE466-BA34-494F-AD44-0AB6F3856034}" dt="2026-07-31T22:36:14.981" v="102"/>
          <ac:spMkLst>
            <pc:docMk/>
            <pc:sldMk cId="2462439678" sldId="391"/>
            <ac:spMk id="24" creationId="{00000000-0000-0000-0000-000000000000}"/>
          </ac:spMkLst>
        </pc:spChg>
        <pc:spChg chg="del">
          <ac:chgData name="Rafsanul Hasan" userId="229fc3553e4519d4" providerId="LiveId" clId="{5F5FE466-BA34-494F-AD44-0AB6F3856034}" dt="2026-07-31T22:36:14.981" v="103"/>
          <ac:spMkLst>
            <pc:docMk/>
            <pc:sldMk cId="2462439678" sldId="391"/>
            <ac:spMk id="25" creationId="{00000000-0000-0000-0000-000000000000}"/>
          </ac:spMkLst>
        </pc:spChg>
        <pc:spChg chg="del">
          <ac:chgData name="Rafsanul Hasan" userId="229fc3553e4519d4" providerId="LiveId" clId="{5F5FE466-BA34-494F-AD44-0AB6F3856034}" dt="2026-07-31T22:36:14.982" v="104"/>
          <ac:spMkLst>
            <pc:docMk/>
            <pc:sldMk cId="2462439678" sldId="391"/>
            <ac:spMk id="26" creationId="{00000000-0000-0000-0000-000000000000}"/>
          </ac:spMkLst>
        </pc:spChg>
        <pc:spChg chg="del">
          <ac:chgData name="Rafsanul Hasan" userId="229fc3553e4519d4" providerId="LiveId" clId="{5F5FE466-BA34-494F-AD44-0AB6F3856034}" dt="2026-07-31T22:36:14.982" v="105"/>
          <ac:spMkLst>
            <pc:docMk/>
            <pc:sldMk cId="2462439678" sldId="391"/>
            <ac:spMk id="27" creationId="{00000000-0000-0000-0000-000000000000}"/>
          </ac:spMkLst>
        </pc:spChg>
        <pc:spChg chg="del">
          <ac:chgData name="Rafsanul Hasan" userId="229fc3553e4519d4" providerId="LiveId" clId="{5F5FE466-BA34-494F-AD44-0AB6F3856034}" dt="2026-07-31T22:36:14.982" v="106"/>
          <ac:spMkLst>
            <pc:docMk/>
            <pc:sldMk cId="2462439678" sldId="391"/>
            <ac:spMk id="28" creationId="{00000000-0000-0000-0000-000000000000}"/>
          </ac:spMkLst>
        </pc:spChg>
        <pc:spChg chg="del">
          <ac:chgData name="Rafsanul Hasan" userId="229fc3553e4519d4" providerId="LiveId" clId="{5F5FE466-BA34-494F-AD44-0AB6F3856034}" dt="2026-07-31T22:36:14.982" v="107"/>
          <ac:spMkLst>
            <pc:docMk/>
            <pc:sldMk cId="2462439678" sldId="391"/>
            <ac:spMk id="29" creationId="{00000000-0000-0000-0000-000000000000}"/>
          </ac:spMkLst>
        </pc:spChg>
        <pc:spChg chg="del">
          <ac:chgData name="Rafsanul Hasan" userId="229fc3553e4519d4" providerId="LiveId" clId="{5F5FE466-BA34-494F-AD44-0AB6F3856034}" dt="2026-07-31T22:36:14.982" v="108"/>
          <ac:spMkLst>
            <pc:docMk/>
            <pc:sldMk cId="2462439678" sldId="391"/>
            <ac:spMk id="200" creationId="{00000000-0000-0000-0000-000000000000}"/>
          </ac:spMkLst>
        </pc:spChg>
        <pc:spChg chg="del">
          <ac:chgData name="Rafsanul Hasan" userId="229fc3553e4519d4" providerId="LiveId" clId="{5F5FE466-BA34-494F-AD44-0AB6F3856034}" dt="2026-07-31T22:36:14.983" v="109"/>
          <ac:spMkLst>
            <pc:docMk/>
            <pc:sldMk cId="2462439678" sldId="391"/>
            <ac:spMk id="201" creationId="{00000000-0000-0000-0000-000000000000}"/>
          </ac:spMkLst>
        </pc:spChg>
        <pc:spChg chg="del">
          <ac:chgData name="Rafsanul Hasan" userId="229fc3553e4519d4" providerId="LiveId" clId="{5F5FE466-BA34-494F-AD44-0AB6F3856034}" dt="2026-07-31T22:36:14.983" v="110"/>
          <ac:spMkLst>
            <pc:docMk/>
            <pc:sldMk cId="2462439678" sldId="391"/>
            <ac:spMk id="202" creationId="{00000000-0000-0000-0000-000000000000}"/>
          </ac:spMkLst>
        </pc:spChg>
        <pc:spChg chg="del">
          <ac:chgData name="Rafsanul Hasan" userId="229fc3553e4519d4" providerId="LiveId" clId="{5F5FE466-BA34-494F-AD44-0AB6F3856034}" dt="2026-07-31T22:36:14.983" v="111"/>
          <ac:spMkLst>
            <pc:docMk/>
            <pc:sldMk cId="2462439678" sldId="391"/>
            <ac:spMk id="203" creationId="{00000000-0000-0000-0000-000000000000}"/>
          </ac:spMkLst>
        </pc:spChg>
        <pc:spChg chg="del">
          <ac:chgData name="Rafsanul Hasan" userId="229fc3553e4519d4" providerId="LiveId" clId="{5F5FE466-BA34-494F-AD44-0AB6F3856034}" dt="2026-07-31T22:36:14.983" v="112"/>
          <ac:spMkLst>
            <pc:docMk/>
            <pc:sldMk cId="2462439678" sldId="391"/>
            <ac:spMk id="204" creationId="{00000000-0000-0000-0000-000000000000}"/>
          </ac:spMkLst>
        </pc:spChg>
        <pc:spChg chg="del">
          <ac:chgData name="Rafsanul Hasan" userId="229fc3553e4519d4" providerId="LiveId" clId="{5F5FE466-BA34-494F-AD44-0AB6F3856034}" dt="2026-07-31T22:36:14.984" v="113"/>
          <ac:spMkLst>
            <pc:docMk/>
            <pc:sldMk cId="2462439678" sldId="391"/>
            <ac:spMk id="205" creationId="{00000000-0000-0000-0000-000000000000}"/>
          </ac:spMkLst>
        </pc:spChg>
        <pc:spChg chg="del">
          <ac:chgData name="Rafsanul Hasan" userId="229fc3553e4519d4" providerId="LiveId" clId="{5F5FE466-BA34-494F-AD44-0AB6F3856034}" dt="2026-07-31T22:36:14.984" v="114"/>
          <ac:spMkLst>
            <pc:docMk/>
            <pc:sldMk cId="2462439678" sldId="391"/>
            <ac:spMk id="206" creationId="{00000000-0000-0000-0000-000000000000}"/>
          </ac:spMkLst>
        </pc:spChg>
        <pc:spChg chg="del">
          <ac:chgData name="Rafsanul Hasan" userId="229fc3553e4519d4" providerId="LiveId" clId="{5F5FE466-BA34-494F-AD44-0AB6F3856034}" dt="2026-07-31T22:36:14.984" v="115"/>
          <ac:spMkLst>
            <pc:docMk/>
            <pc:sldMk cId="2462439678" sldId="391"/>
            <ac:spMk id="207" creationId="{00000000-0000-0000-0000-000000000000}"/>
          </ac:spMkLst>
        </pc:spChg>
        <pc:spChg chg="del">
          <ac:chgData name="Rafsanul Hasan" userId="229fc3553e4519d4" providerId="LiveId" clId="{5F5FE466-BA34-494F-AD44-0AB6F3856034}" dt="2026-07-31T22:36:14.984" v="116"/>
          <ac:spMkLst>
            <pc:docMk/>
            <pc:sldMk cId="2462439678" sldId="391"/>
            <ac:spMk id="208" creationId="{00000000-0000-0000-0000-000000000000}"/>
          </ac:spMkLst>
        </pc:spChg>
        <pc:spChg chg="del">
          <ac:chgData name="Rafsanul Hasan" userId="229fc3553e4519d4" providerId="LiveId" clId="{5F5FE466-BA34-494F-AD44-0AB6F3856034}" dt="2026-07-31T22:36:14.984" v="117"/>
          <ac:spMkLst>
            <pc:docMk/>
            <pc:sldMk cId="2462439678" sldId="391"/>
            <ac:spMk id="400" creationId="{00000000-0000-0000-0000-000000000000}"/>
          </ac:spMkLst>
        </pc:spChg>
        <pc:spChg chg="del">
          <ac:chgData name="Rafsanul Hasan" userId="229fc3553e4519d4" providerId="LiveId" clId="{5F5FE466-BA34-494F-AD44-0AB6F3856034}" dt="2026-07-31T22:36:14.984" v="118"/>
          <ac:spMkLst>
            <pc:docMk/>
            <pc:sldMk cId="2462439678" sldId="391"/>
            <ac:spMk id="401" creationId="{00000000-0000-0000-0000-000000000000}"/>
          </ac:spMkLst>
        </pc:spChg>
        <pc:spChg chg="del">
          <ac:chgData name="Rafsanul Hasan" userId="229fc3553e4519d4" providerId="LiveId" clId="{5F5FE466-BA34-494F-AD44-0AB6F3856034}" dt="2026-07-31T22:36:14.984" v="119"/>
          <ac:spMkLst>
            <pc:docMk/>
            <pc:sldMk cId="2462439678" sldId="391"/>
            <ac:spMk id="402" creationId="{00000000-0000-0000-0000-000000000000}"/>
          </ac:spMkLst>
        </pc:spChg>
        <pc:spChg chg="del">
          <ac:chgData name="Rafsanul Hasan" userId="229fc3553e4519d4" providerId="LiveId" clId="{5F5FE466-BA34-494F-AD44-0AB6F3856034}" dt="2026-07-31T22:36:14.986" v="120"/>
          <ac:spMkLst>
            <pc:docMk/>
            <pc:sldMk cId="2462439678" sldId="391"/>
            <ac:spMk id="403" creationId="{00000000-0000-0000-0000-000000000000}"/>
          </ac:spMkLst>
        </pc:spChg>
        <pc:spChg chg="del">
          <ac:chgData name="Rafsanul Hasan" userId="229fc3553e4519d4" providerId="LiveId" clId="{5F5FE466-BA34-494F-AD44-0AB6F3856034}" dt="2026-07-31T22:36:14.986" v="121"/>
          <ac:spMkLst>
            <pc:docMk/>
            <pc:sldMk cId="2462439678" sldId="391"/>
            <ac:spMk id="404" creationId="{00000000-0000-0000-0000-000000000000}"/>
          </ac:spMkLst>
        </pc:spChg>
        <pc:spChg chg="del">
          <ac:chgData name="Rafsanul Hasan" userId="229fc3553e4519d4" providerId="LiveId" clId="{5F5FE466-BA34-494F-AD44-0AB6F3856034}" dt="2026-07-31T22:36:14.986" v="122"/>
          <ac:spMkLst>
            <pc:docMk/>
            <pc:sldMk cId="2462439678" sldId="391"/>
            <ac:spMk id="500" creationId="{00000000-0000-0000-0000-000000000000}"/>
          </ac:spMkLst>
        </pc:spChg>
        <pc:spChg chg="del">
          <ac:chgData name="Rafsanul Hasan" userId="229fc3553e4519d4" providerId="LiveId" clId="{5F5FE466-BA34-494F-AD44-0AB6F3856034}" dt="2026-07-31T22:36:14.986" v="123"/>
          <ac:spMkLst>
            <pc:docMk/>
            <pc:sldMk cId="2462439678" sldId="391"/>
            <ac:spMk id="501" creationId="{00000000-0000-0000-0000-000000000000}"/>
          </ac:spMkLst>
        </pc:spChg>
        <pc:spChg chg="del">
          <ac:chgData name="Rafsanul Hasan" userId="229fc3553e4519d4" providerId="LiveId" clId="{5F5FE466-BA34-494F-AD44-0AB6F3856034}" dt="2026-07-31T22:36:14.987" v="124"/>
          <ac:spMkLst>
            <pc:docMk/>
            <pc:sldMk cId="2462439678" sldId="391"/>
            <ac:spMk id="502" creationId="{00000000-0000-0000-0000-000000000000}"/>
          </ac:spMkLst>
        </pc:spChg>
        <pc:spChg chg="del">
          <ac:chgData name="Rafsanul Hasan" userId="229fc3553e4519d4" providerId="LiveId" clId="{5F5FE466-BA34-494F-AD44-0AB6F3856034}" dt="2026-07-31T22:36:14.987" v="125"/>
          <ac:spMkLst>
            <pc:docMk/>
            <pc:sldMk cId="2462439678" sldId="391"/>
            <ac:spMk id="503" creationId="{00000000-0000-0000-0000-000000000000}"/>
          </ac:spMkLst>
        </pc:spChg>
        <pc:spChg chg="del">
          <ac:chgData name="Rafsanul Hasan" userId="229fc3553e4519d4" providerId="LiveId" clId="{5F5FE466-BA34-494F-AD44-0AB6F3856034}" dt="2026-07-31T22:36:14.987" v="126"/>
          <ac:spMkLst>
            <pc:docMk/>
            <pc:sldMk cId="2462439678" sldId="391"/>
            <ac:spMk id="504" creationId="{00000000-0000-0000-0000-000000000000}"/>
          </ac:spMkLst>
        </pc:spChg>
        <pc:spChg chg="del">
          <ac:chgData name="Rafsanul Hasan" userId="229fc3553e4519d4" providerId="LiveId" clId="{5F5FE466-BA34-494F-AD44-0AB6F3856034}" dt="2026-07-31T22:36:14.987" v="127"/>
          <ac:spMkLst>
            <pc:docMk/>
            <pc:sldMk cId="2462439678" sldId="391"/>
            <ac:spMk id="505" creationId="{00000000-0000-0000-0000-000000000000}"/>
          </ac:spMkLst>
        </pc:spChg>
        <pc:spChg chg="del">
          <ac:chgData name="Rafsanul Hasan" userId="229fc3553e4519d4" providerId="LiveId" clId="{5F5FE466-BA34-494F-AD44-0AB6F3856034}" dt="2026-07-31T22:36:14.987" v="128"/>
          <ac:spMkLst>
            <pc:docMk/>
            <pc:sldMk cId="2462439678" sldId="391"/>
            <ac:spMk id="507" creationId="{00000000-0000-0000-0000-000000000000}"/>
          </ac:spMkLst>
        </pc:spChg>
        <pc:spChg chg="del">
          <ac:chgData name="Rafsanul Hasan" userId="229fc3553e4519d4" providerId="LiveId" clId="{5F5FE466-BA34-494F-AD44-0AB6F3856034}" dt="2026-07-31T22:36:14.988" v="129"/>
          <ac:spMkLst>
            <pc:docMk/>
            <pc:sldMk cId="2462439678" sldId="391"/>
            <ac:spMk id="508" creationId="{00000000-0000-0000-0000-000000000000}"/>
          </ac:spMkLst>
        </pc:spChg>
        <pc:spChg chg="del">
          <ac:chgData name="Rafsanul Hasan" userId="229fc3553e4519d4" providerId="LiveId" clId="{5F5FE466-BA34-494F-AD44-0AB6F3856034}" dt="2026-07-31T22:36:14.988" v="130"/>
          <ac:spMkLst>
            <pc:docMk/>
            <pc:sldMk cId="2462439678" sldId="391"/>
            <ac:spMk id="509" creationId="{00000000-0000-0000-0000-000000000000}"/>
          </ac:spMkLst>
        </pc:spChg>
      </pc:sldChg>
      <pc:sldChg chg="add del">
        <pc:chgData name="Rafsanul Hasan" userId="229fc3553e4519d4" providerId="LiveId" clId="{5F5FE466-BA34-494F-AD44-0AB6F3856034}" dt="2026-07-31T22:44:14.655" v="134"/>
        <pc:sldMkLst>
          <pc:docMk/>
          <pc:sldMk cId="3705366131" sldId="392"/>
        </pc:sldMkLst>
      </pc:sldChg>
      <pc:sldChg chg="add del">
        <pc:chgData name="Rafsanul Hasan" userId="229fc3553e4519d4" providerId="LiveId" clId="{5F5FE466-BA34-494F-AD44-0AB6F3856034}" dt="2026-07-31T22:45:35.051" v="136"/>
        <pc:sldMkLst>
          <pc:docMk/>
          <pc:sldMk cId="2937985296" sldId="393"/>
        </pc:sldMkLst>
      </pc:sldChg>
      <pc:sldChg chg="add del">
        <pc:chgData name="Rafsanul Hasan" userId="229fc3553e4519d4" providerId="LiveId" clId="{5F5FE466-BA34-494F-AD44-0AB6F3856034}" dt="2026-07-31T22:47:00.997" v="138"/>
        <pc:sldMkLst>
          <pc:docMk/>
          <pc:sldMk cId="2851817197" sldId="394"/>
        </pc:sldMkLst>
      </pc:sldChg>
      <pc:sldChg chg="modSp add del mod ord">
        <pc:chgData name="Rafsanul Hasan" userId="229fc3553e4519d4" providerId="LiveId" clId="{5F5FE466-BA34-494F-AD44-0AB6F3856034}" dt="2026-08-01T05:37:35.966" v="1545"/>
        <pc:sldMkLst>
          <pc:docMk/>
          <pc:sldMk cId="841220200" sldId="395"/>
        </pc:sldMkLst>
        <pc:spChg chg="mod">
          <ac:chgData name="Rafsanul Hasan" userId="229fc3553e4519d4" providerId="LiveId" clId="{5F5FE466-BA34-494F-AD44-0AB6F3856034}" dt="2026-08-01T04:24:05.963" v="1126" actId="1036"/>
          <ac:spMkLst>
            <pc:docMk/>
            <pc:sldMk cId="841220200" sldId="395"/>
            <ac:spMk id="12" creationId="{00000000-0000-0000-0000-000000000000}"/>
          </ac:spMkLst>
        </pc:spChg>
        <pc:spChg chg="mod">
          <ac:chgData name="Rafsanul Hasan" userId="229fc3553e4519d4" providerId="LiveId" clId="{5F5FE466-BA34-494F-AD44-0AB6F3856034}" dt="2026-08-01T05:30:47.337" v="1527" actId="20577"/>
          <ac:spMkLst>
            <pc:docMk/>
            <pc:sldMk cId="841220200" sldId="395"/>
            <ac:spMk id="611" creationId="{00000000-0000-0000-0000-000000000000}"/>
          </ac:spMkLst>
        </pc:spChg>
        <pc:spChg chg="mod">
          <ac:chgData name="Rafsanul Hasan" userId="229fc3553e4519d4" providerId="LiveId" clId="{5F5FE466-BA34-494F-AD44-0AB6F3856034}" dt="2026-08-01T05:31:05.669" v="1543" actId="20577"/>
          <ac:spMkLst>
            <pc:docMk/>
            <pc:sldMk cId="841220200" sldId="395"/>
            <ac:spMk id="618" creationId="{00000000-0000-0000-0000-000000000000}"/>
          </ac:spMkLst>
        </pc:spChg>
      </pc:sldChg>
      <pc:sldChg chg="addSp modSp new del mod ord">
        <pc:chgData name="Rafsanul Hasan" userId="229fc3553e4519d4" providerId="LiveId" clId="{5F5FE466-BA34-494F-AD44-0AB6F3856034}" dt="2026-08-01T04:29:04.868" v="1128"/>
        <pc:sldMkLst>
          <pc:docMk/>
          <pc:sldMk cId="2552319125" sldId="396"/>
        </pc:sldMkLst>
        <pc:spChg chg="add mod">
          <ac:chgData name="Rafsanul Hasan" userId="229fc3553e4519d4" providerId="LiveId" clId="{5F5FE466-BA34-494F-AD44-0AB6F3856034}" dt="2026-07-31T23:10:55.638" v="167" actId="1076"/>
          <ac:spMkLst>
            <pc:docMk/>
            <pc:sldMk cId="2552319125" sldId="396"/>
            <ac:spMk id="2" creationId="{288828FF-3869-9225-8F5C-35844D62CCB0}"/>
          </ac:spMkLst>
        </pc:spChg>
        <pc:spChg chg="add mod">
          <ac:chgData name="Rafsanul Hasan" userId="229fc3553e4519d4" providerId="LiveId" clId="{5F5FE466-BA34-494F-AD44-0AB6F3856034}" dt="2026-07-31T23:23:10.476" v="1095" actId="20577"/>
          <ac:spMkLst>
            <pc:docMk/>
            <pc:sldMk cId="2552319125" sldId="396"/>
            <ac:spMk id="3" creationId="{7393955C-5535-1028-6401-746E56EF2B64}"/>
          </ac:spMkLst>
        </pc:spChg>
        <pc:spChg chg="add mod">
          <ac:chgData name="Rafsanul Hasan" userId="229fc3553e4519d4" providerId="LiveId" clId="{5F5FE466-BA34-494F-AD44-0AB6F3856034}" dt="2026-07-31T23:13:28.129" v="338" actId="20577"/>
          <ac:spMkLst>
            <pc:docMk/>
            <pc:sldMk cId="2552319125" sldId="396"/>
            <ac:spMk id="4" creationId="{006C12AE-B948-77F3-546E-DE1B1BCA05BA}"/>
          </ac:spMkLst>
        </pc:spChg>
        <pc:spChg chg="add mod">
          <ac:chgData name="Rafsanul Hasan" userId="229fc3553e4519d4" providerId="LiveId" clId="{5F5FE466-BA34-494F-AD44-0AB6F3856034}" dt="2026-07-31T23:44:58.063" v="1115" actId="33524"/>
          <ac:spMkLst>
            <pc:docMk/>
            <pc:sldMk cId="2552319125" sldId="396"/>
            <ac:spMk id="6" creationId="{F8199F44-9633-BAC2-20A0-80C6E0345ACE}"/>
          </ac:spMkLst>
        </pc:spChg>
      </pc:sldChg>
      <pc:sldChg chg="modSp add mod">
        <pc:chgData name="Rafsanul Hasan" userId="229fc3553e4519d4" providerId="LiveId" clId="{5F5FE466-BA34-494F-AD44-0AB6F3856034}" dt="2026-08-01T05:24:04.748" v="1468" actId="20577"/>
        <pc:sldMkLst>
          <pc:docMk/>
          <pc:sldMk cId="161659573" sldId="397"/>
        </pc:sldMkLst>
        <pc:spChg chg="mod">
          <ac:chgData name="Rafsanul Hasan" userId="229fc3553e4519d4" providerId="LiveId" clId="{5F5FE466-BA34-494F-AD44-0AB6F3856034}" dt="2026-08-01T05:24:04.748" v="1468" actId="20577"/>
          <ac:spMkLst>
            <pc:docMk/>
            <pc:sldMk cId="161659573" sldId="397"/>
            <ac:spMk id="2" creationId="{288828FF-3869-9225-8F5C-35844D62CCB0}"/>
          </ac:spMkLst>
        </pc:spChg>
        <pc:spChg chg="mod">
          <ac:chgData name="Rafsanul Hasan" userId="229fc3553e4519d4" providerId="LiveId" clId="{5F5FE466-BA34-494F-AD44-0AB6F3856034}" dt="2026-08-01T04:29:05.392" v="1134"/>
          <ac:spMkLst>
            <pc:docMk/>
            <pc:sldMk cId="161659573" sldId="397"/>
            <ac:spMk id="3" creationId="{7393955C-5535-1028-6401-746E56EF2B64}"/>
          </ac:spMkLst>
        </pc:spChg>
        <pc:spChg chg="mod">
          <ac:chgData name="Rafsanul Hasan" userId="229fc3553e4519d4" providerId="LiveId" clId="{5F5FE466-BA34-494F-AD44-0AB6F3856034}" dt="2026-08-01T04:29:32.259" v="1149" actId="20577"/>
          <ac:spMkLst>
            <pc:docMk/>
            <pc:sldMk cId="161659573" sldId="397"/>
            <ac:spMk id="4" creationId="{006C12AE-B948-77F3-546E-DE1B1BCA05BA}"/>
          </ac:spMkLst>
        </pc:spChg>
        <pc:spChg chg="mod">
          <ac:chgData name="Rafsanul Hasan" userId="229fc3553e4519d4" providerId="LiveId" clId="{5F5FE466-BA34-494F-AD44-0AB6F3856034}" dt="2026-08-01T04:29:05.393" v="1136"/>
          <ac:spMkLst>
            <pc:docMk/>
            <pc:sldMk cId="161659573" sldId="397"/>
            <ac:spMk id="6" creationId="{F8199F44-9633-BAC2-20A0-80C6E0345ACE}"/>
          </ac:spMkLst>
        </pc:spChg>
      </pc:sldChg>
      <pc:sldChg chg="add del">
        <pc:chgData name="Rafsanul Hasan" userId="229fc3553e4519d4" providerId="LiveId" clId="{5F5FE466-BA34-494F-AD44-0AB6F3856034}" dt="2026-08-01T04:41:51.912" v="1153"/>
        <pc:sldMkLst>
          <pc:docMk/>
          <pc:sldMk cId="621400867" sldId="398"/>
        </pc:sldMkLst>
      </pc:sldChg>
      <pc:sldChg chg="add del">
        <pc:chgData name="Rafsanul Hasan" userId="229fc3553e4519d4" providerId="LiveId" clId="{5F5FE466-BA34-494F-AD44-0AB6F3856034}" dt="2026-08-01T04:42:29.552" v="1155"/>
        <pc:sldMkLst>
          <pc:docMk/>
          <pc:sldMk cId="1417855175" sldId="399"/>
        </pc:sldMkLst>
      </pc:sldChg>
      <pc:sldChg chg="addSp delSp modSp add del mod">
        <pc:chgData name="Rafsanul Hasan" userId="229fc3553e4519d4" providerId="LiveId" clId="{5F5FE466-BA34-494F-AD44-0AB6F3856034}" dt="2026-08-01T04:48:40.459" v="1211"/>
        <pc:sldMkLst>
          <pc:docMk/>
          <pc:sldMk cId="1773377072" sldId="400"/>
        </pc:sldMkLst>
        <pc:spChg chg="add">
          <ac:chgData name="Rafsanul Hasan" userId="229fc3553e4519d4" providerId="LiveId" clId="{5F5FE466-BA34-494F-AD44-0AB6F3856034}" dt="2026-08-01T04:44:40.914" v="1173" actId="22"/>
          <ac:spMkLst>
            <pc:docMk/>
            <pc:sldMk cId="1773377072" sldId="400"/>
            <ac:spMk id="7" creationId="{920F0DEF-3ECE-92D4-CBD5-5804D578CC3B}"/>
          </ac:spMkLst>
        </pc:spChg>
        <pc:spChg chg="add">
          <ac:chgData name="Rafsanul Hasan" userId="229fc3553e4519d4" providerId="LiveId" clId="{5F5FE466-BA34-494F-AD44-0AB6F3856034}" dt="2026-08-01T04:44:40.914" v="1173" actId="22"/>
          <ac:spMkLst>
            <pc:docMk/>
            <pc:sldMk cId="1773377072" sldId="400"/>
            <ac:spMk id="9" creationId="{E87EFCA2-2176-9258-8F22-975B205E7D42}"/>
          </ac:spMkLst>
        </pc:spChg>
        <pc:spChg chg="del">
          <ac:chgData name="Rafsanul Hasan" userId="229fc3553e4519d4" providerId="LiveId" clId="{5F5FE466-BA34-494F-AD44-0AB6F3856034}" dt="2026-08-01T04:46:21.213" v="1206" actId="478"/>
          <ac:spMkLst>
            <pc:docMk/>
            <pc:sldMk cId="1773377072" sldId="400"/>
            <ac:spMk id="18" creationId="{D7FEF0C1-7C61-4CF3-DE49-DD98A980EF65}"/>
          </ac:spMkLst>
        </pc:spChg>
        <pc:spChg chg="del">
          <ac:chgData name="Rafsanul Hasan" userId="229fc3553e4519d4" providerId="LiveId" clId="{5F5FE466-BA34-494F-AD44-0AB6F3856034}" dt="2026-08-01T04:46:38.647" v="1209" actId="478"/>
          <ac:spMkLst>
            <pc:docMk/>
            <pc:sldMk cId="1773377072" sldId="400"/>
            <ac:spMk id="19" creationId="{7E82BDBF-8627-22D3-2199-ED37E2AD5C98}"/>
          </ac:spMkLst>
        </pc:spChg>
        <pc:spChg chg="add">
          <ac:chgData name="Rafsanul Hasan" userId="229fc3553e4519d4" providerId="LiveId" clId="{5F5FE466-BA34-494F-AD44-0AB6F3856034}" dt="2026-08-01T04:44:40.914" v="1173" actId="22"/>
          <ac:spMkLst>
            <pc:docMk/>
            <pc:sldMk cId="1773377072" sldId="400"/>
            <ac:spMk id="21" creationId="{774ADEB4-9CFE-E5B5-498F-38D3A2192ECD}"/>
          </ac:spMkLst>
        </pc:spChg>
        <pc:spChg chg="del">
          <ac:chgData name="Rafsanul Hasan" userId="229fc3553e4519d4" providerId="LiveId" clId="{5F5FE466-BA34-494F-AD44-0AB6F3856034}" dt="2026-08-01T04:44:39.204" v="1172" actId="478"/>
          <ac:spMkLst>
            <pc:docMk/>
            <pc:sldMk cId="1773377072" sldId="400"/>
            <ac:spMk id="23" creationId="{88589466-EDA1-03E1-0D1A-79275235B949}"/>
          </ac:spMkLst>
        </pc:spChg>
        <pc:spChg chg="del">
          <ac:chgData name="Rafsanul Hasan" userId="229fc3553e4519d4" providerId="LiveId" clId="{5F5FE466-BA34-494F-AD44-0AB6F3856034}" dt="2026-08-01T04:44:39.204" v="1172" actId="478"/>
          <ac:spMkLst>
            <pc:docMk/>
            <pc:sldMk cId="1773377072" sldId="400"/>
            <ac:spMk id="25" creationId="{13B7CF06-8A11-4898-5833-E874F2175602}"/>
          </ac:spMkLst>
        </pc:spChg>
        <pc:spChg chg="del">
          <ac:chgData name="Rafsanul Hasan" userId="229fc3553e4519d4" providerId="LiveId" clId="{5F5FE466-BA34-494F-AD44-0AB6F3856034}" dt="2026-08-01T04:44:39.204" v="1172" actId="478"/>
          <ac:spMkLst>
            <pc:docMk/>
            <pc:sldMk cId="1773377072" sldId="400"/>
            <ac:spMk id="26" creationId="{92C636A0-75AB-66CC-EF77-9C20FC6CF7AE}"/>
          </ac:spMkLst>
        </pc:spChg>
        <pc:spChg chg="del">
          <ac:chgData name="Rafsanul Hasan" userId="229fc3553e4519d4" providerId="LiveId" clId="{5F5FE466-BA34-494F-AD44-0AB6F3856034}" dt="2026-08-01T04:44:39.204" v="1172" actId="478"/>
          <ac:spMkLst>
            <pc:docMk/>
            <pc:sldMk cId="1773377072" sldId="400"/>
            <ac:spMk id="27" creationId="{27D770AD-E116-AF5D-4CAA-3ECBE7D19C18}"/>
          </ac:spMkLst>
        </pc:spChg>
        <pc:spChg chg="del">
          <ac:chgData name="Rafsanul Hasan" userId="229fc3553e4519d4" providerId="LiveId" clId="{5F5FE466-BA34-494F-AD44-0AB6F3856034}" dt="2026-08-01T04:44:39.204" v="1172" actId="478"/>
          <ac:spMkLst>
            <pc:docMk/>
            <pc:sldMk cId="1773377072" sldId="400"/>
            <ac:spMk id="29" creationId="{53AC0026-DB7A-FAFD-F245-A5A5CBC87B0E}"/>
          </ac:spMkLst>
        </pc:spChg>
        <pc:spChg chg="mod">
          <ac:chgData name="Rafsanul Hasan" userId="229fc3553e4519d4" providerId="LiveId" clId="{5F5FE466-BA34-494F-AD44-0AB6F3856034}" dt="2026-08-01T04:45:18.706" v="1177" actId="20577"/>
          <ac:spMkLst>
            <pc:docMk/>
            <pc:sldMk cId="1773377072" sldId="400"/>
            <ac:spMk id="31" creationId="{086BC3A7-F82F-C35C-A4BA-E92702D67295}"/>
          </ac:spMkLst>
        </pc:spChg>
        <pc:spChg chg="add">
          <ac:chgData name="Rafsanul Hasan" userId="229fc3553e4519d4" providerId="LiveId" clId="{5F5FE466-BA34-494F-AD44-0AB6F3856034}" dt="2026-08-01T04:44:40.914" v="1173" actId="22"/>
          <ac:spMkLst>
            <pc:docMk/>
            <pc:sldMk cId="1773377072" sldId="400"/>
            <ac:spMk id="34" creationId="{E8D09FCB-8179-7452-0B88-305AB1C5595D}"/>
          </ac:spMkLst>
        </pc:spChg>
        <pc:spChg chg="add">
          <ac:chgData name="Rafsanul Hasan" userId="229fc3553e4519d4" providerId="LiveId" clId="{5F5FE466-BA34-494F-AD44-0AB6F3856034}" dt="2026-08-01T04:44:40.914" v="1173" actId="22"/>
          <ac:spMkLst>
            <pc:docMk/>
            <pc:sldMk cId="1773377072" sldId="400"/>
            <ac:spMk id="36" creationId="{8F992BEA-E29B-4118-75BF-3C283BB45A5F}"/>
          </ac:spMkLst>
        </pc:spChg>
        <pc:spChg chg="add">
          <ac:chgData name="Rafsanul Hasan" userId="229fc3553e4519d4" providerId="LiveId" clId="{5F5FE466-BA34-494F-AD44-0AB6F3856034}" dt="2026-08-01T04:44:40.914" v="1173" actId="22"/>
          <ac:spMkLst>
            <pc:docMk/>
            <pc:sldMk cId="1773377072" sldId="400"/>
            <ac:spMk id="38" creationId="{1C737080-CD61-FA2E-0269-132C32DA6F65}"/>
          </ac:spMkLst>
        </pc:spChg>
        <pc:spChg chg="add">
          <ac:chgData name="Rafsanul Hasan" userId="229fc3553e4519d4" providerId="LiveId" clId="{5F5FE466-BA34-494F-AD44-0AB6F3856034}" dt="2026-08-01T04:44:40.914" v="1173" actId="22"/>
          <ac:spMkLst>
            <pc:docMk/>
            <pc:sldMk cId="1773377072" sldId="400"/>
            <ac:spMk id="42" creationId="{25FB1B88-23D4-00D9-5F05-BCB38BB31569}"/>
          </ac:spMkLst>
        </pc:spChg>
        <pc:spChg chg="add">
          <ac:chgData name="Rafsanul Hasan" userId="229fc3553e4519d4" providerId="LiveId" clId="{5F5FE466-BA34-494F-AD44-0AB6F3856034}" dt="2026-08-01T04:44:40.914" v="1173" actId="22"/>
          <ac:spMkLst>
            <pc:docMk/>
            <pc:sldMk cId="1773377072" sldId="400"/>
            <ac:spMk id="44" creationId="{0B05F12D-EF57-E159-A15A-D2976B4FF48F}"/>
          </ac:spMkLst>
        </pc:spChg>
        <pc:spChg chg="add">
          <ac:chgData name="Rafsanul Hasan" userId="229fc3553e4519d4" providerId="LiveId" clId="{5F5FE466-BA34-494F-AD44-0AB6F3856034}" dt="2026-08-01T04:44:40.914" v="1173" actId="22"/>
          <ac:spMkLst>
            <pc:docMk/>
            <pc:sldMk cId="1773377072" sldId="400"/>
            <ac:spMk id="46" creationId="{6180C5B0-8C72-CC1A-E66E-4E4D6E68E377}"/>
          </ac:spMkLst>
        </pc:spChg>
        <pc:spChg chg="add">
          <ac:chgData name="Rafsanul Hasan" userId="229fc3553e4519d4" providerId="LiveId" clId="{5F5FE466-BA34-494F-AD44-0AB6F3856034}" dt="2026-08-01T04:44:40.914" v="1173" actId="22"/>
          <ac:spMkLst>
            <pc:docMk/>
            <pc:sldMk cId="1773377072" sldId="400"/>
            <ac:spMk id="48" creationId="{91B8CF7B-7532-98AF-95AA-AE87EB2582FA}"/>
          </ac:spMkLst>
        </pc:spChg>
        <pc:spChg chg="mod">
          <ac:chgData name="Rafsanul Hasan" userId="229fc3553e4519d4" providerId="LiveId" clId="{5F5FE466-BA34-494F-AD44-0AB6F3856034}" dt="2026-08-01T04:45:05.694" v="1175" actId="14100"/>
          <ac:spMkLst>
            <pc:docMk/>
            <pc:sldMk cId="1773377072" sldId="400"/>
            <ac:spMk id="204" creationId="{6FED0EB9-3035-1004-0180-15AB41E4B0BB}"/>
          </ac:spMkLst>
        </pc:spChg>
        <pc:spChg chg="mod">
          <ac:chgData name="Rafsanul Hasan" userId="229fc3553e4519d4" providerId="LiveId" clId="{5F5FE466-BA34-494F-AD44-0AB6F3856034}" dt="2026-08-01T04:44:54.334" v="1174" actId="14100"/>
          <ac:spMkLst>
            <pc:docMk/>
            <pc:sldMk cId="1773377072" sldId="400"/>
            <ac:spMk id="206" creationId="{B3DA3EE9-5C66-E4FB-495E-8B4D333322EF}"/>
          </ac:spMkLst>
        </pc:spChg>
        <pc:spChg chg="del">
          <ac:chgData name="Rafsanul Hasan" userId="229fc3553e4519d4" providerId="LiveId" clId="{5F5FE466-BA34-494F-AD44-0AB6F3856034}" dt="2026-08-01T04:44:39.204" v="1172" actId="478"/>
          <ac:spMkLst>
            <pc:docMk/>
            <pc:sldMk cId="1773377072" sldId="400"/>
            <ac:spMk id="504" creationId="{47CFCBC0-E472-DC7D-45F8-B14FC4416209}"/>
          </ac:spMkLst>
        </pc:spChg>
        <pc:spChg chg="del">
          <ac:chgData name="Rafsanul Hasan" userId="229fc3553e4519d4" providerId="LiveId" clId="{5F5FE466-BA34-494F-AD44-0AB6F3856034}" dt="2026-08-01T04:44:39.204" v="1172" actId="478"/>
          <ac:spMkLst>
            <pc:docMk/>
            <pc:sldMk cId="1773377072" sldId="400"/>
            <ac:spMk id="505" creationId="{262861A1-047D-362E-6849-4056D2CEB7AC}"/>
          </ac:spMkLst>
        </pc:spChg>
        <pc:spChg chg="del">
          <ac:chgData name="Rafsanul Hasan" userId="229fc3553e4519d4" providerId="LiveId" clId="{5F5FE466-BA34-494F-AD44-0AB6F3856034}" dt="2026-08-01T04:44:39.204" v="1172" actId="478"/>
          <ac:spMkLst>
            <pc:docMk/>
            <pc:sldMk cId="1773377072" sldId="400"/>
            <ac:spMk id="507" creationId="{52A092AF-AA95-C3D1-B072-E1F13B510E50}"/>
          </ac:spMkLst>
        </pc:spChg>
        <pc:spChg chg="del">
          <ac:chgData name="Rafsanul Hasan" userId="229fc3553e4519d4" providerId="LiveId" clId="{5F5FE466-BA34-494F-AD44-0AB6F3856034}" dt="2026-08-01T04:44:39.204" v="1172" actId="478"/>
          <ac:spMkLst>
            <pc:docMk/>
            <pc:sldMk cId="1773377072" sldId="400"/>
            <ac:spMk id="508" creationId="{8324E444-DFBF-DD35-C269-0713B9ADD1D5}"/>
          </ac:spMkLst>
        </pc:spChg>
        <pc:spChg chg="del">
          <ac:chgData name="Rafsanul Hasan" userId="229fc3553e4519d4" providerId="LiveId" clId="{5F5FE466-BA34-494F-AD44-0AB6F3856034}" dt="2026-08-01T04:44:39.204" v="1172" actId="478"/>
          <ac:spMkLst>
            <pc:docMk/>
            <pc:sldMk cId="1773377072" sldId="400"/>
            <ac:spMk id="509" creationId="{A2A1CA26-8C9D-1B6E-345C-FB0269E80F8F}"/>
          </ac:spMkLst>
        </pc:spChg>
        <pc:spChg chg="del">
          <ac:chgData name="Rafsanul Hasan" userId="229fc3553e4519d4" providerId="LiveId" clId="{5F5FE466-BA34-494F-AD44-0AB6F3856034}" dt="2026-08-01T04:45:50.531" v="1200" actId="478"/>
          <ac:spMkLst>
            <pc:docMk/>
            <pc:sldMk cId="1773377072" sldId="400"/>
            <ac:spMk id="703" creationId="{3EC34695-A06F-704E-0D59-1F5C0D2BDC21}"/>
          </ac:spMkLst>
        </pc:spChg>
        <pc:spChg chg="del mod">
          <ac:chgData name="Rafsanul Hasan" userId="229fc3553e4519d4" providerId="LiveId" clId="{5F5FE466-BA34-494F-AD44-0AB6F3856034}" dt="2026-08-01T04:46:20.057" v="1205" actId="478"/>
          <ac:spMkLst>
            <pc:docMk/>
            <pc:sldMk cId="1773377072" sldId="400"/>
            <ac:spMk id="705" creationId="{3EC34695-A06F-704E-0D59-1F5C0D2BDC21}"/>
          </ac:spMkLst>
        </pc:spChg>
        <pc:spChg chg="del">
          <ac:chgData name="Rafsanul Hasan" userId="229fc3553e4519d4" providerId="LiveId" clId="{5F5FE466-BA34-494F-AD44-0AB6F3856034}" dt="2026-08-01T04:46:16.914" v="1203" actId="478"/>
          <ac:spMkLst>
            <pc:docMk/>
            <pc:sldMk cId="1773377072" sldId="400"/>
            <ac:spMk id="706" creationId="{3EC34695-A06F-704E-0D59-1F5C0D2BDC21}"/>
          </ac:spMkLst>
        </pc:spChg>
        <pc:spChg chg="del">
          <ac:chgData name="Rafsanul Hasan" userId="229fc3553e4519d4" providerId="LiveId" clId="{5F5FE466-BA34-494F-AD44-0AB6F3856034}" dt="2026-08-01T04:46:16.914" v="1203" actId="478"/>
          <ac:spMkLst>
            <pc:docMk/>
            <pc:sldMk cId="1773377072" sldId="400"/>
            <ac:spMk id="707" creationId="{3EC34695-A06F-704E-0D59-1F5C0D2BDC21}"/>
          </ac:spMkLst>
        </pc:spChg>
        <pc:spChg chg="del">
          <ac:chgData name="Rafsanul Hasan" userId="229fc3553e4519d4" providerId="LiveId" clId="{5F5FE466-BA34-494F-AD44-0AB6F3856034}" dt="2026-08-01T04:45:50.531" v="1200" actId="478"/>
          <ac:spMkLst>
            <pc:docMk/>
            <pc:sldMk cId="1773377072" sldId="400"/>
            <ac:spMk id="708" creationId="{3EC34695-A06F-704E-0D59-1F5C0D2BDC21}"/>
          </ac:spMkLst>
        </pc:spChg>
        <pc:spChg chg="del mod">
          <ac:chgData name="Rafsanul Hasan" userId="229fc3553e4519d4" providerId="LiveId" clId="{5F5FE466-BA34-494F-AD44-0AB6F3856034}" dt="2026-08-01T04:46:16.914" v="1203" actId="478"/>
          <ac:spMkLst>
            <pc:docMk/>
            <pc:sldMk cId="1773377072" sldId="400"/>
            <ac:spMk id="709" creationId="{3EC34695-A06F-704E-0D59-1F5C0D2BDC21}"/>
          </ac:spMkLst>
        </pc:spChg>
        <pc:spChg chg="del">
          <ac:chgData name="Rafsanul Hasan" userId="229fc3553e4519d4" providerId="LiveId" clId="{5F5FE466-BA34-494F-AD44-0AB6F3856034}" dt="2026-08-01T04:45:55.366" v="1201" actId="478"/>
          <ac:spMkLst>
            <pc:docMk/>
            <pc:sldMk cId="1773377072" sldId="400"/>
            <ac:spMk id="713" creationId="{3EC34695-A06F-704E-0D59-1F5C0D2BDC21}"/>
          </ac:spMkLst>
        </pc:spChg>
        <pc:spChg chg="del">
          <ac:chgData name="Rafsanul Hasan" userId="229fc3553e4519d4" providerId="LiveId" clId="{5F5FE466-BA34-494F-AD44-0AB6F3856034}" dt="2026-08-01T04:46:24.540" v="1207" actId="478"/>
          <ac:spMkLst>
            <pc:docMk/>
            <pc:sldMk cId="1773377072" sldId="400"/>
            <ac:spMk id="930" creationId="{00000000-0000-0000-0000-000000000000}"/>
          </ac:spMkLst>
        </pc:spChg>
        <pc:spChg chg="del">
          <ac:chgData name="Rafsanul Hasan" userId="229fc3553e4519d4" providerId="LiveId" clId="{5F5FE466-BA34-494F-AD44-0AB6F3856034}" dt="2026-08-01T04:46:30.026" v="1208" actId="478"/>
          <ac:spMkLst>
            <pc:docMk/>
            <pc:sldMk cId="1773377072" sldId="400"/>
            <ac:spMk id="931" creationId="{00000000-0000-0000-0000-000000000000}"/>
          </ac:spMkLst>
        </pc:spChg>
        <pc:spChg chg="del">
          <ac:chgData name="Rafsanul Hasan" userId="229fc3553e4519d4" providerId="LiveId" clId="{5F5FE466-BA34-494F-AD44-0AB6F3856034}" dt="2026-08-01T04:43:16.217" v="1169" actId="478"/>
          <ac:spMkLst>
            <pc:docMk/>
            <pc:sldMk cId="1773377072" sldId="400"/>
            <ac:spMk id="940" creationId="{00000000-0000-0000-0000-000000000000}"/>
          </ac:spMkLst>
        </pc:spChg>
        <pc:spChg chg="del">
          <ac:chgData name="Rafsanul Hasan" userId="229fc3553e4519d4" providerId="LiveId" clId="{5F5FE466-BA34-494F-AD44-0AB6F3856034}" dt="2026-08-01T04:43:11.156" v="1168" actId="478"/>
          <ac:spMkLst>
            <pc:docMk/>
            <pc:sldMk cId="1773377072" sldId="400"/>
            <ac:spMk id="941" creationId="{00000000-0000-0000-0000-000000000000}"/>
          </ac:spMkLst>
        </pc:spChg>
        <pc:spChg chg="mod">
          <ac:chgData name="Rafsanul Hasan" userId="229fc3553e4519d4" providerId="LiveId" clId="{5F5FE466-BA34-494F-AD44-0AB6F3856034}" dt="2026-08-01T04:45:35.788" v="1199" actId="1037"/>
          <ac:spMkLst>
            <pc:docMk/>
            <pc:sldMk cId="1773377072" sldId="400"/>
            <ac:spMk id="983" creationId="{13B7CF06-8A11-4898-5833-E874F2175602}"/>
          </ac:spMkLst>
        </pc:spChg>
        <pc:spChg chg="mod">
          <ac:chgData name="Rafsanul Hasan" userId="229fc3553e4519d4" providerId="LiveId" clId="{5F5FE466-BA34-494F-AD44-0AB6F3856034}" dt="2026-08-01T04:45:35.788" v="1199" actId="1037"/>
          <ac:spMkLst>
            <pc:docMk/>
            <pc:sldMk cId="1773377072" sldId="400"/>
            <ac:spMk id="984" creationId="{13B7CF06-8A11-4898-5833-E874F2175602}"/>
          </ac:spMkLst>
        </pc:spChg>
        <pc:spChg chg="mod">
          <ac:chgData name="Rafsanul Hasan" userId="229fc3553e4519d4" providerId="LiveId" clId="{5F5FE466-BA34-494F-AD44-0AB6F3856034}" dt="2026-08-01T04:45:35.788" v="1199" actId="1037"/>
          <ac:spMkLst>
            <pc:docMk/>
            <pc:sldMk cId="1773377072" sldId="400"/>
            <ac:spMk id="985" creationId="{13B7CF06-8A11-4898-5833-E874F2175602}"/>
          </ac:spMkLst>
        </pc:spChg>
        <pc:cxnChg chg="mod">
          <ac:chgData name="Rafsanul Hasan" userId="229fc3553e4519d4" providerId="LiveId" clId="{5F5FE466-BA34-494F-AD44-0AB6F3856034}" dt="2026-08-01T04:45:35.788" v="1199" actId="1037"/>
          <ac:cxnSpMkLst>
            <pc:docMk/>
            <pc:sldMk cId="1773377072" sldId="400"/>
            <ac:cxnSpMk id="920" creationId="{00000000-0000-0000-0000-000000000000}"/>
          </ac:cxnSpMkLst>
        </pc:cxnChg>
        <pc:cxnChg chg="mod">
          <ac:chgData name="Rafsanul Hasan" userId="229fc3553e4519d4" providerId="LiveId" clId="{5F5FE466-BA34-494F-AD44-0AB6F3856034}" dt="2026-08-01T04:45:35.788" v="1199" actId="1037"/>
          <ac:cxnSpMkLst>
            <pc:docMk/>
            <pc:sldMk cId="1773377072" sldId="400"/>
            <ac:cxnSpMk id="921" creationId="{00000000-0000-0000-0000-000000000000}"/>
          </ac:cxnSpMkLst>
        </pc:cxnChg>
        <pc:cxnChg chg="mod">
          <ac:chgData name="Rafsanul Hasan" userId="229fc3553e4519d4" providerId="LiveId" clId="{5F5FE466-BA34-494F-AD44-0AB6F3856034}" dt="2026-08-01T04:45:35.788" v="1199" actId="1037"/>
          <ac:cxnSpMkLst>
            <pc:docMk/>
            <pc:sldMk cId="1773377072" sldId="400"/>
            <ac:cxnSpMk id="922" creationId="{00000000-0000-0000-0000-000000000000}"/>
          </ac:cxnSpMkLst>
        </pc:cxnChg>
      </pc:sldChg>
      <pc:sldChg chg="addSp modSp add del mod">
        <pc:chgData name="Rafsanul Hasan" userId="229fc3553e4519d4" providerId="LiveId" clId="{5F5FE466-BA34-494F-AD44-0AB6F3856034}" dt="2026-08-01T04:59:15.181" v="1223"/>
        <pc:sldMkLst>
          <pc:docMk/>
          <pc:sldMk cId="644946627" sldId="401"/>
        </pc:sldMkLst>
        <pc:spChg chg="add">
          <ac:chgData name="Rafsanul Hasan" userId="229fc3553e4519d4" providerId="LiveId" clId="{5F5FE466-BA34-494F-AD44-0AB6F3856034}" dt="2026-08-01T04:50:41.982" v="1219" actId="11529"/>
          <ac:spMkLst>
            <pc:docMk/>
            <pc:sldMk cId="644946627" sldId="401"/>
            <ac:spMk id="4" creationId="{524142BA-DE06-CB91-7CF9-29A33A35B485}"/>
          </ac:spMkLst>
        </pc:spChg>
        <pc:cxnChg chg="add mod">
          <ac:chgData name="Rafsanul Hasan" userId="229fc3553e4519d4" providerId="LiveId" clId="{5F5FE466-BA34-494F-AD44-0AB6F3856034}" dt="2026-08-01T04:52:45.821" v="1221" actId="692"/>
          <ac:cxnSpMkLst>
            <pc:docMk/>
            <pc:sldMk cId="644946627" sldId="401"/>
            <ac:cxnSpMk id="2" creationId="{95212BBC-C734-8069-9FE6-3B0BBD962557}"/>
          </ac:cxnSpMkLst>
        </pc:cxnChg>
      </pc:sldChg>
      <pc:sldChg chg="addSp delSp modSp add mod">
        <pc:chgData name="Rafsanul Hasan" userId="229fc3553e4519d4" providerId="LiveId" clId="{5F5FE466-BA34-494F-AD44-0AB6F3856034}" dt="2026-08-01T05:26:05.236" v="1473" actId="1076"/>
        <pc:sldMkLst>
          <pc:docMk/>
          <pc:sldMk cId="346589024" sldId="402"/>
        </pc:sldMkLst>
        <pc:spChg chg="del mod">
          <ac:chgData name="Rafsanul Hasan" userId="229fc3553e4519d4" providerId="LiveId" clId="{5F5FE466-BA34-494F-AD44-0AB6F3856034}" dt="2026-08-01T05:25:58.562" v="1472" actId="478"/>
          <ac:spMkLst>
            <pc:docMk/>
            <pc:sldMk cId="346589024" sldId="402"/>
            <ac:spMk id="4" creationId="{524142BA-DE06-CB91-7CF9-29A33A35B485}"/>
          </ac:spMkLst>
        </pc:spChg>
        <pc:spChg chg="add mod">
          <ac:chgData name="Rafsanul Hasan" userId="229fc3553e4519d4" providerId="LiveId" clId="{5F5FE466-BA34-494F-AD44-0AB6F3856034}" dt="2026-08-01T05:26:05.236" v="1473" actId="1076"/>
          <ac:spMkLst>
            <pc:docMk/>
            <pc:sldMk cId="346589024" sldId="402"/>
            <ac:spMk id="8" creationId="{B4E0486B-AE2A-D54F-E9AD-01282CAD31AC}"/>
          </ac:spMkLst>
        </pc:spChg>
      </pc:sldChg>
      <pc:sldChg chg="addSp modSp new del mod">
        <pc:chgData name="Rafsanul Hasan" userId="229fc3553e4519d4" providerId="LiveId" clId="{5F5FE466-BA34-494F-AD44-0AB6F3856034}" dt="2026-08-01T05:08:08.060" v="1240"/>
        <pc:sldMkLst>
          <pc:docMk/>
          <pc:sldMk cId="295882060" sldId="403"/>
        </pc:sldMkLst>
        <pc:spChg chg="add mod">
          <ac:chgData name="Rafsanul Hasan" userId="229fc3553e4519d4" providerId="LiveId" clId="{5F5FE466-BA34-494F-AD44-0AB6F3856034}" dt="2026-08-01T05:04:05.754" v="1238" actId="14100"/>
          <ac:spMkLst>
            <pc:docMk/>
            <pc:sldMk cId="295882060" sldId="403"/>
            <ac:spMk id="3" creationId="{04BF693C-90F3-4B7F-06FA-68F7DFD9E0F9}"/>
          </ac:spMkLst>
        </pc:spChg>
      </pc:sldChg>
      <pc:sldChg chg="add del">
        <pc:chgData name="Rafsanul Hasan" userId="229fc3553e4519d4" providerId="LiveId" clId="{5F5FE466-BA34-494F-AD44-0AB6F3856034}" dt="2026-08-01T05:08:32.505" v="1242"/>
        <pc:sldMkLst>
          <pc:docMk/>
          <pc:sldMk cId="2386829276" sldId="404"/>
        </pc:sldMkLst>
      </pc:sldChg>
      <pc:sldChg chg="addSp delSp modSp add del mod">
        <pc:chgData name="Rafsanul Hasan" userId="229fc3553e4519d4" providerId="LiveId" clId="{5F5FE466-BA34-494F-AD44-0AB6F3856034}" dt="2026-08-01T05:22:50.454" v="1455"/>
        <pc:sldMkLst>
          <pc:docMk/>
          <pc:sldMk cId="3052888249" sldId="405"/>
        </pc:sldMkLst>
        <pc:spChg chg="mod">
          <ac:chgData name="Rafsanul Hasan" userId="229fc3553e4519d4" providerId="LiveId" clId="{5F5FE466-BA34-494F-AD44-0AB6F3856034}" dt="2026-08-01T05:11:27.510" v="1375" actId="1076"/>
          <ac:spMkLst>
            <pc:docMk/>
            <pc:sldMk cId="3052888249" sldId="405"/>
            <ac:spMk id="101" creationId="{00000000-0000-0000-0000-000000000000}"/>
          </ac:spMkLst>
        </pc:spChg>
        <pc:spChg chg="mod">
          <ac:chgData name="Rafsanul Hasan" userId="229fc3553e4519d4" providerId="LiveId" clId="{5F5FE466-BA34-494F-AD44-0AB6F3856034}" dt="2026-08-01T05:16:53.038" v="1438" actId="1076"/>
          <ac:spMkLst>
            <pc:docMk/>
            <pc:sldMk cId="3052888249" sldId="405"/>
            <ac:spMk id="110" creationId="{00000000-0000-0000-0000-000000000000}"/>
          </ac:spMkLst>
        </pc:spChg>
        <pc:spChg chg="mod">
          <ac:chgData name="Rafsanul Hasan" userId="229fc3553e4519d4" providerId="LiveId" clId="{5F5FE466-BA34-494F-AD44-0AB6F3856034}" dt="2026-08-01T05:17:29.094" v="1442" actId="1076"/>
          <ac:spMkLst>
            <pc:docMk/>
            <pc:sldMk cId="3052888249" sldId="405"/>
            <ac:spMk id="111" creationId="{00000000-0000-0000-0000-000000000000}"/>
          </ac:spMkLst>
        </pc:spChg>
        <pc:spChg chg="mod">
          <ac:chgData name="Rafsanul Hasan" userId="229fc3553e4519d4" providerId="LiveId" clId="{5F5FE466-BA34-494F-AD44-0AB6F3856034}" dt="2026-08-01T05:10:01.952" v="1316" actId="1076"/>
          <ac:spMkLst>
            <pc:docMk/>
            <pc:sldMk cId="3052888249" sldId="405"/>
            <ac:spMk id="112" creationId="{00000000-0000-0000-0000-000000000000}"/>
          </ac:spMkLst>
        </pc:spChg>
        <pc:spChg chg="mod">
          <ac:chgData name="Rafsanul Hasan" userId="229fc3553e4519d4" providerId="LiveId" clId="{5F5FE466-BA34-494F-AD44-0AB6F3856034}" dt="2026-08-01T05:18:57.469" v="1453" actId="1036"/>
          <ac:spMkLst>
            <pc:docMk/>
            <pc:sldMk cId="3052888249" sldId="405"/>
            <ac:spMk id="113" creationId="{00000000-0000-0000-0000-000000000000}"/>
          </ac:spMkLst>
        </pc:spChg>
        <pc:spChg chg="del mod">
          <ac:chgData name="Rafsanul Hasan" userId="229fc3553e4519d4" providerId="LiveId" clId="{5F5FE466-BA34-494F-AD44-0AB6F3856034}" dt="2026-08-01T05:12:03.090" v="1382" actId="478"/>
          <ac:spMkLst>
            <pc:docMk/>
            <pc:sldMk cId="3052888249" sldId="405"/>
            <ac:spMk id="120" creationId="{00000000-0000-0000-0000-000000000000}"/>
          </ac:spMkLst>
        </pc:spChg>
        <pc:spChg chg="mod">
          <ac:chgData name="Rafsanul Hasan" userId="229fc3553e4519d4" providerId="LiveId" clId="{5F5FE466-BA34-494F-AD44-0AB6F3856034}" dt="2026-08-01T05:14:31.159" v="1435" actId="1076"/>
          <ac:spMkLst>
            <pc:docMk/>
            <pc:sldMk cId="3052888249" sldId="405"/>
            <ac:spMk id="121" creationId="{00000000-0000-0000-0000-000000000000}"/>
          </ac:spMkLst>
        </pc:spChg>
        <pc:spChg chg="del">
          <ac:chgData name="Rafsanul Hasan" userId="229fc3553e4519d4" providerId="LiveId" clId="{5F5FE466-BA34-494F-AD44-0AB6F3856034}" dt="2026-08-01T05:11:45.951" v="1376" actId="478"/>
          <ac:spMkLst>
            <pc:docMk/>
            <pc:sldMk cId="3052888249" sldId="405"/>
            <ac:spMk id="130" creationId="{00000000-0000-0000-0000-000000000000}"/>
          </ac:spMkLst>
        </pc:spChg>
        <pc:spChg chg="del">
          <ac:chgData name="Rafsanul Hasan" userId="229fc3553e4519d4" providerId="LiveId" clId="{5F5FE466-BA34-494F-AD44-0AB6F3856034}" dt="2026-08-01T05:11:53.278" v="1379" actId="478"/>
          <ac:spMkLst>
            <pc:docMk/>
            <pc:sldMk cId="3052888249" sldId="405"/>
            <ac:spMk id="131" creationId="{00000000-0000-0000-0000-000000000000}"/>
          </ac:spMkLst>
        </pc:spChg>
        <pc:spChg chg="del">
          <ac:chgData name="Rafsanul Hasan" userId="229fc3553e4519d4" providerId="LiveId" clId="{5F5FE466-BA34-494F-AD44-0AB6F3856034}" dt="2026-08-01T05:11:54.247" v="1380" actId="478"/>
          <ac:spMkLst>
            <pc:docMk/>
            <pc:sldMk cId="3052888249" sldId="405"/>
            <ac:spMk id="132" creationId="{00000000-0000-0000-0000-000000000000}"/>
          </ac:spMkLst>
        </pc:spChg>
        <pc:spChg chg="del">
          <ac:chgData name="Rafsanul Hasan" userId="229fc3553e4519d4" providerId="LiveId" clId="{5F5FE466-BA34-494F-AD44-0AB6F3856034}" dt="2026-08-01T05:11:55.203" v="1381" actId="478"/>
          <ac:spMkLst>
            <pc:docMk/>
            <pc:sldMk cId="3052888249" sldId="405"/>
            <ac:spMk id="133" creationId="{00000000-0000-0000-0000-000000000000}"/>
          </ac:spMkLst>
        </pc:spChg>
        <pc:cxnChg chg="add mod">
          <ac:chgData name="Rafsanul Hasan" userId="229fc3553e4519d4" providerId="LiveId" clId="{5F5FE466-BA34-494F-AD44-0AB6F3856034}" dt="2026-08-01T05:12:16.375" v="1385" actId="14100"/>
          <ac:cxnSpMkLst>
            <pc:docMk/>
            <pc:sldMk cId="3052888249" sldId="405"/>
            <ac:cxnSpMk id="2" creationId="{F97F815D-4B81-F2A7-FF0A-A8B5B9330B80}"/>
          </ac:cxnSpMkLst>
        </pc:cxnChg>
        <pc:cxnChg chg="add mod">
          <ac:chgData name="Rafsanul Hasan" userId="229fc3553e4519d4" providerId="LiveId" clId="{5F5FE466-BA34-494F-AD44-0AB6F3856034}" dt="2026-08-01T05:12:58.111" v="1391" actId="14100"/>
          <ac:cxnSpMkLst>
            <pc:docMk/>
            <pc:sldMk cId="3052888249" sldId="405"/>
            <ac:cxnSpMk id="6" creationId="{497EABF5-600C-25B0-A4BF-8929890ECA27}"/>
          </ac:cxnSpMkLst>
        </pc:cxnChg>
      </pc:sldChg>
      <pc:sldChg chg="add">
        <pc:chgData name="Rafsanul Hasan" userId="229fc3553e4519d4" providerId="LiveId" clId="{5F5FE466-BA34-494F-AD44-0AB6F3856034}" dt="2026-08-01T05:22:50.433" v="1454"/>
        <pc:sldMkLst>
          <pc:docMk/>
          <pc:sldMk cId="4034139787" sldId="406"/>
        </pc:sldMkLst>
      </pc:sldChg>
      <pc:sldChg chg="add del">
        <pc:chgData name="Rafsanul Hasan" userId="229fc3553e4519d4" providerId="LiveId" clId="{5F5FE466-BA34-494F-AD44-0AB6F3856034}" dt="2026-08-01T05:38:36.985" v="1547"/>
        <pc:sldMkLst>
          <pc:docMk/>
          <pc:sldMk cId="3768137454" sldId="407"/>
        </pc:sldMkLst>
      </pc:sldChg>
      <pc:sldChg chg="modSp add mod">
        <pc:chgData name="Rafsanul Hasan" userId="229fc3553e4519d4" providerId="LiveId" clId="{5F5FE466-BA34-494F-AD44-0AB6F3856034}" dt="2026-08-01T05:40:17.102" v="1589" actId="20577"/>
        <pc:sldMkLst>
          <pc:docMk/>
          <pc:sldMk cId="2696786674" sldId="408"/>
        </pc:sldMkLst>
        <pc:spChg chg="mod">
          <ac:chgData name="Rafsanul Hasan" userId="229fc3553e4519d4" providerId="LiveId" clId="{5F5FE466-BA34-494F-AD44-0AB6F3856034}" dt="2026-08-01T05:40:17.102" v="1589" actId="20577"/>
          <ac:spMkLst>
            <pc:docMk/>
            <pc:sldMk cId="2696786674" sldId="408"/>
            <ac:spMk id="610" creationId="{00000000-0000-0000-0000-000000000000}"/>
          </ac:spMkLst>
        </pc:spChg>
        <pc:spChg chg="mod">
          <ac:chgData name="Rafsanul Hasan" userId="229fc3553e4519d4" providerId="LiveId" clId="{5F5FE466-BA34-494F-AD44-0AB6F3856034}" dt="2026-08-01T05:40:04.930" v="1567" actId="20577"/>
          <ac:spMkLst>
            <pc:docMk/>
            <pc:sldMk cId="2696786674" sldId="408"/>
            <ac:spMk id="70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82872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12-minute practical walkthrough of how I run an AI-Driven Development Lifecycle on a real production .NET codebase using Claude Code. Not theory — everything shown is running today. Three pillars: a multi-agent team, engineered feedback loops, and spec-driven design with ATDD.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dirty="0"/>
          </a:p>
        </p:txBody>
      </p:sp>
    </p:spTree>
    <p:extLst>
      <p:ext uri="{BB962C8B-B14F-4D97-AF65-F5344CB8AC3E}">
        <p14:creationId xmlns:p14="http://schemas.microsoft.com/office/powerpoint/2010/main" val="3779533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Landscape orientation before we go deeper: this is the current end-to-end architecture.</a:t>
            </a:r>
          </a:p>
          <a:p>
            <a:r>
              <a:rPr lang="en-US" dirty="0"/>
              <a:t>Three React micro frontends talk over HTTPS to a single Web BFF that aggregates for all MFEs. The BFF calls the microservices over REST, and there is some service-to-service REST as well.</a:t>
            </a:r>
          </a:p>
          <a:p>
            <a:r>
              <a:rPr lang="en-US" dirty="0"/>
              <a:t>Asynchronous flows go through Kafka - a queue per service (msb1..msb4.queue) with matching dead-letter queues, and Mongo-based outbox/inbox for reliable messaging.</a:t>
            </a:r>
          </a:p>
          <a:p>
            <a:r>
              <a:rPr lang="en-US" dirty="0"/>
              <a:t>Persistence is mixed: Oracle RDBMS schemas, Mongo collections, and Redis for caching.</a:t>
            </a:r>
          </a:p>
          <a:p>
            <a:r>
              <a:rPr lang="en-US" dirty="0"/>
              <a:t>Important organisational point: the micro frontends, the BFF and the microservices are each owned by separate teams. Ownership is split along technology tiers rather than along business capabilities.</a:t>
            </a:r>
          </a:p>
          <a:p>
            <a:r>
              <a:rPr lang="en-US" dirty="0"/>
              <a:t>That matters because a single business change usually needs coordinated work in all three tiers - three backlogs, three release trains, three sets of priorities - which is where most of our lead time goes.</a:t>
            </a:r>
          </a:p>
          <a:p>
            <a:r>
              <a:rPr lang="en-US" dirty="0"/>
              <a:t>It also explains why contracts between MFE, BFF and services need to be explicit: no team can safely refactor across a boundary it does not own.</a:t>
            </a:r>
          </a:p>
          <a:p>
            <a:r>
              <a:rPr lang="en-US" dirty="0"/>
              <a:t>Scope statement - be explicit about this: the agentic architecture we are proposing targets the MSB (microservices) team only. It does not cover the BFF or the micro frontends. Those tiers stay exactly as they are today; no changes to their structure, ownership or delivery process are being asked for in this deck.</a:t>
            </a:r>
          </a:p>
          <a:p>
            <a:r>
              <a:rPr lang="en-US" dirty="0"/>
              <a:t>So, when the following slides talk about bounded contexts, slices and architecture tests, read them as changes inside the MSB codebase - the MFE and BFF integration contracts remain untouched.</a:t>
            </a:r>
          </a:p>
          <a:p>
            <a:r>
              <a:rPr lang="en-US" dirty="0"/>
              <a:t>Keep this team split in mind - it is the same problem, at organisation scale, that the layered structure has inside a single service (slide 12), and it is what the bounded-context proposal is trying to align within MSB.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Where we are today: one microservice built as a modular monolith with classic horizontal layers.</a:t>
            </a:r>
          </a:p>
          <a:p>
            <a:r>
              <a:rPr lang="en-US" dirty="0"/>
              <a:t>Flow: Presentation (API controllers) - Business Logic (services, domain exceptions, enums, validations) - Handlers (query/command/notification) - Infrastructure (entities, repositories, adapters, clients). Each layer depends only on the one below it.</a:t>
            </a:r>
          </a:p>
          <a:p>
            <a:r>
              <a:rPr lang="en-US" dirty="0"/>
              <a:t>Cross-cutting technical concerns span the whole stack: security and AuthN/AuthZ, observability (logging, tracing, metrics), config and secrets, exception handling and retries, health checks.</a:t>
            </a:r>
          </a:p>
          <a:p>
            <a:r>
              <a:rPr lang="en-US" dirty="0"/>
              <a:t>Shared models - queries, commands, notifications, DTOs and shared enums - are visible to every layer.</a:t>
            </a:r>
          </a:p>
          <a:p>
            <a:r>
              <a:rPr lang="en-US" dirty="0"/>
              <a:t>All data and integrations sit behind Infrastructure: Oracle Enterprise, MongoDB, Redis, Kafka and external services.</a:t>
            </a:r>
          </a:p>
          <a:p>
            <a:r>
              <a:rPr lang="en-US" dirty="0"/>
              <a:t>The honest critique: the boundaries here are technical, not business. A single feature change ripples through all four layers, the shared model area becomes a dumping ground, and nothing structural prevents any part of the code from reaching anything else.</a:t>
            </a:r>
          </a:p>
          <a:p>
            <a:r>
              <a:rPr lang="en-US" dirty="0"/>
              <a:t>Transition: the next two slides show what we propose instead - first Clean Architecture, then Clean Architecture plus Vertical Slices.</a:t>
            </a:r>
          </a:p>
        </p:txBody>
      </p:sp>
    </p:spTree>
    <p:extLst>
      <p:ext uri="{BB962C8B-B14F-4D97-AF65-F5344CB8AC3E}">
        <p14:creationId xmlns:p14="http://schemas.microsoft.com/office/powerpoint/2010/main" val="289001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AB86A-6337-D9A5-8EE0-607421F166EB}"/>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E29DA61E-FF0C-D51C-C56B-871DAE685372}"/>
              </a:ext>
            </a:extLst>
          </p:cNvPr>
          <p:cNvSpPr>
            <a:spLocks noGrp="1"/>
          </p:cNvSpPr>
          <p:nvPr>
            <p:ph type="body" idx="1"/>
          </p:nvPr>
        </p:nvSpPr>
        <p:spPr/>
        <p:txBody>
          <a:bodyPr/>
          <a:lstStyle/>
          <a:p>
            <a:r>
              <a:rPr lang="en-US" dirty="0"/>
              <a:t>Where we are today: one microservice built as a modular monolith with classic horizontal layers.</a:t>
            </a:r>
          </a:p>
          <a:p>
            <a:r>
              <a:rPr lang="en-US" dirty="0"/>
              <a:t>Flow: Presentation (API controllers) - Business Logic (services, domain exceptions, enums, validations) - Handlers (query/command/notification) - Infrastructure (entities, repositories, adapters, clients). Each layer depends only on the one below it.</a:t>
            </a:r>
          </a:p>
          <a:p>
            <a:r>
              <a:rPr lang="en-US" dirty="0"/>
              <a:t>Cross-cutting technical concerns span the whole stack: security and AuthN/AuthZ, observability (logging, tracing, metrics), config and secrets, exception handling and retries, health checks.</a:t>
            </a:r>
          </a:p>
          <a:p>
            <a:r>
              <a:rPr lang="en-US" dirty="0"/>
              <a:t>Shared models - queries, commands, notifications, DTOs and shared enums - are visible to every layer.</a:t>
            </a:r>
          </a:p>
          <a:p>
            <a:r>
              <a:rPr lang="en-US" dirty="0"/>
              <a:t>All data and integrations sit behind Infrastructure: Oracle Enterprise, MongoDB, Redis, Kafka and external services.</a:t>
            </a:r>
          </a:p>
          <a:p>
            <a:r>
              <a:rPr lang="en-US" dirty="0"/>
              <a:t>The honest critique: the boundaries here are technical, not business. A single feature change ripples through all four layers, the shared model area becomes a dumping ground, and nothing structural prevents any part of the code from reaching anything else.</a:t>
            </a:r>
          </a:p>
          <a:p>
            <a:r>
              <a:rPr lang="en-US" dirty="0"/>
              <a:t>Transition: the next two slides show what we propose instead - first Clean Architecture, then Clean Architecture plus Vertical Slices.</a:t>
            </a:r>
          </a:p>
        </p:txBody>
      </p:sp>
    </p:spTree>
    <p:extLst>
      <p:ext uri="{BB962C8B-B14F-4D97-AF65-F5344CB8AC3E}">
        <p14:creationId xmlns:p14="http://schemas.microsoft.com/office/powerpoint/2010/main" val="35077484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AB86A-6337-D9A5-8EE0-607421F166EB}"/>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E29DA61E-FF0C-D51C-C56B-871DAE685372}"/>
              </a:ext>
            </a:extLst>
          </p:cNvPr>
          <p:cNvSpPr>
            <a:spLocks noGrp="1"/>
          </p:cNvSpPr>
          <p:nvPr>
            <p:ph type="body" idx="1"/>
          </p:nvPr>
        </p:nvSpPr>
        <p:spPr/>
        <p:txBody>
          <a:bodyPr/>
          <a:lstStyle/>
          <a:p>
            <a:r>
              <a:rPr lang="en-US" sz="1100" b="1" dirty="0"/>
              <a:t>Zoom-in on a single business capability — one vertical slice = one .NET project. Every slice repeats this same internal structure.</a:t>
            </a:r>
          </a:p>
          <a:p>
            <a:endParaRPr lang="en-US" sz="1100"/>
          </a:p>
          <a:p>
            <a:r>
              <a:rPr lang="en-US" sz="1100" b="1" dirty="0"/>
              <a:t>Change from the previous proposal: Handlers are no longer a top-level layer. They now live inside the Business Logic Layer, which is split into four parts:</a:t>
            </a:r>
          </a:p>
          <a:p>
            <a:r>
              <a:rPr lang="en-US" sz="1100" b="0" dirty="0"/>
              <a:t>• Abstractions — service and entity abstractions (interfaces + abstract classes). The base that the rest of the BLL depends on.</a:t>
            </a:r>
          </a:p>
          <a:p>
            <a:r>
              <a:rPr lang="en-US" sz="1100" b="0" dirty="0"/>
              <a:t>• Handlers &amp; Validators — command / query / notification handlers and their validators.</a:t>
            </a:r>
          </a:p>
          <a:p>
            <a:r>
              <a:rPr lang="en-US" sz="1100" b="0" dirty="0"/>
              <a:t>• Models — domain models, value objects, enums, constants, exceptions and DTOs.</a:t>
            </a:r>
          </a:p>
          <a:p>
            <a:r>
              <a:rPr lang="en-US" sz="1100" b="0" dirty="0"/>
              <a:t>• Service Implementations — the concrete services.</a:t>
            </a:r>
          </a:p>
          <a:p>
            <a:endParaRPr lang="en-US" sz="1100"/>
          </a:p>
          <a:p>
            <a:r>
              <a:rPr lang="en-US" sz="1100" b="0" dirty="0"/>
              <a:t>Dependencies inside the BLL: Handlers &amp; Validators, Models and Service Implementations all depend on Abstractions (loose coupling — dashed). Handlers &amp; Validators and Service Implementations also depend on Models (strong coupling — solid).</a:t>
            </a:r>
          </a:p>
          <a:p>
            <a:endParaRPr lang="en-US" sz="1100"/>
          </a:p>
          <a:p>
            <a:r>
              <a:rPr lang="en-US" sz="1100" b="1" dirty="0"/>
              <a:t>Flow through the layers:</a:t>
            </a:r>
          </a:p>
          <a:p>
            <a:r>
              <a:rPr lang="en-US" sz="1100" b="0" dirty="0"/>
              <a:t>• API Host is the composition root — it resolves each slice's DI registration from the Presentation layer (Controllers + Request/Response DTO models). Controllers depend on the request/response models.</a:t>
            </a:r>
          </a:p>
          <a:p>
            <a:r>
              <a:rPr lang="en-US" sz="1100" b="0" dirty="0"/>
              <a:t>• Presentation reaches the Business Logic Layer through its Abstractions and Models.</a:t>
            </a:r>
          </a:p>
          <a:p>
            <a:r>
              <a:rPr lang="en-US" sz="1100" b="0" dirty="0"/>
              <a:t>• The Business Logic Layer reaches Infrastructure through that abstraction boundary.</a:t>
            </a:r>
          </a:p>
          <a:p>
            <a:r>
              <a:rPr lang="en-US" sz="1100" b="0" dirty="0"/>
              <a:t>• Infrastructure accesses the Data &amp; Integrations layer directly and uses the shared cross-cutting concerns. Its sublayers: Database (DbContext), Caching, Messaging, External Integration Services.</a:t>
            </a:r>
          </a:p>
          <a:p>
            <a:endParaRPr lang="en-US" sz="1100"/>
          </a:p>
          <a:p>
            <a:r>
              <a:rPr lang="en-US" sz="1100" b="0" dirty="0"/>
              <a:t>Cross-cutting concerns are shared across layers, but only Models and Infrastructure reference them directly.</a:t>
            </a:r>
          </a:p>
          <a:p>
            <a:endParaRPr lang="en-US" sz="1100"/>
          </a:p>
          <a:p>
            <a:r>
              <a:rPr lang="en-US" sz="1100" b="1" dirty="0"/>
              <a:t>Arrow legend: solid = strong coupling · dashed = loose coupling (via abstractions / DI) · dotted = decoupled via messaging (e.g. Messaging → Kafka).</a:t>
            </a:r>
          </a:p>
        </p:txBody>
      </p:sp>
    </p:spTree>
    <p:extLst>
      <p:ext uri="{BB962C8B-B14F-4D97-AF65-F5344CB8AC3E}">
        <p14:creationId xmlns:p14="http://schemas.microsoft.com/office/powerpoint/2010/main" val="35077484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Step two: keep Clean Architecture inside and slice the service vertically by bounded context. One slice = one .NET project.</a:t>
            </a:r>
          </a:p>
          <a:p>
            <a:r>
              <a:rPr lang="en-US" dirty="0"/>
              <a:t>Each slice owns its full stack: Endpoints - Application - Domain - Domain Kernel, with its own DI-wired Infrastructure holding all data access for that slice.</a:t>
            </a:r>
          </a:p>
          <a:p>
            <a:r>
              <a:rPr lang="en-US" dirty="0"/>
              <a:t>The crosses between slices are the key point: slices never reference each other. Any cross-slice interaction goes through explicit contracts or events, not a direct project reference.</a:t>
            </a:r>
          </a:p>
          <a:p>
            <a:r>
              <a:rPr lang="en-US" dirty="0"/>
              <a:t>The Shared Kernel (.csproj) carries only common abstractions, base types, DTOs and enums - referenced by each slice's Domain Kernel. Keep it deliberately thin; it is the one place coupling can creep back in.</a:t>
            </a:r>
          </a:p>
          <a:p>
            <a:r>
              <a:rPr lang="en-US" dirty="0"/>
              <a:t>Presentation is a single API host that routes each request into exactly one slice, so the runtime and deployment story is unchanged.</a:t>
            </a:r>
          </a:p>
          <a:p>
            <a:r>
              <a:rPr lang="en-US" dirty="0"/>
              <a:t>In our context the slices map to real banking domains - Payments, Cards, Ledger, KYC/AML, Onboarding - so the project structure speaks the same ubiquitous language as the business.</a:t>
            </a:r>
          </a:p>
          <a:p>
            <a:r>
              <a:rPr lang="en-US" dirty="0"/>
              <a:t>Practical payoffs: a feature or regulatory change lands in one slice, ownership is obvious per team, and the no-cross-reference rule can be enforced automatically with architecture tests in CI.</a:t>
            </a:r>
          </a:p>
          <a:p>
            <a:r>
              <a:rPr lang="en-US" dirty="0"/>
              <a:t>Transition: the next slide summarises why this is better than the layered structure on slide 12.</a:t>
            </a:r>
          </a:p>
        </p:txBody>
      </p:sp>
    </p:spTree>
    <p:extLst>
      <p:ext uri="{BB962C8B-B14F-4D97-AF65-F5344CB8AC3E}">
        <p14:creationId xmlns:p14="http://schemas.microsoft.com/office/powerpoint/2010/main" val="18309778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Step one of the proposal: keep the single deployable microservice, but re-organise it around Clean Architecture.</a:t>
            </a:r>
          </a:p>
          <a:p>
            <a:r>
              <a:rPr lang="en-US" dirty="0"/>
              <a:t>Layers now point inward: Presentation (API controllers, DI wiring) - Application (handlers, application services, use cases) - Domain (entities, aggregates, domain rules, exceptions, validators, domain services) - Domain Kernel (domain abstractions, shared primitives, base types, DTOs, enums, domain exceptions).</a:t>
            </a:r>
          </a:p>
          <a:p>
            <a:r>
              <a:rPr lang="en-US" dirty="0"/>
              <a:t>Infrastructure is deliberately off to the side: it is DI-wired from Presentation and is the only component that touches data and integrations. Nothing in Domain or Application knows about Oracle, Mongo, Redis or Kafka.</a:t>
            </a:r>
          </a:p>
          <a:p>
            <a:r>
              <a:rPr lang="en-US" dirty="0"/>
              <a:t>Note the 'DI only' arrow - that is the dependency inversion boundary. Interfaces live in the Domain/Domain Kernel; implementations live in Infrastructure.</a:t>
            </a:r>
          </a:p>
          <a:p>
            <a:r>
              <a:rPr lang="en-US" dirty="0"/>
              <a:t>Why this matters: business rules become testable without a database or a framework, technology choices become swappable, and the Domain stops being polluted by persistence concerns.</a:t>
            </a:r>
          </a:p>
          <a:p>
            <a:r>
              <a:rPr lang="en-US" dirty="0"/>
              <a:t>Deployment is unchanged - still one service, one pipeline. This is an internal structure change, not an infrastructure change.</a:t>
            </a:r>
          </a:p>
          <a:p>
            <a:r>
              <a:rPr lang="en-US" dirty="0"/>
              <a:t>Transition: Clean Architecture fixes the direction of dependencies; the next slide fixes the shape of the boundaries.</a:t>
            </a:r>
          </a:p>
        </p:txBody>
      </p:sp>
    </p:spTree>
    <p:extLst>
      <p:ext uri="{BB962C8B-B14F-4D97-AF65-F5344CB8AC3E}">
        <p14:creationId xmlns:p14="http://schemas.microsoft.com/office/powerpoint/2010/main" val="13594635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Where we are today: one microservice built as a modular monolith with classic horizontal layers.</a:t>
            </a:r>
          </a:p>
          <a:p>
            <a:r>
              <a:rPr lang="en-US" dirty="0"/>
              <a:t>Flow: Presentation (API controllers) - Business Logic (services, domain exceptions, enums, validations) - Handlers (query/command/notification) - Infrastructure (entities, repositories, adapters, clients). Each layer depends only on the one below it.</a:t>
            </a:r>
          </a:p>
          <a:p>
            <a:r>
              <a:rPr lang="en-US" dirty="0"/>
              <a:t>Cross-cutting technical concerns span the whole stack: security and AuthN/AuthZ, observability (logging, tracing, metrics), config and secrets, exception handling and retries, health checks.</a:t>
            </a:r>
          </a:p>
          <a:p>
            <a:r>
              <a:rPr lang="en-US" dirty="0"/>
              <a:t>Shared models - queries, commands, notifications, DTOs and shared enums - are visible to every layer.</a:t>
            </a:r>
          </a:p>
          <a:p>
            <a:r>
              <a:rPr lang="en-US" dirty="0"/>
              <a:t>All data and integrations sit behind Infrastructure: Oracle Enterprise, MongoDB, Redis, Kafka and external services.</a:t>
            </a:r>
          </a:p>
          <a:p>
            <a:r>
              <a:rPr lang="en-US" dirty="0"/>
              <a:t>The honest critique: the boundaries here are technical, not business. A single feature change ripples through all four layers, the shared model area becomes a dumping ground, and nothing structural prevents any part of the code from reaching anything else.</a:t>
            </a:r>
          </a:p>
          <a:p>
            <a:r>
              <a:rPr lang="en-US" dirty="0"/>
              <a:t>Transition: the next two slides show what we propose instead - first Clean Architecture, then Clean Architecture plus Vertical Slices.</a:t>
            </a:r>
          </a:p>
        </p:txBody>
      </p:sp>
    </p:spTree>
    <p:extLst>
      <p:ext uri="{BB962C8B-B14F-4D97-AF65-F5344CB8AC3E}">
        <p14:creationId xmlns:p14="http://schemas.microsoft.com/office/powerpoint/2010/main" val="28900166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'so what' slide - the argument for the proposal on slides 13 and 14 against the layered structure on slide 12.</a:t>
            </a:r>
          </a:p>
          <a:p>
            <a:r>
              <a:rPr lang="en-US" dirty="0"/>
              <a:t>Domain boundaries vs technical concerns: today's layers slice the code by technology, so a single feature edits every layer - low cohesion, high coupling. Vertical slices group everything one capability needs, so cohesion follows the domain and coupling is confined to explicit, reviewable seams.</a:t>
            </a:r>
          </a:p>
          <a:p>
            <a:r>
              <a:rPr lang="en-US" dirty="0"/>
              <a:t>Point out that coupling and cohesion are consequences of where the boundary is drawn, not of how many layers we stack.</a:t>
            </a:r>
          </a:p>
          <a:p>
            <a:r>
              <a:rPr lang="en-US" dirty="0"/>
              <a:t>DDD and ubiquitous language: bounded contexts map onto real banking domains - Payments, Cards, Ledger, KYC/AML, Onboarding. The Domain Kernel carries money, limit and settlement invariants rather than framework types, and risk, compliance and engineering end up using the same vocabulary in code, tests and conversations. That shortens requirement translation, which is where most defects in regulated products originate.</a:t>
            </a:r>
          </a:p>
          <a:p>
            <a:r>
              <a:rPr lang="en-US" dirty="0"/>
              <a:t>Architecture tests: with these boundaries the rules are machine-checkable. ArchUnit / NetArchTest can assert no slice-to-slice references, a Domain with zero infrastructure or framework dependencies, and the Endpoints - Application - Domain dependency direction. Violations fail the build instead of relying on a reviewer noticing.</a:t>
            </a:r>
          </a:p>
          <a:p>
            <a:r>
              <a:rPr lang="en-US" dirty="0"/>
              <a:t>Banking and fintech payoff: smaller blast radius for audit and regulatory changes, clearer per-team ownership, easier onboarding, and clean seams if a slice ever needs to be extracted into its own service.</a:t>
            </a:r>
          </a:p>
          <a:p>
            <a:r>
              <a:rPr lang="en-US" dirty="0"/>
              <a:t>Close on the takeaway line: the runtime footprint is the same as today - what we gain are boundaries the compiler, the tests and the business all agree 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journey. Most teams are at stage 1. Agents (stage 2) already change the game. AI-DLC is stage 3: you stop delegating tasks and start delegating lifecycle phases. The rest of the talk is what stage 3 looks like in production.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AI-DLC in one picture: the classic SDLC, but each phase is owned by a named, role-scoped agent defined in the repo (.claude/agents). My job shifts from typing code to setting intent and approving gates. Emphasize: these agent names are real files in the repository, versioned like code. Release is the one phase with no agent file of its own — the product-owner owns the release gate and the CD skills do the mechanics.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actual team in .claude/agents: 10 agents. Read the two columns as two halves of the lifecycle — the left column is planning, the right column is implementation. Planning: product-owner does business requirement analysis and project planning, software-architect does technical requirement analysis and architectural design and sets the boundaries, system-engineer does the system design and the implementation plan. Implementation: software-engineer implements features, fixes bugs and refactors, sqa-engineer designs the test suite and implements the test cases, and code-reviewer reviews both the engineer’s and the SQA’s code, looping until the project code conventions are met. Four more work across the loop: documentation-writer produces docs at every stage with brutal-critique agents reviewing them in parallel (agents grade their own work too kindly), research-assistant supplies verified external knowledge, research-assistant conducts all the research and manages the knowledge base, and agent-manager is the Agent Resource Manager — ARM, the way an organisation has an HRM — or the Agent Harness Manager: the only agent allowed to create or change agents, skills, hooks and rules. Model tiering is deliberate: Opus for the planning and design roles, Sonnet for build, test and review.</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one feature through the chain: product-owner produces user stories with ACs, architect turns them into specs and ADRs, system engineer does the low-level design, engineer implements, SQA runs the full test pyramid and gates, reviewer produces the findings report. Key discipline: no agent starts from a vague chat message — it starts from the previous agent's artifact. The amber loop is where most value lives: reviewer findings and surviving mutation-test mutants route work back automatically. 'Trust, but verify' is the operating principle. On the right, the cross-cutting agents attach to every stage: documentation-writer and brutal-critique as a write-then-critique pair, research-assistant running all research and owning the knowledge base, and agent-manager maintaining the harness itself.</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engineering is what makes multi-agent orchestration affordable. Four practices: layered instructions (CLAUDE.md and rules files form a stable, identical prefix for every agent — that stability is what makes prompt caching work), progressive disclosure (skills load only when invoked), context isolation (each subagent gets a scoped window instead of one bloated conversation), and persistent file-based memory. The payoff is real: 99.8% prompt-cache hit rate, which took the token bill for the same workload from about $1,000 down to $95 — roughly a 10x reduction. And the whole orchestration side lives in one file: AGENTS.md, the single orchestration authority — it defines how requests are routed (everything goes through the product-owner first), which agent chains or Agent Teams to spawn, who owns which quality gate (sqa-engineer owns test and mutation gates exclusively), and the memory protocol. Policy as code, versioned with the repo — if wording anywhere else conflicts, AGENTS.md wins. Stable prefixes + lean contexts = cache hits; cache hits = 10x cheaper agents.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Two different axes of scaling. Agent Teams add structure; parallel subagents add throughput. People often treat them as competing patterns — they aren't.</a:t>
            </a:r>
          </a:p>
          <a:p>
            <a:endParaRPr lang="en-US" dirty="0"/>
          </a:p>
          <a:p>
            <a:r>
              <a:rPr lang="en-US" dirty="0"/>
              <a:t>Agent Teams: named roles with persistent identity — architect, engineer, reviewer. They hand artifacts to each other and share durable context across the run. That shared state is what lets a reviewer meaningfully critique what the engineer built.</a:t>
            </a:r>
          </a:p>
          <a:p>
            <a:endParaRPr lang="en-US" dirty="0"/>
          </a:p>
          <a:p>
            <a:r>
              <a:rPr lang="en-US" dirty="0"/>
              <a:t>Parallel subagents: anonymous workers the orchestrator spawns on demand. Each gets an isolated context, does its slice, and returns. The orchestrator fans out and merges. No shared memory, no handoffs.</a:t>
            </a:r>
          </a:p>
          <a:p>
            <a:endParaRPr lang="en-US" dirty="0"/>
          </a:p>
          <a:p>
            <a:r>
              <a:rPr lang="en-US" dirty="0"/>
              <a:t>Pick by shape of the work. Sequential, multi-stage delivery where each step depends on the last — that's a team. Wide and independent, where the pieces don't need to know about each other — research sweeps, security scans, generating competing critiques — that's a fan-out.</a:t>
            </a:r>
          </a:p>
          <a:p>
            <a:endParaRPr lang="en-US" dirty="0"/>
          </a:p>
          <a:p>
            <a:r>
              <a:rPr lang="en-US" dirty="0"/>
              <a:t>The real answer is both. Use the team as your delivery spine, then fan out subagents inside any single step where the work splits cleanly and results can be merged back.</a:t>
            </a:r>
          </a:p>
          <a:p>
            <a:endParaRPr lang="en-US" dirty="0"/>
          </a:p>
          <a:p>
            <a:r>
              <a:rPr lang="en-US" dirty="0"/>
              <a:t>Transition: next we look at how this plays out in the actual toolchain.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loop on the previous slide is only one of eight named lifecycles. The ai-dlc skill is the routing layer: it reads the request, picks the lifecycle (or an ordered chain of them), and hands the orchestrator the agent roster, the entry and exit gates, the artifacts and the loop-back rules. A greenfield feature runs PDLC to ASDLC to STBLC to FDLC, then CRLC. A bug report goes straight to BFLC. A refactor goes to RLC, where the exit gate is explicitly "behaviour unchanged, mutation score not regressed". The point: the same ten agents recompose into different chains instead of one rigid pipeline — and the smallest orchestration that fits the request always wins, so a one-line question never spawns a six-agent team.</a:t>
            </a:r>
          </a:p>
        </p:txBody>
      </p:sp>
      <p:sp>
        <p:nvSpPr>
          <p:cNvPr id="4" name="Slide Number Placeholder 3"/>
          <p:cNvSpPr>
            <a:spLocks noGrp="1"/>
          </p:cNvSpPr>
          <p:nvPr>
            <p:ph type="sldNum" sz="quarter" idx="10"/>
          </p:nvPr>
        </p:nvSpPr>
        <p:spPr/>
        <p:txBody>
          <a:bodyPr/>
          <a:lstStyle/>
          <a:p>
            <a:fld id="{F7021451-1387-4CA6-816F-3879F97B5CBD}" type="slidenum">
              <a:rPr lang="en-US"/>
              <a:t>20</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are the difference between a clever prompt and institutional knowledge. 43 skills in .claude/skills, each a markdown playbook: how to design test cases, how to run Stryker mutation testing correctly, how to publish a NuGet package. Favorite category: self-management — skills for creating agents, skills and hooks, so the system evolves itself under version control. Twenty-nine of these are also exposed as slash commands.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are what make delegation safe. Three layers: behavioral (anti-hallucination protocol — verify or ask, never guess), conventional (13 rules files that travel with the repo), and mechanical (a Stop hook that runs dotnet test and will not let the agent finish while it fails — a deterministic script it cannot talk its way past; Stryker mutation testing is the sqa-engineer’s exclusive gate). The last one matters most: LLMs are persuasive, so the final gate must be code, not judgment.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6289291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section — the adda asked for real learnings. Biggest positive surprise: mutation testing as an agent gate; it catches both weak tests and overconfident agents. Biggest ongoing cost: tokens — a full orchestrated chain is not cheap, so parallelize deliberately. And ambiguity resolution remains firmly human.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ask slide - slow down here and actually take input.</a:t>
            </a:r>
          </a:p>
          <a:p>
            <a:r>
              <a:rPr lang="en-US" dirty="0"/>
              <a:t>Set up: right now we run a single Architect agent. It carries portfolio standards, domain design and service-level code patterns in one context. It works, but the prompt is getting long and the outputs are getting generic.</a:t>
            </a:r>
          </a:p>
          <a:p>
            <a:r>
              <a:rPr lang="en-US" dirty="0"/>
              <a:t>Question 1 - do we split it? Walk the three candidate agents. Enterprise handles cross-portfolio standards and investment alignment. Solution owns end-to-end design across services for a product or domain. Software owns service-level patterns, code structure and implementation guardrails.</a:t>
            </a:r>
          </a:p>
          <a:p>
            <a:r>
              <a:rPr lang="en-US" dirty="0"/>
              <a:t>Give the counter-argument honestly: a single broad-context agent sees the whole picture and never contradicts itself. Splitting buys focus but costs coherence and adds orchestration. We genuinely do not know which wins - that is why we are asking.</a:t>
            </a:r>
          </a:p>
          <a:p>
            <a:r>
              <a:rPr lang="en-US" dirty="0"/>
              <a:t>Question 2 - only if the room leans yes. Push for specifics on the six dimensions: persona and scope of authority, what each agent is grounded in, which tools and MCP servers it gets, what artifacts it writes back, how the hand-offs chain, and where a human still signs off.</a:t>
            </a:r>
          </a:p>
          <a:p>
            <a:r>
              <a:rPr lang="en-US" dirty="0"/>
              <a:t>The hand-off point is the one people underestimate. Ask directly: has anyone here chained specialised agents and seen them loop or contradict each other?</a:t>
            </a:r>
          </a:p>
          <a:p>
            <a:r>
              <a:rPr lang="en-US" dirty="0"/>
              <a:t>Land the close: this is not about headcount or org design. It is purely whether narrower agent scope produces better architecture decisions.</a:t>
            </a:r>
          </a:p>
          <a:p>
            <a:r>
              <a:rPr lang="en-US" dirty="0"/>
              <a:t>Capture names against opinions. Anything unresolved goes to the follow-up thread and comes back as an agent design proposal.</a:t>
            </a:r>
          </a:p>
          <a:p>
            <a:r>
              <a:rPr lang="en-US" dirty="0"/>
              <a:t>Timebox to roughly five minutes; if debate runs hot, park it and move on to the next slide.</a:t>
            </a:r>
          </a:p>
        </p:txBody>
      </p:sp>
    </p:spTree>
  </p:cSld>
  <p:clrMapOvr>
    <a:overrideClrMapping bg1="lt1" tx1="dk1" bg2="lt2" tx2="dk2" accent1="accent1" accent2="accent2" accent3="accent3" accent4="accent4" accent5="accent5" accent6="accent6" hlink="hlink" folHlink="folHlink"/>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answers a practical question that comes up straight after the architecture proposal: where do the agent artifacts live once we have many services? There are two credible strategies, and they are not mutually exclusive.</a:t>
            </a:r>
          </a:p>
          <a:p>
            <a:r>
              <a:rPr lang="en-US" dirty="0"/>
              <a:t>Option 1 - a centralized Obsidian Vault. One place indexes ADRs, domain models, context maps and agent prompts for every service. Backlinks and the graph view make cross-service dependencies visible in a way people genuinely read. The weakness is that nothing ties a note to a commit, so the vault drifts from the code within a sprint or two unless someone actively curates it.</a:t>
            </a:r>
          </a:p>
          <a:p>
            <a:r>
              <a:rPr lang="en-US" dirty="0"/>
              <a:t>Option 2 - an umbrella Git repository with each Microservice, BFF and MFE added as a submodule. Every dependency is pinned at an exact commit, so an agent can clone the whole solution and reason across service boundaries with a consistent snapshot. Cross-service refactors become reviewable in a single pull request. The cost is submodule hygiene: contributors need to learn the workflow, and update automation is not optional.</a:t>
            </a:r>
          </a:p>
          <a:p>
            <a:r>
              <a:rPr lang="en-US" dirty="0"/>
              <a:t>Trade-offs worth naming out loud: freshness favours submodules because artifacts version with the code; audience differs, since the vault suits architects and onboarding while the repo suits agents and CI; and setup cost favours the vault, which is near-zero, against submodules, which need tooling.</a:t>
            </a:r>
          </a:p>
          <a:p>
            <a:r>
              <a:rPr lang="en-US" dirty="0"/>
              <a:t>Recommendation - run both with one owner. Make the umbrella repo the system of record: versioned, CI-checked and agent-readable. Mount the vault on top of that repo as the human reading layer so nobody is hand-copying content between the two. A single CODEOWNERS file and one update pipeline keep them in step.</a:t>
            </a:r>
          </a:p>
          <a:p>
            <a:r>
              <a:rPr lang="en-US" dirty="0"/>
              <a:t>If challenged, the short answer is this: agent context that is not versioned alongside the code it describes goes stale fast. Start with the repo, add the vault the moment humans need to navigate it.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direction: this scales from one repo to a team platform; autonomy should only grow as fast as the gates that contain it; and once agents do engineering work, measure them like engineers. Invite questions — happy to demo the actual .claude setup live.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svg"/><Relationship Id="rId4" Type="http://schemas.openxmlformats.org/officeDocument/2006/relationships/image" Target="../media/image3.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7.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4114800" y="131782"/>
            <a:ext cx="914400" cy="914400"/>
          </a:xfrm>
          <a:prstGeom prst="ellipse">
            <a:avLst/>
          </a:prstGeom>
          <a:solidFill>
            <a:srgbClr val="2EC4B6"/>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352544" y="369526"/>
            <a:ext cx="438912" cy="438912"/>
          </a:xfrm>
          <a:prstGeom prst="rect">
            <a:avLst/>
          </a:prstGeom>
        </p:spPr>
      </p:pic>
      <p:sp>
        <p:nvSpPr>
          <p:cNvPr id="4" name="Text 1"/>
          <p:cNvSpPr/>
          <p:nvPr/>
        </p:nvSpPr>
        <p:spPr>
          <a:xfrm>
            <a:off x="457200" y="1117600"/>
            <a:ext cx="8229600" cy="1905000"/>
          </a:xfrm>
          <a:prstGeom prst="rect">
            <a:avLst/>
          </a:prstGeom>
          <a:noFill/>
          <a:ln/>
        </p:spPr>
        <p:txBody>
          <a:bodyPr wrap="square" tIns="0" rtlCol="0" anchor="ctr"/>
          <a:lstStyle/>
          <a:p>
            <a:pPr marL="0" indent="0" algn="ctr">
              <a:buNone/>
            </a:pPr>
            <a:r>
              <a:rPr lang="en-US" sz="4400" b="1" dirty="0">
                <a:solidFill>
                  <a:srgbClr val="FFFFFF"/>
                </a:solidFill>
                <a:latin typeface="Cambria" pitchFamily="34" charset="0"/>
                <a:ea typeface="Cambria" pitchFamily="34" charset="-122"/>
                <a:cs typeface="Cambria" pitchFamily="34" charset="-120"/>
              </a:rPr>
              <a:t>Proposed AI-DLC Workflow</a:t>
            </a:r>
          </a:p>
          <a:p>
            <a:pPr marL="0" indent="0" algn="ctr">
              <a:buNone/>
            </a:pPr>
            <a:r>
              <a:rPr lang="en-US" sz="3200" b="1" dirty="0">
                <a:solidFill>
                  <a:srgbClr val="FFFFFF"/>
                </a:solidFill>
                <a:latin typeface="Cambria" pitchFamily="34" charset="0"/>
                <a:ea typeface="Cambria" pitchFamily="34" charset="-122"/>
              </a:rPr>
              <a:t>In</a:t>
            </a:r>
            <a:r>
              <a:rPr lang="en-US" sz="4400" b="1" dirty="0">
                <a:solidFill>
                  <a:srgbClr val="FFFFFF"/>
                </a:solidFill>
                <a:latin typeface="Cambria" pitchFamily="34" charset="0"/>
                <a:ea typeface="Cambria" pitchFamily="34" charset="-122"/>
              </a:rPr>
              <a:t> </a:t>
            </a:r>
          </a:p>
          <a:p>
            <a:pPr marL="0" indent="0" algn="ctr">
              <a:buNone/>
            </a:pPr>
            <a:r>
              <a:rPr lang="en-US" sz="4400" b="1" dirty="0">
                <a:solidFill>
                  <a:srgbClr val="FFFFFF"/>
                </a:solidFill>
                <a:latin typeface="Cambria" pitchFamily="34" charset="0"/>
                <a:ea typeface="Cambria" pitchFamily="34" charset="-122"/>
              </a:rPr>
              <a:t>Brac Bank PLC</a:t>
            </a:r>
            <a:endParaRPr lang="en-US" sz="4400" dirty="0"/>
          </a:p>
        </p:txBody>
      </p:sp>
      <p:sp>
        <p:nvSpPr>
          <p:cNvPr id="5" name="Text 2"/>
          <p:cNvSpPr/>
          <p:nvPr/>
        </p:nvSpPr>
        <p:spPr>
          <a:xfrm>
            <a:off x="457200" y="3124200"/>
            <a:ext cx="8229600" cy="406400"/>
          </a:xfrm>
          <a:prstGeom prst="rect">
            <a:avLst/>
          </a:prstGeom>
          <a:noFill/>
          <a:ln/>
        </p:spPr>
        <p:txBody>
          <a:bodyPr wrap="square" rtlCol="0" anchor="ctr"/>
          <a:lstStyle/>
          <a:p>
            <a:pPr marL="0" indent="0" algn="ctr">
              <a:buNone/>
            </a:pPr>
            <a:r>
              <a:rPr lang="en-US" sz="1900" dirty="0">
                <a:solidFill>
                  <a:srgbClr val="CADCFC"/>
                </a:solidFill>
                <a:latin typeface="Calibri" pitchFamily="34" charset="0"/>
                <a:ea typeface="Calibri" pitchFamily="34" charset="-122"/>
                <a:cs typeface="Calibri" pitchFamily="34" charset="-120"/>
              </a:rPr>
              <a:t>Agentic &amp; Software Architecture and the Gates Between Them</a:t>
            </a:r>
            <a:endParaRPr lang="en-US" sz="1900" dirty="0"/>
          </a:p>
        </p:txBody>
      </p:sp>
      <p:sp>
        <p:nvSpPr>
          <p:cNvPr id="6" name="Text 3"/>
          <p:cNvSpPr/>
          <p:nvPr/>
        </p:nvSpPr>
        <p:spPr>
          <a:xfrm>
            <a:off x="457200" y="3632200"/>
            <a:ext cx="8229600" cy="508000"/>
          </a:xfrm>
          <a:prstGeom prst="rect">
            <a:avLst/>
          </a:prstGeom>
          <a:noFill/>
          <a:ln/>
        </p:spPr>
        <p:txBody>
          <a:bodyPr wrap="square" rtlCol="0" anchor="ctr"/>
          <a:lstStyle/>
          <a:p>
            <a:pPr algn="ctr"/>
            <a:r>
              <a:rPr lang="en-US" sz="1300" i="1" dirty="0">
                <a:solidFill>
                  <a:srgbClr val="2EC4B6"/>
                </a:solidFill>
                <a:latin typeface="Calibri" pitchFamily="34" charset="0"/>
                <a:ea typeface="Calibri" pitchFamily="34" charset="-122"/>
                <a:cs typeface="Calibri" pitchFamily="34" charset="-120"/>
              </a:rPr>
              <a:t>Agentic Architecture · Multi-Agent Orchestration ·  Context Engineering  ·  Loop Engineering  </a:t>
            </a:r>
          </a:p>
          <a:p>
            <a:pPr algn="ctr"/>
            <a:r>
              <a:rPr lang="en-US" sz="1300" i="1" dirty="0">
                <a:solidFill>
                  <a:srgbClr val="2EC4B6"/>
                </a:solidFill>
                <a:latin typeface="Calibri" pitchFamily="34" charset="0"/>
                <a:ea typeface="Calibri" pitchFamily="34" charset="-122"/>
                <a:cs typeface="Calibri" pitchFamily="34" charset="-120"/>
              </a:rPr>
              <a:t> Software Architecture  ·  Spec-Driven Design  ·  ATDD</a:t>
            </a:r>
            <a:endParaRPr lang="en-US" sz="1300" dirty="0"/>
          </a:p>
        </p:txBody>
      </p:sp>
      <p:sp>
        <p:nvSpPr>
          <p:cNvPr id="7" name="Text 4"/>
          <p:cNvSpPr/>
          <p:nvPr/>
        </p:nvSpPr>
        <p:spPr>
          <a:xfrm>
            <a:off x="457200" y="4318000"/>
            <a:ext cx="8229600" cy="685800"/>
          </a:xfrm>
          <a:prstGeom prst="rect">
            <a:avLst/>
          </a:prstGeom>
          <a:noFill/>
          <a:ln/>
        </p:spPr>
        <p:txBody>
          <a:bodyPr wrap="square" rtlCol="0" anchor="ctr"/>
          <a:lstStyle/>
          <a:p>
            <a:pPr marL="0" indent="0" algn="ctr">
              <a:buNone/>
            </a:pPr>
            <a:r>
              <a:rPr lang="en-US" sz="1200" dirty="0">
                <a:solidFill>
                  <a:srgbClr val="CADCFC"/>
                </a:solidFill>
                <a:latin typeface="Calibri" pitchFamily="34" charset="0"/>
                <a:ea typeface="Calibri" pitchFamily="34" charset="-122"/>
                <a:cs typeface="Calibri" pitchFamily="34" charset="-120"/>
              </a:rPr>
              <a:t>Rafsanul Hasan</a:t>
            </a:r>
          </a:p>
          <a:p>
            <a:pPr marL="0" indent="0" algn="ctr">
              <a:buNone/>
            </a:pPr>
            <a:r>
              <a:rPr lang="en-US" sz="1200" dirty="0">
                <a:solidFill>
                  <a:srgbClr val="CADCFC"/>
                </a:solidFill>
                <a:latin typeface="Calibri" pitchFamily="34" charset="0"/>
                <a:ea typeface="Calibri" pitchFamily="34" charset="-122"/>
                <a:cs typeface="Calibri" pitchFamily="34" charset="-120"/>
              </a:rPr>
              <a:t>Senior Software Engineer I</a:t>
            </a:r>
          </a:p>
          <a:p>
            <a:pPr marL="0" indent="0" algn="ctr">
              <a:buNone/>
            </a:pPr>
            <a:r>
              <a:rPr lang="en-US" sz="1200" dirty="0">
                <a:solidFill>
                  <a:srgbClr val="CADCFC"/>
                </a:solidFill>
                <a:latin typeface="Calibri" pitchFamily="34" charset="0"/>
                <a:ea typeface="Calibri" pitchFamily="34" charset="-122"/>
                <a:cs typeface="Calibri" pitchFamily="34" charset="-120"/>
              </a:rPr>
              <a:t>Brain Station 23 PLC</a:t>
            </a:r>
            <a:endParaRPr lang="en-US" sz="1200" dirty="0"/>
          </a:p>
        </p:txBody>
      </p:sp>
    </p:spTree>
    <p:extLst>
      <p:ext uri="{BB962C8B-B14F-4D97-AF65-F5344CB8AC3E}">
        <p14:creationId xmlns:p14="http://schemas.microsoft.com/office/powerpoint/2010/main" val="17725576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sp>
        <p:nvSpPr>
          <p:cNvPr id="10" name="Accent Bar"/>
          <p:cNvSpPr/>
          <p:nvPr/>
        </p:nvSpPr>
        <p:spPr>
          <a:xfrm>
            <a:off x="457200" y="2057400"/>
            <a:ext cx="914400" cy="76200"/>
          </a:xfrm>
          <a:prstGeom prst="rect">
            <a:avLst/>
          </a:prstGeom>
          <a:solidFill>
            <a:srgbClr val="F7B32B"/>
          </a:solidFill>
          <a:ln/>
        </p:spPr>
        <p:txBody>
          <a:bodyPr/>
          <a:lstStyle/>
          <a:p>
            <a:endParaRPr lang="en-US"/>
          </a:p>
        </p:txBody>
      </p:sp>
      <p:sp>
        <p:nvSpPr>
          <p:cNvPr id="11" name="Eyebrow"/>
          <p:cNvSpPr/>
          <p:nvPr/>
        </p:nvSpPr>
        <p:spPr>
          <a:xfrm>
            <a:off x="457200" y="1651000"/>
            <a:ext cx="8229600" cy="320040"/>
          </a:xfrm>
          <a:prstGeom prst="rect">
            <a:avLst/>
          </a:prstGeom>
          <a:noFill/>
          <a:ln/>
        </p:spPr>
        <p:txBody>
          <a:bodyPr wrap="square" lIns="0" tIns="0" rIns="0" bIns="0" anchor="ctr"/>
          <a:lstStyle/>
          <a:p>
            <a:pPr marL="0" indent="0" algn="l">
              <a:buNone/>
            </a:pPr>
            <a:r>
              <a:rPr lang="en-US" sz="1800" b="1" spc="600" dirty="0">
                <a:solidFill>
                  <a:srgbClr val="F7B32B"/>
                </a:solidFill>
                <a:latin typeface="Calibri"/>
              </a:rPr>
              <a:t>PART 1</a:t>
            </a:r>
          </a:p>
        </p:txBody>
      </p:sp>
      <p:sp>
        <p:nvSpPr>
          <p:cNvPr id="12" name="Section Title"/>
          <p:cNvSpPr/>
          <p:nvPr/>
        </p:nvSpPr>
        <p:spPr>
          <a:xfrm>
            <a:off x="457200" y="2311400"/>
            <a:ext cx="8229600" cy="914400"/>
          </a:xfrm>
          <a:prstGeom prst="rect">
            <a:avLst/>
          </a:prstGeom>
          <a:noFill/>
          <a:ln/>
        </p:spPr>
        <p:txBody>
          <a:bodyPr wrap="square" lIns="0" tIns="0" rIns="0" bIns="0" anchor="ctr"/>
          <a:lstStyle/>
          <a:p>
            <a:pPr marL="0" indent="0" algn="l">
              <a:buNone/>
            </a:pPr>
            <a:r>
              <a:rPr lang="en-US" sz="5400" b="1" dirty="0">
                <a:solidFill>
                  <a:srgbClr val="FFFFFF"/>
                </a:solidFill>
                <a:latin typeface="Cambria" pitchFamily="34" charset="0"/>
              </a:rPr>
              <a:t>Software Architecture</a:t>
            </a:r>
          </a:p>
        </p:txBody>
      </p:sp>
      <p:sp>
        <p:nvSpPr>
          <p:cNvPr id="13" name="Section Sub"/>
          <p:cNvSpPr/>
          <p:nvPr/>
        </p:nvSpPr>
        <p:spPr>
          <a:xfrm>
            <a:off x="457200" y="3403600"/>
            <a:ext cx="8229600" cy="406400"/>
          </a:xfrm>
          <a:prstGeom prst="rect">
            <a:avLst/>
          </a:prstGeom>
          <a:noFill/>
          <a:ln/>
        </p:spPr>
        <p:txBody>
          <a:bodyPr wrap="square" lIns="0" tIns="0" rIns="0" bIns="0" anchor="ctr"/>
          <a:lstStyle/>
          <a:p>
            <a:r>
              <a:rPr lang="en-US" sz="1600" dirty="0">
                <a:solidFill>
                  <a:srgbClr val="9FB0E8"/>
                </a:solidFill>
              </a:rPr>
              <a:t>Microservices · Asynchronous Messaging</a:t>
            </a:r>
          </a:p>
          <a:p>
            <a:r>
              <a:rPr lang="en-US" sz="1600" dirty="0">
                <a:solidFill>
                  <a:srgbClr val="9FB0E8"/>
                </a:solidFill>
                <a:latin typeface="Calibri"/>
              </a:rPr>
              <a:t>Modular Monolith · Clean Architecture · Vertical Slice Architecture · Spec-Driven Design</a:t>
            </a:r>
          </a:p>
        </p:txBody>
      </p:sp>
    </p:spTree>
    <p:extLst>
      <p:ext uri="{BB962C8B-B14F-4D97-AF65-F5344CB8AC3E}">
        <p14:creationId xmlns:p14="http://schemas.microsoft.com/office/powerpoint/2010/main" val="399295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11"/>
          <p:cNvSpPr txBox="1"/>
          <p:nvPr/>
        </p:nvSpPr>
        <p:spPr>
          <a:xfrm>
            <a:off x="457200" y="127000"/>
            <a:ext cx="8229600" cy="431800"/>
          </a:xfrm>
          <a:prstGeom prst="rect">
            <a:avLst/>
          </a:prstGeom>
          <a:noFill/>
        </p:spPr>
        <p:txBody>
          <a:bodyPr wrap="square" lIns="0" tIns="0" rIns="0" bIns="0" anchor="ctr"/>
          <a:lstStyle/>
          <a:p>
            <a:pPr algn="l">
              <a:buNone/>
            </a:pPr>
            <a:r>
              <a:rPr lang="en-US" sz="2600" b="1" dirty="0">
                <a:solidFill>
                  <a:srgbClr val="1E2761"/>
                </a:solidFill>
                <a:latin typeface="Cambria"/>
              </a:rPr>
              <a:t>Current Architecture: System Landscape</a:t>
            </a:r>
          </a:p>
        </p:txBody>
      </p:sp>
      <p:sp>
        <p:nvSpPr>
          <p:cNvPr id="12" name="L12"/>
          <p:cNvSpPr txBox="1"/>
          <p:nvPr/>
        </p:nvSpPr>
        <p:spPr>
          <a:xfrm>
            <a:off x="457200" y="787400"/>
            <a:ext cx="1320800" cy="177800"/>
          </a:xfrm>
          <a:prstGeom prst="rect">
            <a:avLst/>
          </a:prstGeom>
          <a:noFill/>
        </p:spPr>
        <p:txBody>
          <a:bodyPr wrap="square" lIns="0" tIns="0" rIns="0" bIns="0" anchor="ctr"/>
          <a:lstStyle/>
          <a:p>
            <a:pPr algn="ctr">
              <a:buNone/>
            </a:pPr>
            <a:r>
              <a:rPr lang="en-US" sz="1000" b="1" dirty="0">
                <a:solidFill>
                  <a:srgbClr val="4A5578"/>
                </a:solidFill>
                <a:latin typeface="Calibri"/>
              </a:rPr>
              <a:t>MICRO FRONTENDS</a:t>
            </a:r>
          </a:p>
        </p:txBody>
      </p:sp>
      <p:sp>
        <p:nvSpPr>
          <p:cNvPr id="13" name="L13"/>
          <p:cNvSpPr txBox="1"/>
          <p:nvPr/>
        </p:nvSpPr>
        <p:spPr>
          <a:xfrm>
            <a:off x="1765300" y="787400"/>
            <a:ext cx="381000" cy="177800"/>
          </a:xfrm>
          <a:prstGeom prst="rect">
            <a:avLst/>
          </a:prstGeom>
          <a:noFill/>
        </p:spPr>
        <p:txBody>
          <a:bodyPr wrap="square" lIns="0" tIns="0" rIns="0" bIns="0" anchor="ctr"/>
          <a:lstStyle/>
          <a:p>
            <a:pPr algn="ctr">
              <a:buNone/>
            </a:pPr>
            <a:r>
              <a:rPr lang="en-US" sz="1000" b="1" dirty="0">
                <a:solidFill>
                  <a:srgbClr val="1E2761"/>
                </a:solidFill>
                <a:latin typeface="Calibri"/>
              </a:rPr>
              <a:t>HTTPS</a:t>
            </a:r>
          </a:p>
        </p:txBody>
      </p:sp>
      <p:sp>
        <p:nvSpPr>
          <p:cNvPr id="14" name="L14"/>
          <p:cNvSpPr txBox="1"/>
          <p:nvPr/>
        </p:nvSpPr>
        <p:spPr>
          <a:xfrm>
            <a:off x="2133600" y="787400"/>
            <a:ext cx="1270000" cy="177800"/>
          </a:xfrm>
          <a:prstGeom prst="rect">
            <a:avLst/>
          </a:prstGeom>
          <a:noFill/>
        </p:spPr>
        <p:txBody>
          <a:bodyPr wrap="square" lIns="0" tIns="0" rIns="0" bIns="0" anchor="ctr"/>
          <a:lstStyle/>
          <a:p>
            <a:pPr algn="ctr">
              <a:buNone/>
            </a:pPr>
            <a:r>
              <a:rPr lang="en-US" sz="1000" b="1" dirty="0">
                <a:solidFill>
                  <a:srgbClr val="4A5578"/>
                </a:solidFill>
                <a:latin typeface="Calibri"/>
              </a:rPr>
              <a:t>BFF</a:t>
            </a:r>
          </a:p>
        </p:txBody>
      </p:sp>
      <p:sp>
        <p:nvSpPr>
          <p:cNvPr id="15" name="L15"/>
          <p:cNvSpPr txBox="1"/>
          <p:nvPr/>
        </p:nvSpPr>
        <p:spPr>
          <a:xfrm>
            <a:off x="3403600" y="787400"/>
            <a:ext cx="355600" cy="177800"/>
          </a:xfrm>
          <a:prstGeom prst="rect">
            <a:avLst/>
          </a:prstGeom>
          <a:noFill/>
        </p:spPr>
        <p:txBody>
          <a:bodyPr wrap="square" lIns="0" tIns="0" rIns="0" bIns="0" anchor="ctr"/>
          <a:lstStyle/>
          <a:p>
            <a:pPr algn="ctr">
              <a:buNone/>
            </a:pPr>
            <a:r>
              <a:rPr lang="en-US" sz="1000" b="1" dirty="0">
                <a:solidFill>
                  <a:srgbClr val="1E2761"/>
                </a:solidFill>
                <a:latin typeface="Calibri"/>
              </a:rPr>
              <a:t>REST</a:t>
            </a:r>
          </a:p>
        </p:txBody>
      </p:sp>
      <p:sp>
        <p:nvSpPr>
          <p:cNvPr id="16" name="L16"/>
          <p:cNvSpPr txBox="1"/>
          <p:nvPr/>
        </p:nvSpPr>
        <p:spPr>
          <a:xfrm>
            <a:off x="3759200" y="787400"/>
            <a:ext cx="3149600" cy="177800"/>
          </a:xfrm>
          <a:prstGeom prst="rect">
            <a:avLst/>
          </a:prstGeom>
          <a:noFill/>
        </p:spPr>
        <p:txBody>
          <a:bodyPr wrap="square" lIns="0" tIns="0" rIns="0" bIns="0" anchor="ctr"/>
          <a:lstStyle/>
          <a:p>
            <a:pPr algn="ctr">
              <a:buNone/>
            </a:pPr>
            <a:r>
              <a:rPr lang="en-US" sz="1000" b="1" dirty="0">
                <a:solidFill>
                  <a:srgbClr val="4A5578"/>
                </a:solidFill>
                <a:latin typeface="Calibri"/>
              </a:rPr>
              <a:t>MICROSERVICES</a:t>
            </a:r>
          </a:p>
        </p:txBody>
      </p:sp>
      <p:sp>
        <p:nvSpPr>
          <p:cNvPr id="17" name="L17"/>
          <p:cNvSpPr txBox="1"/>
          <p:nvPr/>
        </p:nvSpPr>
        <p:spPr>
          <a:xfrm>
            <a:off x="7239000" y="764540"/>
            <a:ext cx="1447800" cy="177800"/>
          </a:xfrm>
          <a:prstGeom prst="rect">
            <a:avLst/>
          </a:prstGeom>
          <a:noFill/>
        </p:spPr>
        <p:txBody>
          <a:bodyPr wrap="square" lIns="0" tIns="0" rIns="0" bIns="0" anchor="ctr"/>
          <a:lstStyle/>
          <a:p>
            <a:pPr algn="ctr">
              <a:buNone/>
            </a:pPr>
            <a:r>
              <a:rPr lang="en-US" sz="1000" b="1" dirty="0">
                <a:solidFill>
                  <a:srgbClr val="4A5578"/>
                </a:solidFill>
                <a:latin typeface="Calibri"/>
              </a:rPr>
              <a:t>KAFKA</a:t>
            </a:r>
          </a:p>
        </p:txBody>
      </p:sp>
      <p:sp>
        <p:nvSpPr>
          <p:cNvPr id="18" name="S18"/>
          <p:cNvSpPr/>
          <p:nvPr/>
        </p:nvSpPr>
        <p:spPr>
          <a:xfrm>
            <a:off x="457200" y="1066800"/>
            <a:ext cx="1320800" cy="812800"/>
          </a:xfrm>
          <a:prstGeom prst="roundRect">
            <a:avLst>
              <a:gd name="adj" fmla="val 8000"/>
            </a:avLst>
          </a:prstGeom>
          <a:solidFill>
            <a:srgbClr val="EEF4FE"/>
          </a:solidFill>
          <a:ln w="15875">
            <a:solidFill>
              <a:srgbClr val="C3D4F2"/>
            </a:solidFill>
          </a:ln>
        </p:spPr>
        <p:txBody>
          <a:bodyPr wrap="square" lIns="18288" tIns="9144" rIns="18288" bIns="9144" anchor="ctr">
            <a:normAutofit/>
          </a:bodyPr>
          <a:lstStyle/>
          <a:p>
            <a:pPr algn="ctr">
              <a:buNone/>
            </a:pPr>
            <a:r>
              <a:rPr lang="en-US" sz="1400" b="1" dirty="0">
                <a:solidFill>
                  <a:srgbClr val="1E2761"/>
                </a:solidFill>
                <a:latin typeface="Calibri"/>
              </a:rPr>
              <a:t>MFE1</a:t>
            </a:r>
          </a:p>
          <a:p>
            <a:pPr algn="ctr">
              <a:buNone/>
            </a:pPr>
            <a:r>
              <a:rPr lang="en-US" sz="1100" b="0" dirty="0">
                <a:solidFill>
                  <a:srgbClr val="334155"/>
                </a:solidFill>
                <a:latin typeface="Calibri"/>
              </a:rPr>
              <a:t>React</a:t>
            </a:r>
          </a:p>
        </p:txBody>
      </p:sp>
      <p:sp>
        <p:nvSpPr>
          <p:cNvPr id="19" name="S19"/>
          <p:cNvSpPr/>
          <p:nvPr/>
        </p:nvSpPr>
        <p:spPr>
          <a:xfrm>
            <a:off x="457200" y="2070100"/>
            <a:ext cx="1320800" cy="812800"/>
          </a:xfrm>
          <a:prstGeom prst="roundRect">
            <a:avLst>
              <a:gd name="adj" fmla="val 8000"/>
            </a:avLst>
          </a:prstGeom>
          <a:solidFill>
            <a:srgbClr val="EEF4FE"/>
          </a:solidFill>
          <a:ln w="15875">
            <a:solidFill>
              <a:srgbClr val="C3D4F2"/>
            </a:solidFill>
          </a:ln>
        </p:spPr>
        <p:txBody>
          <a:bodyPr wrap="square" lIns="18288" tIns="9144" rIns="18288" bIns="9144" anchor="ctr">
            <a:normAutofit/>
          </a:bodyPr>
          <a:lstStyle/>
          <a:p>
            <a:pPr algn="ctr">
              <a:buNone/>
            </a:pPr>
            <a:r>
              <a:rPr lang="en-US" sz="1400" b="1" dirty="0">
                <a:solidFill>
                  <a:srgbClr val="1E2761"/>
                </a:solidFill>
                <a:latin typeface="Calibri"/>
              </a:rPr>
              <a:t>MFE2</a:t>
            </a:r>
          </a:p>
          <a:p>
            <a:pPr algn="ctr">
              <a:buNone/>
            </a:pPr>
            <a:r>
              <a:rPr lang="en-US" sz="1100" b="0" dirty="0">
                <a:solidFill>
                  <a:srgbClr val="334155"/>
                </a:solidFill>
                <a:latin typeface="Calibri"/>
              </a:rPr>
              <a:t>React</a:t>
            </a:r>
          </a:p>
        </p:txBody>
      </p:sp>
      <p:sp>
        <p:nvSpPr>
          <p:cNvPr id="20" name="S20"/>
          <p:cNvSpPr/>
          <p:nvPr/>
        </p:nvSpPr>
        <p:spPr>
          <a:xfrm>
            <a:off x="457200" y="3073400"/>
            <a:ext cx="1320800" cy="812800"/>
          </a:xfrm>
          <a:prstGeom prst="roundRect">
            <a:avLst>
              <a:gd name="adj" fmla="val 8000"/>
            </a:avLst>
          </a:prstGeom>
          <a:solidFill>
            <a:srgbClr val="EEF4FE"/>
          </a:solidFill>
          <a:ln w="15875">
            <a:solidFill>
              <a:srgbClr val="C3D4F2"/>
            </a:solidFill>
          </a:ln>
        </p:spPr>
        <p:txBody>
          <a:bodyPr wrap="square" lIns="18288" tIns="9144" rIns="18288" bIns="9144" anchor="ctr">
            <a:normAutofit/>
          </a:bodyPr>
          <a:lstStyle/>
          <a:p>
            <a:pPr algn="ctr">
              <a:buNone/>
            </a:pPr>
            <a:r>
              <a:rPr lang="en-US" sz="1400" b="1" dirty="0">
                <a:solidFill>
                  <a:srgbClr val="1E2761"/>
                </a:solidFill>
                <a:latin typeface="Calibri"/>
              </a:rPr>
              <a:t>MFE3</a:t>
            </a:r>
          </a:p>
          <a:p>
            <a:pPr algn="ctr">
              <a:buNone/>
            </a:pPr>
            <a:r>
              <a:rPr lang="en-US" sz="1100" b="0" dirty="0">
                <a:solidFill>
                  <a:srgbClr val="334155"/>
                </a:solidFill>
                <a:latin typeface="Calibri"/>
              </a:rPr>
              <a:t>React</a:t>
            </a:r>
          </a:p>
        </p:txBody>
      </p:sp>
      <p:sp>
        <p:nvSpPr>
          <p:cNvPr id="21" name="S21"/>
          <p:cNvSpPr/>
          <p:nvPr/>
        </p:nvSpPr>
        <p:spPr>
          <a:xfrm>
            <a:off x="2133600" y="1066800"/>
            <a:ext cx="1270000" cy="2819400"/>
          </a:xfrm>
          <a:prstGeom prst="roundRect">
            <a:avLst>
              <a:gd name="adj" fmla="val 8000"/>
            </a:avLst>
          </a:prstGeom>
          <a:solidFill>
            <a:srgbClr val="1E2761"/>
          </a:solidFill>
          <a:ln>
            <a:noFill/>
          </a:ln>
        </p:spPr>
        <p:txBody>
          <a:bodyPr wrap="square" lIns="18288" tIns="9144" rIns="18288" bIns="9144" anchor="ctr">
            <a:normAutofit/>
          </a:bodyPr>
          <a:lstStyle/>
          <a:p>
            <a:pPr algn="ctr">
              <a:buNone/>
            </a:pPr>
            <a:r>
              <a:rPr lang="en-US" sz="1500" b="1" dirty="0">
                <a:solidFill>
                  <a:srgbClr val="FFFFFF"/>
                </a:solidFill>
                <a:latin typeface="Calibri"/>
              </a:rPr>
              <a:t>Web BFF</a:t>
            </a:r>
          </a:p>
          <a:p>
            <a:pPr algn="ctr">
              <a:buNone/>
            </a:pPr>
            <a:r>
              <a:rPr lang="en-US" sz="1100" b="0" dirty="0">
                <a:solidFill>
                  <a:srgbClr val="D6DEF5"/>
                </a:solidFill>
                <a:latin typeface="Calibri"/>
              </a:rPr>
              <a:t>aggregates for all MFEs</a:t>
            </a:r>
          </a:p>
        </p:txBody>
      </p:sp>
      <p:sp>
        <p:nvSpPr>
          <p:cNvPr id="22" name="S22"/>
          <p:cNvSpPr/>
          <p:nvPr/>
        </p:nvSpPr>
        <p:spPr>
          <a:xfrm>
            <a:off x="1803400" y="1358900"/>
            <a:ext cx="304800" cy="228600"/>
          </a:xfrm>
          <a:prstGeom prst="rightArrow">
            <a:avLst/>
          </a:prstGeom>
          <a:solidFill>
            <a:srgbClr val="1E2761"/>
          </a:solidFill>
          <a:ln>
            <a:noFill/>
          </a:ln>
        </p:spPr>
        <p:txBody>
          <a:bodyPr wrap="square" lIns="18288" tIns="9144" rIns="18288" bIns="9144" anchor="ctr">
            <a:normAutofit fontScale="40000" lnSpcReduction="20000"/>
          </a:bodyPr>
          <a:lstStyle/>
          <a:p>
            <a:endParaRPr lang="en-US"/>
          </a:p>
        </p:txBody>
      </p:sp>
      <p:sp>
        <p:nvSpPr>
          <p:cNvPr id="23" name="S23"/>
          <p:cNvSpPr/>
          <p:nvPr/>
        </p:nvSpPr>
        <p:spPr>
          <a:xfrm>
            <a:off x="1803400" y="2362200"/>
            <a:ext cx="304800" cy="228600"/>
          </a:xfrm>
          <a:prstGeom prst="rightArrow">
            <a:avLst/>
          </a:prstGeom>
          <a:solidFill>
            <a:srgbClr val="1E2761"/>
          </a:solidFill>
          <a:ln>
            <a:noFill/>
          </a:ln>
        </p:spPr>
        <p:txBody>
          <a:bodyPr wrap="square" lIns="18288" tIns="9144" rIns="18288" bIns="9144" anchor="ctr">
            <a:normAutofit fontScale="40000" lnSpcReduction="20000"/>
          </a:bodyPr>
          <a:lstStyle/>
          <a:p>
            <a:endParaRPr lang="en-US"/>
          </a:p>
        </p:txBody>
      </p:sp>
      <p:sp>
        <p:nvSpPr>
          <p:cNvPr id="24" name="S24"/>
          <p:cNvSpPr/>
          <p:nvPr/>
        </p:nvSpPr>
        <p:spPr>
          <a:xfrm>
            <a:off x="1803400" y="3365500"/>
            <a:ext cx="304800" cy="228600"/>
          </a:xfrm>
          <a:prstGeom prst="rightArrow">
            <a:avLst/>
          </a:prstGeom>
          <a:solidFill>
            <a:srgbClr val="1E2761"/>
          </a:solidFill>
          <a:ln>
            <a:noFill/>
          </a:ln>
        </p:spPr>
        <p:txBody>
          <a:bodyPr wrap="square" lIns="18288" tIns="9144" rIns="18288" bIns="9144" anchor="ctr">
            <a:normAutofit fontScale="40000" lnSpcReduction="20000"/>
          </a:bodyPr>
          <a:lstStyle/>
          <a:p>
            <a:endParaRPr lang="en-US"/>
          </a:p>
        </p:txBody>
      </p:sp>
      <p:sp>
        <p:nvSpPr>
          <p:cNvPr id="25" name="S25"/>
          <p:cNvSpPr/>
          <p:nvPr/>
        </p:nvSpPr>
        <p:spPr>
          <a:xfrm>
            <a:off x="3759200" y="1066800"/>
            <a:ext cx="3149600" cy="533400"/>
          </a:xfrm>
          <a:prstGeom prst="roundRect">
            <a:avLst>
              <a:gd name="adj" fmla="val 8000"/>
            </a:avLst>
          </a:prstGeom>
          <a:solidFill>
            <a:srgbClr val="FFFFFF"/>
          </a:solidFill>
          <a:ln w="15875">
            <a:solidFill>
              <a:srgbClr val="1E2761"/>
            </a:solidFill>
          </a:ln>
        </p:spPr>
        <p:txBody>
          <a:bodyPr wrap="square" lIns="18288" tIns="9144" rIns="18288" bIns="9144" anchor="ctr">
            <a:normAutofit/>
          </a:bodyPr>
          <a:lstStyle/>
          <a:p>
            <a:endParaRPr lang="en-US"/>
          </a:p>
        </p:txBody>
      </p:sp>
      <p:sp>
        <p:nvSpPr>
          <p:cNvPr id="26" name="L26"/>
          <p:cNvSpPr txBox="1"/>
          <p:nvPr/>
        </p:nvSpPr>
        <p:spPr>
          <a:xfrm>
            <a:off x="4343400" y="1248410"/>
            <a:ext cx="2006600" cy="203200"/>
          </a:xfrm>
          <a:prstGeom prst="rect">
            <a:avLst/>
          </a:prstGeom>
          <a:noFill/>
        </p:spPr>
        <p:txBody>
          <a:bodyPr wrap="square" lIns="0" tIns="0" rIns="0" bIns="0" anchor="ctr"/>
          <a:lstStyle/>
          <a:p>
            <a:pPr algn="ctr">
              <a:buNone/>
            </a:pPr>
            <a:r>
              <a:rPr lang="en-US" sz="1400" b="1" dirty="0">
                <a:solidFill>
                  <a:srgbClr val="1E2761"/>
                </a:solidFill>
                <a:latin typeface="Calibri"/>
              </a:rPr>
              <a:t>MSB1</a:t>
            </a:r>
          </a:p>
        </p:txBody>
      </p:sp>
      <p:sp>
        <p:nvSpPr>
          <p:cNvPr id="30" name="S30"/>
          <p:cNvSpPr/>
          <p:nvPr/>
        </p:nvSpPr>
        <p:spPr>
          <a:xfrm>
            <a:off x="3429000" y="1219200"/>
            <a:ext cx="304800" cy="228600"/>
          </a:xfrm>
          <a:prstGeom prst="rightArrow">
            <a:avLst/>
          </a:prstGeom>
          <a:solidFill>
            <a:srgbClr val="1E2761"/>
          </a:solidFill>
          <a:ln>
            <a:noFill/>
          </a:ln>
        </p:spPr>
        <p:txBody>
          <a:bodyPr wrap="square" lIns="18288" tIns="9144" rIns="18288" bIns="9144" anchor="ctr">
            <a:normAutofit fontScale="40000" lnSpcReduction="20000"/>
          </a:bodyPr>
          <a:lstStyle/>
          <a:p>
            <a:endParaRPr lang="en-US"/>
          </a:p>
        </p:txBody>
      </p:sp>
      <p:sp>
        <p:nvSpPr>
          <p:cNvPr id="31" name="S31"/>
          <p:cNvSpPr/>
          <p:nvPr/>
        </p:nvSpPr>
        <p:spPr>
          <a:xfrm>
            <a:off x="3759200" y="1828800"/>
            <a:ext cx="3149600" cy="533400"/>
          </a:xfrm>
          <a:prstGeom prst="roundRect">
            <a:avLst>
              <a:gd name="adj" fmla="val 8000"/>
            </a:avLst>
          </a:prstGeom>
          <a:solidFill>
            <a:srgbClr val="FFFFFF"/>
          </a:solidFill>
          <a:ln w="15875">
            <a:solidFill>
              <a:srgbClr val="1E2761"/>
            </a:solidFill>
          </a:ln>
        </p:spPr>
        <p:txBody>
          <a:bodyPr wrap="square" lIns="18288" tIns="9144" rIns="18288" bIns="9144" anchor="ctr">
            <a:normAutofit/>
          </a:bodyPr>
          <a:lstStyle/>
          <a:p>
            <a:endParaRPr lang="en-US"/>
          </a:p>
        </p:txBody>
      </p:sp>
      <p:sp>
        <p:nvSpPr>
          <p:cNvPr id="32" name="L32"/>
          <p:cNvSpPr txBox="1"/>
          <p:nvPr/>
        </p:nvSpPr>
        <p:spPr>
          <a:xfrm>
            <a:off x="4343400" y="2006600"/>
            <a:ext cx="2006600" cy="203200"/>
          </a:xfrm>
          <a:prstGeom prst="rect">
            <a:avLst/>
          </a:prstGeom>
          <a:noFill/>
        </p:spPr>
        <p:txBody>
          <a:bodyPr wrap="square" lIns="0" tIns="0" rIns="0" bIns="0" anchor="ctr"/>
          <a:lstStyle/>
          <a:p>
            <a:pPr algn="ctr">
              <a:buNone/>
            </a:pPr>
            <a:r>
              <a:rPr lang="en-US" sz="1400" b="1" dirty="0">
                <a:solidFill>
                  <a:srgbClr val="1E2761"/>
                </a:solidFill>
                <a:latin typeface="Calibri"/>
              </a:rPr>
              <a:t>MSB2</a:t>
            </a:r>
          </a:p>
        </p:txBody>
      </p:sp>
      <p:sp>
        <p:nvSpPr>
          <p:cNvPr id="36" name="S36"/>
          <p:cNvSpPr/>
          <p:nvPr/>
        </p:nvSpPr>
        <p:spPr>
          <a:xfrm>
            <a:off x="3429000" y="1981200"/>
            <a:ext cx="304800" cy="228600"/>
          </a:xfrm>
          <a:prstGeom prst="rightArrow">
            <a:avLst/>
          </a:prstGeom>
          <a:solidFill>
            <a:srgbClr val="1E2761"/>
          </a:solidFill>
          <a:ln>
            <a:noFill/>
          </a:ln>
        </p:spPr>
        <p:txBody>
          <a:bodyPr wrap="square" lIns="18288" tIns="9144" rIns="18288" bIns="9144" anchor="ctr">
            <a:normAutofit fontScale="40000" lnSpcReduction="20000"/>
          </a:bodyPr>
          <a:lstStyle/>
          <a:p>
            <a:endParaRPr lang="en-US"/>
          </a:p>
        </p:txBody>
      </p:sp>
      <p:sp>
        <p:nvSpPr>
          <p:cNvPr id="37" name="S37"/>
          <p:cNvSpPr/>
          <p:nvPr/>
        </p:nvSpPr>
        <p:spPr>
          <a:xfrm>
            <a:off x="3759200" y="2590800"/>
            <a:ext cx="3149600" cy="533400"/>
          </a:xfrm>
          <a:prstGeom prst="roundRect">
            <a:avLst>
              <a:gd name="adj" fmla="val 8000"/>
            </a:avLst>
          </a:prstGeom>
          <a:solidFill>
            <a:srgbClr val="FFFFFF"/>
          </a:solidFill>
          <a:ln w="15875">
            <a:solidFill>
              <a:srgbClr val="1E2761"/>
            </a:solidFill>
          </a:ln>
        </p:spPr>
        <p:txBody>
          <a:bodyPr wrap="square" lIns="18288" tIns="9144" rIns="18288" bIns="9144" anchor="ctr">
            <a:normAutofit/>
          </a:bodyPr>
          <a:lstStyle/>
          <a:p>
            <a:endParaRPr lang="en-US"/>
          </a:p>
        </p:txBody>
      </p:sp>
      <p:sp>
        <p:nvSpPr>
          <p:cNvPr id="38" name="L38"/>
          <p:cNvSpPr txBox="1"/>
          <p:nvPr/>
        </p:nvSpPr>
        <p:spPr>
          <a:xfrm>
            <a:off x="4343400" y="2768600"/>
            <a:ext cx="2006600" cy="203200"/>
          </a:xfrm>
          <a:prstGeom prst="rect">
            <a:avLst/>
          </a:prstGeom>
          <a:noFill/>
        </p:spPr>
        <p:txBody>
          <a:bodyPr wrap="square" lIns="0" tIns="0" rIns="0" bIns="0" anchor="ctr"/>
          <a:lstStyle/>
          <a:p>
            <a:pPr algn="ctr">
              <a:buNone/>
            </a:pPr>
            <a:r>
              <a:rPr lang="en-US" sz="1400" b="1" dirty="0">
                <a:solidFill>
                  <a:srgbClr val="1E2761"/>
                </a:solidFill>
                <a:latin typeface="Calibri"/>
              </a:rPr>
              <a:t>MSB3</a:t>
            </a:r>
          </a:p>
        </p:txBody>
      </p:sp>
      <p:sp>
        <p:nvSpPr>
          <p:cNvPr id="42" name="S42"/>
          <p:cNvSpPr/>
          <p:nvPr/>
        </p:nvSpPr>
        <p:spPr>
          <a:xfrm>
            <a:off x="3429000" y="2743200"/>
            <a:ext cx="304800" cy="228600"/>
          </a:xfrm>
          <a:prstGeom prst="rightArrow">
            <a:avLst/>
          </a:prstGeom>
          <a:solidFill>
            <a:srgbClr val="1E2761"/>
          </a:solidFill>
          <a:ln>
            <a:noFill/>
          </a:ln>
        </p:spPr>
        <p:txBody>
          <a:bodyPr wrap="square" lIns="18288" tIns="9144" rIns="18288" bIns="9144" anchor="ctr">
            <a:normAutofit fontScale="40000" lnSpcReduction="20000"/>
          </a:bodyPr>
          <a:lstStyle/>
          <a:p>
            <a:endParaRPr lang="en-US"/>
          </a:p>
        </p:txBody>
      </p:sp>
      <p:sp>
        <p:nvSpPr>
          <p:cNvPr id="43" name="S43"/>
          <p:cNvSpPr/>
          <p:nvPr/>
        </p:nvSpPr>
        <p:spPr>
          <a:xfrm>
            <a:off x="3759200" y="3352800"/>
            <a:ext cx="3149600" cy="533400"/>
          </a:xfrm>
          <a:prstGeom prst="roundRect">
            <a:avLst>
              <a:gd name="adj" fmla="val 8000"/>
            </a:avLst>
          </a:prstGeom>
          <a:solidFill>
            <a:srgbClr val="FFFFFF"/>
          </a:solidFill>
          <a:ln w="15875">
            <a:solidFill>
              <a:srgbClr val="1E2761"/>
            </a:solidFill>
          </a:ln>
        </p:spPr>
        <p:txBody>
          <a:bodyPr wrap="square" lIns="18288" tIns="9144" rIns="18288" bIns="9144" anchor="ctr">
            <a:normAutofit/>
          </a:bodyPr>
          <a:lstStyle/>
          <a:p>
            <a:endParaRPr lang="en-US"/>
          </a:p>
        </p:txBody>
      </p:sp>
      <p:sp>
        <p:nvSpPr>
          <p:cNvPr id="44" name="L44"/>
          <p:cNvSpPr txBox="1"/>
          <p:nvPr/>
        </p:nvSpPr>
        <p:spPr>
          <a:xfrm>
            <a:off x="4343400" y="3530600"/>
            <a:ext cx="2006600" cy="203200"/>
          </a:xfrm>
          <a:prstGeom prst="rect">
            <a:avLst/>
          </a:prstGeom>
          <a:noFill/>
        </p:spPr>
        <p:txBody>
          <a:bodyPr wrap="square" lIns="0" tIns="0" rIns="0" bIns="0" anchor="ctr"/>
          <a:lstStyle/>
          <a:p>
            <a:pPr algn="ctr">
              <a:buNone/>
            </a:pPr>
            <a:r>
              <a:rPr lang="en-US" sz="1400" b="1" dirty="0">
                <a:solidFill>
                  <a:srgbClr val="1E2761"/>
                </a:solidFill>
                <a:latin typeface="Calibri"/>
              </a:rPr>
              <a:t>MSB4</a:t>
            </a:r>
          </a:p>
        </p:txBody>
      </p:sp>
      <p:sp>
        <p:nvSpPr>
          <p:cNvPr id="48" name="S48"/>
          <p:cNvSpPr/>
          <p:nvPr/>
        </p:nvSpPr>
        <p:spPr>
          <a:xfrm>
            <a:off x="3429000" y="3505200"/>
            <a:ext cx="304800" cy="228600"/>
          </a:xfrm>
          <a:prstGeom prst="rightArrow">
            <a:avLst/>
          </a:prstGeom>
          <a:solidFill>
            <a:srgbClr val="1E2761"/>
          </a:solidFill>
          <a:ln>
            <a:noFill/>
          </a:ln>
        </p:spPr>
        <p:txBody>
          <a:bodyPr wrap="square" lIns="18288" tIns="9144" rIns="18288" bIns="9144" anchor="ctr">
            <a:normAutofit fontScale="40000" lnSpcReduction="20000"/>
          </a:bodyPr>
          <a:lstStyle/>
          <a:p>
            <a:endParaRPr lang="en-US"/>
          </a:p>
        </p:txBody>
      </p:sp>
      <p:sp>
        <p:nvSpPr>
          <p:cNvPr id="49" name="S49"/>
          <p:cNvSpPr/>
          <p:nvPr/>
        </p:nvSpPr>
        <p:spPr>
          <a:xfrm>
            <a:off x="5219700" y="1625600"/>
            <a:ext cx="127000" cy="177800"/>
          </a:xfrm>
          <a:prstGeom prst="upDownArrow">
            <a:avLst/>
          </a:prstGeom>
          <a:solidFill>
            <a:srgbClr val="1E2761"/>
          </a:solidFill>
          <a:ln>
            <a:noFill/>
          </a:ln>
        </p:spPr>
        <p:txBody>
          <a:bodyPr wrap="square" lIns="18288" tIns="9144" rIns="18288" bIns="9144" anchor="ctr">
            <a:normAutofit fontScale="40000" lnSpcReduction="20000"/>
          </a:bodyPr>
          <a:lstStyle/>
          <a:p>
            <a:endParaRPr lang="en-US"/>
          </a:p>
        </p:txBody>
      </p:sp>
      <p:sp>
        <p:nvSpPr>
          <p:cNvPr id="50" name="L50"/>
          <p:cNvSpPr txBox="1"/>
          <p:nvPr/>
        </p:nvSpPr>
        <p:spPr>
          <a:xfrm>
            <a:off x="5410200" y="1638300"/>
            <a:ext cx="508000" cy="152400"/>
          </a:xfrm>
          <a:prstGeom prst="rect">
            <a:avLst/>
          </a:prstGeom>
          <a:noFill/>
        </p:spPr>
        <p:txBody>
          <a:bodyPr wrap="square" lIns="0" tIns="0" rIns="0" bIns="0" anchor="ctr"/>
          <a:lstStyle/>
          <a:p>
            <a:pPr algn="l">
              <a:buNone/>
            </a:pPr>
            <a:r>
              <a:rPr lang="en-US" sz="1000" b="1" dirty="0">
                <a:solidFill>
                  <a:srgbClr val="1E2761"/>
                </a:solidFill>
                <a:latin typeface="Calibri"/>
              </a:rPr>
              <a:t>REST</a:t>
            </a:r>
          </a:p>
        </p:txBody>
      </p:sp>
      <p:sp>
        <p:nvSpPr>
          <p:cNvPr id="51" name="S51"/>
          <p:cNvSpPr/>
          <p:nvPr/>
        </p:nvSpPr>
        <p:spPr>
          <a:xfrm>
            <a:off x="5219700" y="2387600"/>
            <a:ext cx="127000" cy="177800"/>
          </a:xfrm>
          <a:prstGeom prst="upDownArrow">
            <a:avLst/>
          </a:prstGeom>
          <a:solidFill>
            <a:srgbClr val="1E2761"/>
          </a:solidFill>
          <a:ln>
            <a:noFill/>
          </a:ln>
        </p:spPr>
        <p:txBody>
          <a:bodyPr wrap="square" lIns="18288" tIns="9144" rIns="18288" bIns="9144" anchor="ctr">
            <a:normAutofit fontScale="40000" lnSpcReduction="20000"/>
          </a:bodyPr>
          <a:lstStyle/>
          <a:p>
            <a:endParaRPr lang="en-US"/>
          </a:p>
        </p:txBody>
      </p:sp>
      <p:sp>
        <p:nvSpPr>
          <p:cNvPr id="52" name="L52"/>
          <p:cNvSpPr txBox="1"/>
          <p:nvPr/>
        </p:nvSpPr>
        <p:spPr>
          <a:xfrm>
            <a:off x="5410200" y="2400300"/>
            <a:ext cx="508000" cy="152400"/>
          </a:xfrm>
          <a:prstGeom prst="rect">
            <a:avLst/>
          </a:prstGeom>
          <a:noFill/>
        </p:spPr>
        <p:txBody>
          <a:bodyPr wrap="square" lIns="0" tIns="0" rIns="0" bIns="0" anchor="ctr"/>
          <a:lstStyle/>
          <a:p>
            <a:pPr algn="l">
              <a:buNone/>
            </a:pPr>
            <a:r>
              <a:rPr lang="en-US" sz="1000" b="1" dirty="0">
                <a:solidFill>
                  <a:srgbClr val="1E2761"/>
                </a:solidFill>
                <a:latin typeface="Calibri"/>
              </a:rPr>
              <a:t>REST</a:t>
            </a:r>
          </a:p>
        </p:txBody>
      </p:sp>
      <p:sp>
        <p:nvSpPr>
          <p:cNvPr id="53" name="S53"/>
          <p:cNvSpPr/>
          <p:nvPr/>
        </p:nvSpPr>
        <p:spPr>
          <a:xfrm>
            <a:off x="5219700" y="3149600"/>
            <a:ext cx="127000" cy="177800"/>
          </a:xfrm>
          <a:prstGeom prst="upDownArrow">
            <a:avLst/>
          </a:prstGeom>
          <a:solidFill>
            <a:srgbClr val="1E2761"/>
          </a:solidFill>
          <a:ln>
            <a:noFill/>
          </a:ln>
        </p:spPr>
        <p:txBody>
          <a:bodyPr wrap="square" lIns="18288" tIns="9144" rIns="18288" bIns="9144" anchor="ctr">
            <a:normAutofit fontScale="40000" lnSpcReduction="20000"/>
          </a:bodyPr>
          <a:lstStyle/>
          <a:p>
            <a:endParaRPr lang="en-US"/>
          </a:p>
        </p:txBody>
      </p:sp>
      <p:sp>
        <p:nvSpPr>
          <p:cNvPr id="54" name="L54"/>
          <p:cNvSpPr txBox="1"/>
          <p:nvPr/>
        </p:nvSpPr>
        <p:spPr>
          <a:xfrm>
            <a:off x="5410200" y="3162300"/>
            <a:ext cx="508000" cy="152400"/>
          </a:xfrm>
          <a:prstGeom prst="rect">
            <a:avLst/>
          </a:prstGeom>
          <a:noFill/>
        </p:spPr>
        <p:txBody>
          <a:bodyPr wrap="square" lIns="0" tIns="0" rIns="0" bIns="0" anchor="ctr"/>
          <a:lstStyle/>
          <a:p>
            <a:pPr algn="l">
              <a:buNone/>
            </a:pPr>
            <a:r>
              <a:rPr lang="en-US" sz="1000" b="1" dirty="0">
                <a:solidFill>
                  <a:srgbClr val="1E2761"/>
                </a:solidFill>
                <a:latin typeface="Calibri"/>
              </a:rPr>
              <a:t>REST</a:t>
            </a:r>
          </a:p>
        </p:txBody>
      </p:sp>
      <p:sp>
        <p:nvSpPr>
          <p:cNvPr id="55" name="S55"/>
          <p:cNvSpPr/>
          <p:nvPr/>
        </p:nvSpPr>
        <p:spPr>
          <a:xfrm>
            <a:off x="7239000" y="1066800"/>
            <a:ext cx="1447800" cy="2946400"/>
          </a:xfrm>
          <a:prstGeom prst="roundRect">
            <a:avLst>
              <a:gd name="adj" fmla="val 8000"/>
            </a:avLst>
          </a:prstGeom>
          <a:solidFill>
            <a:srgbClr val="F4F7FE"/>
          </a:solidFill>
          <a:ln w="19050">
            <a:solidFill>
              <a:srgbClr val="5A6BA8"/>
            </a:solidFill>
            <a:prstDash val="dash"/>
          </a:ln>
        </p:spPr>
        <p:txBody>
          <a:bodyPr wrap="square" lIns="18288" tIns="9144" rIns="18288" bIns="9144" anchor="ctr">
            <a:normAutofit/>
          </a:bodyPr>
          <a:lstStyle/>
          <a:p>
            <a:endParaRPr lang="en-US"/>
          </a:p>
        </p:txBody>
      </p:sp>
      <p:sp>
        <p:nvSpPr>
          <p:cNvPr id="56" name="S56"/>
          <p:cNvSpPr/>
          <p:nvPr/>
        </p:nvSpPr>
        <p:spPr>
          <a:xfrm>
            <a:off x="7340600" y="1155700"/>
            <a:ext cx="1244600" cy="254000"/>
          </a:xfrm>
          <a:prstGeom prst="roundRect">
            <a:avLst>
              <a:gd name="adj" fmla="val 8000"/>
            </a:avLst>
          </a:prstGeom>
          <a:solidFill>
            <a:srgbClr val="FFFFFF"/>
          </a:solidFill>
          <a:ln w="15875">
            <a:solidFill>
              <a:srgbClr val="5A6BA8"/>
            </a:solidFill>
          </a:ln>
        </p:spPr>
        <p:txBody>
          <a:bodyPr wrap="square" lIns="18288" tIns="9144" rIns="18288" bIns="9144" anchor="ctr">
            <a:normAutofit/>
          </a:bodyPr>
          <a:lstStyle/>
          <a:p>
            <a:pPr algn="ctr">
              <a:buNone/>
            </a:pPr>
            <a:r>
              <a:rPr lang="en-US" sz="1000" b="1" dirty="0">
                <a:solidFill>
                  <a:srgbClr val="1E2761"/>
                </a:solidFill>
                <a:latin typeface="Calibri"/>
              </a:rPr>
              <a:t>msb1.queue</a:t>
            </a:r>
          </a:p>
        </p:txBody>
      </p:sp>
      <p:sp>
        <p:nvSpPr>
          <p:cNvPr id="57" name="S57"/>
          <p:cNvSpPr/>
          <p:nvPr/>
        </p:nvSpPr>
        <p:spPr>
          <a:xfrm>
            <a:off x="6934200" y="1193800"/>
            <a:ext cx="279400" cy="177800"/>
          </a:xfrm>
          <a:prstGeom prst="leftRightArrow">
            <a:avLst/>
          </a:prstGeom>
          <a:solidFill>
            <a:srgbClr val="5A6BA8"/>
          </a:solidFill>
          <a:ln>
            <a:noFill/>
          </a:ln>
        </p:spPr>
        <p:txBody>
          <a:bodyPr wrap="square" lIns="18288" tIns="9144" rIns="18288" bIns="9144" anchor="ctr">
            <a:normAutofit fontScale="25000" lnSpcReduction="20000"/>
          </a:bodyPr>
          <a:lstStyle/>
          <a:p>
            <a:endParaRPr lang="en-US"/>
          </a:p>
        </p:txBody>
      </p:sp>
      <p:sp>
        <p:nvSpPr>
          <p:cNvPr id="58" name="S58"/>
          <p:cNvSpPr/>
          <p:nvPr/>
        </p:nvSpPr>
        <p:spPr>
          <a:xfrm>
            <a:off x="7340600" y="1917700"/>
            <a:ext cx="1244600" cy="254000"/>
          </a:xfrm>
          <a:prstGeom prst="roundRect">
            <a:avLst>
              <a:gd name="adj" fmla="val 8000"/>
            </a:avLst>
          </a:prstGeom>
          <a:solidFill>
            <a:srgbClr val="FFFFFF"/>
          </a:solidFill>
          <a:ln w="15875">
            <a:solidFill>
              <a:srgbClr val="5A6BA8"/>
            </a:solidFill>
          </a:ln>
        </p:spPr>
        <p:txBody>
          <a:bodyPr wrap="square" lIns="18288" tIns="9144" rIns="18288" bIns="9144" anchor="ctr">
            <a:normAutofit/>
          </a:bodyPr>
          <a:lstStyle/>
          <a:p>
            <a:pPr algn="ctr">
              <a:buNone/>
            </a:pPr>
            <a:r>
              <a:rPr lang="en-US" sz="1000" b="1" dirty="0">
                <a:solidFill>
                  <a:srgbClr val="1E2761"/>
                </a:solidFill>
                <a:latin typeface="Calibri"/>
              </a:rPr>
              <a:t>msb2.queue</a:t>
            </a:r>
          </a:p>
        </p:txBody>
      </p:sp>
      <p:sp>
        <p:nvSpPr>
          <p:cNvPr id="59" name="S59"/>
          <p:cNvSpPr/>
          <p:nvPr/>
        </p:nvSpPr>
        <p:spPr>
          <a:xfrm>
            <a:off x="6934200" y="1955800"/>
            <a:ext cx="279400" cy="177800"/>
          </a:xfrm>
          <a:prstGeom prst="leftRightArrow">
            <a:avLst/>
          </a:prstGeom>
          <a:solidFill>
            <a:srgbClr val="5A6BA8"/>
          </a:solidFill>
          <a:ln>
            <a:noFill/>
          </a:ln>
        </p:spPr>
        <p:txBody>
          <a:bodyPr wrap="square" lIns="18288" tIns="9144" rIns="18288" bIns="9144" anchor="ctr">
            <a:normAutofit fontScale="25000" lnSpcReduction="20000"/>
          </a:bodyPr>
          <a:lstStyle/>
          <a:p>
            <a:endParaRPr lang="en-US"/>
          </a:p>
        </p:txBody>
      </p:sp>
      <p:sp>
        <p:nvSpPr>
          <p:cNvPr id="60" name="S60"/>
          <p:cNvSpPr/>
          <p:nvPr/>
        </p:nvSpPr>
        <p:spPr>
          <a:xfrm>
            <a:off x="7340600" y="2679700"/>
            <a:ext cx="1244600" cy="254000"/>
          </a:xfrm>
          <a:prstGeom prst="roundRect">
            <a:avLst>
              <a:gd name="adj" fmla="val 8000"/>
            </a:avLst>
          </a:prstGeom>
          <a:solidFill>
            <a:srgbClr val="FFFFFF"/>
          </a:solidFill>
          <a:ln w="15875">
            <a:solidFill>
              <a:srgbClr val="5A6BA8"/>
            </a:solidFill>
          </a:ln>
        </p:spPr>
        <p:txBody>
          <a:bodyPr wrap="square" lIns="18288" tIns="9144" rIns="18288" bIns="9144" anchor="ctr">
            <a:normAutofit/>
          </a:bodyPr>
          <a:lstStyle/>
          <a:p>
            <a:pPr algn="ctr">
              <a:buNone/>
            </a:pPr>
            <a:r>
              <a:rPr lang="en-US" sz="1000" b="1" dirty="0">
                <a:solidFill>
                  <a:srgbClr val="1E2761"/>
                </a:solidFill>
                <a:latin typeface="Calibri"/>
              </a:rPr>
              <a:t>msb3.queue</a:t>
            </a:r>
          </a:p>
        </p:txBody>
      </p:sp>
      <p:sp>
        <p:nvSpPr>
          <p:cNvPr id="61" name="S61"/>
          <p:cNvSpPr/>
          <p:nvPr/>
        </p:nvSpPr>
        <p:spPr>
          <a:xfrm>
            <a:off x="6934200" y="2717800"/>
            <a:ext cx="279400" cy="177800"/>
          </a:xfrm>
          <a:prstGeom prst="leftRightArrow">
            <a:avLst/>
          </a:prstGeom>
          <a:solidFill>
            <a:srgbClr val="5A6BA8"/>
          </a:solidFill>
          <a:ln>
            <a:noFill/>
          </a:ln>
        </p:spPr>
        <p:txBody>
          <a:bodyPr wrap="square" lIns="18288" tIns="9144" rIns="18288" bIns="9144" anchor="ctr">
            <a:normAutofit fontScale="25000" lnSpcReduction="20000"/>
          </a:bodyPr>
          <a:lstStyle/>
          <a:p>
            <a:endParaRPr lang="en-US"/>
          </a:p>
        </p:txBody>
      </p:sp>
      <p:sp>
        <p:nvSpPr>
          <p:cNvPr id="62" name="S62"/>
          <p:cNvSpPr/>
          <p:nvPr/>
        </p:nvSpPr>
        <p:spPr>
          <a:xfrm>
            <a:off x="7340600" y="3441700"/>
            <a:ext cx="1244600" cy="254000"/>
          </a:xfrm>
          <a:prstGeom prst="roundRect">
            <a:avLst>
              <a:gd name="adj" fmla="val 8000"/>
            </a:avLst>
          </a:prstGeom>
          <a:solidFill>
            <a:srgbClr val="FFFFFF"/>
          </a:solidFill>
          <a:ln w="15875">
            <a:solidFill>
              <a:srgbClr val="5A6BA8"/>
            </a:solidFill>
          </a:ln>
        </p:spPr>
        <p:txBody>
          <a:bodyPr wrap="square" lIns="18288" tIns="9144" rIns="18288" bIns="9144" anchor="ctr">
            <a:normAutofit/>
          </a:bodyPr>
          <a:lstStyle/>
          <a:p>
            <a:pPr algn="ctr">
              <a:buNone/>
            </a:pPr>
            <a:r>
              <a:rPr lang="en-US" sz="1000" b="1" dirty="0">
                <a:solidFill>
                  <a:srgbClr val="1E2761"/>
                </a:solidFill>
                <a:latin typeface="Calibri"/>
              </a:rPr>
              <a:t>msb4.queue</a:t>
            </a:r>
          </a:p>
        </p:txBody>
      </p:sp>
      <p:sp>
        <p:nvSpPr>
          <p:cNvPr id="63" name="S63"/>
          <p:cNvSpPr/>
          <p:nvPr/>
        </p:nvSpPr>
        <p:spPr>
          <a:xfrm>
            <a:off x="6934200" y="3479800"/>
            <a:ext cx="279400" cy="177800"/>
          </a:xfrm>
          <a:prstGeom prst="leftRightArrow">
            <a:avLst/>
          </a:prstGeom>
          <a:solidFill>
            <a:srgbClr val="5A6BA8"/>
          </a:solidFill>
          <a:ln>
            <a:noFill/>
          </a:ln>
        </p:spPr>
        <p:txBody>
          <a:bodyPr wrap="square" lIns="18288" tIns="9144" rIns="18288" bIns="9144" anchor="ctr">
            <a:normAutofit fontScale="25000" lnSpcReduction="20000"/>
          </a:bodyPr>
          <a:lstStyle/>
          <a:p>
            <a:endParaRPr lang="en-US"/>
          </a:p>
        </p:txBody>
      </p:sp>
      <p:sp>
        <p:nvSpPr>
          <p:cNvPr id="66" name="L66"/>
          <p:cNvSpPr txBox="1"/>
          <p:nvPr/>
        </p:nvSpPr>
        <p:spPr>
          <a:xfrm>
            <a:off x="457200" y="4749800"/>
            <a:ext cx="8229600" cy="254000"/>
          </a:xfrm>
          <a:prstGeom prst="rect">
            <a:avLst/>
          </a:prstGeom>
          <a:noFill/>
        </p:spPr>
        <p:txBody>
          <a:bodyPr wrap="square" lIns="0" tIns="0" rIns="0" bIns="0" anchor="ctr"/>
          <a:lstStyle/>
          <a:p>
            <a:pPr algn="l">
              <a:buNone/>
            </a:pPr>
            <a:r>
              <a:rPr lang="en-US" sz="1100" b="0" dirty="0">
                <a:solidFill>
                  <a:srgbClr val="334155"/>
                </a:solidFill>
                <a:latin typeface="Calibri"/>
              </a:rPr>
              <a:t>MFEs → one Web BFF over HTTPS  ·  BFF → services over REST  ·  service-to-service REST  ·  Kafka for async events</a:t>
            </a:r>
          </a:p>
        </p:txBody>
      </p:sp>
      <p:pic>
        <p:nvPicPr>
          <p:cNvPr id="67" name="Graphic 67" descr="Oracle RDBMS schema with outbox and inbox table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16600" y="1168400"/>
            <a:ext cx="330200" cy="330200"/>
          </a:xfrm>
          <a:prstGeom prst="rect">
            <a:avLst/>
          </a:prstGeom>
        </p:spPr>
      </p:pic>
      <p:pic>
        <p:nvPicPr>
          <p:cNvPr id="68" name="Graphic 68" descr="MongoDB collection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59500" y="1168400"/>
            <a:ext cx="330200" cy="330200"/>
          </a:xfrm>
          <a:prstGeom prst="rect">
            <a:avLst/>
          </a:prstGeom>
        </p:spPr>
      </p:pic>
      <p:pic>
        <p:nvPicPr>
          <p:cNvPr id="69" name="Graphic 69" descr="Redis cache"/>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02400" y="1168400"/>
            <a:ext cx="330200" cy="330200"/>
          </a:xfrm>
          <a:prstGeom prst="rect">
            <a:avLst/>
          </a:prstGeom>
        </p:spPr>
      </p:pic>
      <p:pic>
        <p:nvPicPr>
          <p:cNvPr id="201" name="Icon201" descr="Oracle RDBMS schema with outbox and inbox table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16600" y="1930400"/>
            <a:ext cx="330200" cy="330200"/>
          </a:xfrm>
          <a:prstGeom prst="rect">
            <a:avLst/>
          </a:prstGeom>
        </p:spPr>
      </p:pic>
      <p:pic>
        <p:nvPicPr>
          <p:cNvPr id="202" name="Icon202" descr="MongoDB collection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59500" y="1930400"/>
            <a:ext cx="330200" cy="330200"/>
          </a:xfrm>
          <a:prstGeom prst="rect">
            <a:avLst/>
          </a:prstGeom>
        </p:spPr>
      </p:pic>
      <p:pic>
        <p:nvPicPr>
          <p:cNvPr id="203" name="Icon203" descr="Redis cache"/>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02400" y="1930400"/>
            <a:ext cx="330200" cy="330200"/>
          </a:xfrm>
          <a:prstGeom prst="rect">
            <a:avLst/>
          </a:prstGeom>
        </p:spPr>
      </p:pic>
      <p:pic>
        <p:nvPicPr>
          <p:cNvPr id="204" name="Icon204" descr="Oracle RDBMS schema with outbox and inbox table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16600" y="2692400"/>
            <a:ext cx="330200" cy="330200"/>
          </a:xfrm>
          <a:prstGeom prst="rect">
            <a:avLst/>
          </a:prstGeom>
        </p:spPr>
      </p:pic>
      <p:pic>
        <p:nvPicPr>
          <p:cNvPr id="205" name="Icon205" descr="MongoDB collection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59500" y="2692400"/>
            <a:ext cx="330200" cy="330200"/>
          </a:xfrm>
          <a:prstGeom prst="rect">
            <a:avLst/>
          </a:prstGeom>
        </p:spPr>
      </p:pic>
      <p:pic>
        <p:nvPicPr>
          <p:cNvPr id="206" name="Icon206" descr="Redis cache"/>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02400" y="2692400"/>
            <a:ext cx="330200" cy="330200"/>
          </a:xfrm>
          <a:prstGeom prst="rect">
            <a:avLst/>
          </a:prstGeom>
        </p:spPr>
      </p:pic>
      <p:pic>
        <p:nvPicPr>
          <p:cNvPr id="207" name="Icon207" descr="Oracle RDBMS schema with outbox and inbox table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16600" y="3454400"/>
            <a:ext cx="330200" cy="330200"/>
          </a:xfrm>
          <a:prstGeom prst="rect">
            <a:avLst/>
          </a:prstGeom>
        </p:spPr>
      </p:pic>
      <p:pic>
        <p:nvPicPr>
          <p:cNvPr id="208" name="Icon208" descr="MongoDB collection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59500" y="3454400"/>
            <a:ext cx="330200" cy="330200"/>
          </a:xfrm>
          <a:prstGeom prst="rect">
            <a:avLst/>
          </a:prstGeom>
        </p:spPr>
      </p:pic>
      <p:pic>
        <p:nvPicPr>
          <p:cNvPr id="209" name="Icon209" descr="Redis cache"/>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02400" y="3454400"/>
            <a:ext cx="330200" cy="330200"/>
          </a:xfrm>
          <a:prstGeom prst="rect">
            <a:avLst/>
          </a:prstGeom>
        </p:spPr>
      </p:pic>
      <p:pic>
        <p:nvPicPr>
          <p:cNvPr id="210" name="Icon210" descr="Oracle RDBMS schema with outbox and inbox table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4419600"/>
            <a:ext cx="330200" cy="330200"/>
          </a:xfrm>
          <a:prstGeom prst="rect">
            <a:avLst/>
          </a:prstGeom>
        </p:spPr>
      </p:pic>
      <p:pic>
        <p:nvPicPr>
          <p:cNvPr id="211" name="Icon211" descr="MongoDB collection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86000" y="4419600"/>
            <a:ext cx="330200" cy="330200"/>
          </a:xfrm>
          <a:prstGeom prst="rect">
            <a:avLst/>
          </a:prstGeom>
        </p:spPr>
      </p:pic>
      <p:pic>
        <p:nvPicPr>
          <p:cNvPr id="212" name="Icon212" descr="Redis cache"/>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29200" y="4419600"/>
            <a:ext cx="330200" cy="330200"/>
          </a:xfrm>
          <a:prstGeom prst="rect">
            <a:avLst/>
          </a:prstGeom>
        </p:spPr>
      </p:pic>
      <p:sp>
        <p:nvSpPr>
          <p:cNvPr id="213" name="Legend213"/>
          <p:cNvSpPr txBox="1"/>
          <p:nvPr/>
        </p:nvSpPr>
        <p:spPr>
          <a:xfrm>
            <a:off x="762000" y="4432300"/>
            <a:ext cx="1397000" cy="215900"/>
          </a:xfrm>
          <a:prstGeom prst="rect">
            <a:avLst/>
          </a:prstGeom>
          <a:noFill/>
        </p:spPr>
        <p:txBody>
          <a:bodyPr wrap="square" lIns="0" tIns="0" rIns="0" bIns="0" anchor="ctr"/>
          <a:lstStyle/>
          <a:p>
            <a:pPr algn="l">
              <a:buNone/>
            </a:pPr>
            <a:r>
              <a:rPr lang="en-US" sz="1000" b="0" dirty="0">
                <a:solidFill>
                  <a:srgbClr val="334155"/>
                </a:solidFill>
                <a:latin typeface="Calibri"/>
              </a:rPr>
              <a:t>Oracle RDBMS schema</a:t>
            </a:r>
          </a:p>
        </p:txBody>
      </p:sp>
      <p:sp>
        <p:nvSpPr>
          <p:cNvPr id="214" name="Legend214"/>
          <p:cNvSpPr txBox="1"/>
          <p:nvPr/>
        </p:nvSpPr>
        <p:spPr>
          <a:xfrm>
            <a:off x="2590800" y="4432300"/>
            <a:ext cx="2286000" cy="215900"/>
          </a:xfrm>
          <a:prstGeom prst="rect">
            <a:avLst/>
          </a:prstGeom>
          <a:noFill/>
        </p:spPr>
        <p:txBody>
          <a:bodyPr wrap="square" lIns="0" tIns="0" rIns="0" bIns="0" anchor="ctr"/>
          <a:lstStyle/>
          <a:p>
            <a:pPr algn="l">
              <a:buNone/>
            </a:pPr>
            <a:r>
              <a:rPr lang="en-US" sz="1000" b="0" dirty="0">
                <a:solidFill>
                  <a:srgbClr val="334155"/>
                </a:solidFill>
                <a:latin typeface="Calibri"/>
              </a:rPr>
              <a:t>Mongo collections + outbox / inbox</a:t>
            </a:r>
          </a:p>
        </p:txBody>
      </p:sp>
      <p:sp>
        <p:nvSpPr>
          <p:cNvPr id="215" name="Legend215"/>
          <p:cNvSpPr txBox="1"/>
          <p:nvPr/>
        </p:nvSpPr>
        <p:spPr>
          <a:xfrm>
            <a:off x="5334000" y="4432300"/>
            <a:ext cx="1143000" cy="215900"/>
          </a:xfrm>
          <a:prstGeom prst="rect">
            <a:avLst/>
          </a:prstGeom>
          <a:noFill/>
        </p:spPr>
        <p:txBody>
          <a:bodyPr wrap="square" lIns="0" tIns="0" rIns="0" bIns="0" anchor="ctr"/>
          <a:lstStyle/>
          <a:p>
            <a:pPr algn="l">
              <a:buNone/>
            </a:pPr>
            <a:r>
              <a:rPr lang="en-US" sz="1000" b="0" dirty="0">
                <a:solidFill>
                  <a:srgbClr val="334155"/>
                </a:solidFill>
                <a:latin typeface="Calibri"/>
              </a:rPr>
              <a:t>Redis cache</a:t>
            </a:r>
          </a:p>
        </p:txBody>
      </p:sp>
      <p:sp>
        <p:nvSpPr>
          <p:cNvPr id="301" name="Dlq301"/>
          <p:cNvSpPr/>
          <p:nvPr/>
        </p:nvSpPr>
        <p:spPr>
          <a:xfrm>
            <a:off x="7493000" y="1447800"/>
            <a:ext cx="1092200" cy="215900"/>
          </a:xfrm>
          <a:prstGeom prst="roundRect">
            <a:avLst>
              <a:gd name="adj" fmla="val 16000"/>
            </a:avLst>
          </a:prstGeom>
          <a:solidFill>
            <a:srgbClr val="FFFFFF"/>
          </a:solidFill>
          <a:ln w="9525">
            <a:solidFill>
              <a:srgbClr val="31417A"/>
            </a:solidFill>
          </a:ln>
        </p:spPr>
        <p:txBody>
          <a:bodyPr wrap="square" lIns="18288" tIns="0" rIns="18288" bIns="0" anchor="ctr"/>
          <a:lstStyle/>
          <a:p>
            <a:pPr algn="ctr">
              <a:buNone/>
            </a:pPr>
            <a:r>
              <a:rPr lang="en-US" sz="1000" b="0" dirty="0">
                <a:solidFill>
                  <a:srgbClr val="31417A"/>
                </a:solidFill>
                <a:latin typeface="Calibri"/>
              </a:rPr>
              <a:t>msb1.dlq</a:t>
            </a:r>
          </a:p>
        </p:txBody>
      </p:sp>
      <p:sp>
        <p:nvSpPr>
          <p:cNvPr id="302" name="Dlq302"/>
          <p:cNvSpPr/>
          <p:nvPr/>
        </p:nvSpPr>
        <p:spPr>
          <a:xfrm>
            <a:off x="7493000" y="2209800"/>
            <a:ext cx="1092200" cy="215900"/>
          </a:xfrm>
          <a:prstGeom prst="roundRect">
            <a:avLst>
              <a:gd name="adj" fmla="val 16000"/>
            </a:avLst>
          </a:prstGeom>
          <a:solidFill>
            <a:srgbClr val="FFFFFF"/>
          </a:solidFill>
          <a:ln w="9525">
            <a:solidFill>
              <a:srgbClr val="31417A"/>
            </a:solidFill>
          </a:ln>
        </p:spPr>
        <p:txBody>
          <a:bodyPr wrap="square" lIns="18288" tIns="0" rIns="18288" bIns="0" anchor="ctr"/>
          <a:lstStyle/>
          <a:p>
            <a:pPr algn="ctr">
              <a:buNone/>
            </a:pPr>
            <a:r>
              <a:rPr lang="en-US" sz="1000" b="0" dirty="0">
                <a:solidFill>
                  <a:srgbClr val="31417A"/>
                </a:solidFill>
                <a:latin typeface="Calibri"/>
              </a:rPr>
              <a:t>msb2.dlq</a:t>
            </a:r>
          </a:p>
        </p:txBody>
      </p:sp>
      <p:sp>
        <p:nvSpPr>
          <p:cNvPr id="303" name="Dlq303"/>
          <p:cNvSpPr/>
          <p:nvPr/>
        </p:nvSpPr>
        <p:spPr>
          <a:xfrm>
            <a:off x="7493000" y="2971800"/>
            <a:ext cx="1092200" cy="215900"/>
          </a:xfrm>
          <a:prstGeom prst="roundRect">
            <a:avLst>
              <a:gd name="adj" fmla="val 16000"/>
            </a:avLst>
          </a:prstGeom>
          <a:solidFill>
            <a:srgbClr val="FFFFFF"/>
          </a:solidFill>
          <a:ln w="9525">
            <a:solidFill>
              <a:srgbClr val="31417A"/>
            </a:solidFill>
          </a:ln>
        </p:spPr>
        <p:txBody>
          <a:bodyPr wrap="square" lIns="18288" tIns="0" rIns="18288" bIns="0" anchor="ctr"/>
          <a:lstStyle/>
          <a:p>
            <a:pPr algn="ctr">
              <a:buNone/>
            </a:pPr>
            <a:r>
              <a:rPr lang="en-US" sz="1000" b="0" dirty="0">
                <a:solidFill>
                  <a:srgbClr val="31417A"/>
                </a:solidFill>
                <a:latin typeface="Calibri"/>
              </a:rPr>
              <a:t>msb3.dlq</a:t>
            </a:r>
          </a:p>
        </p:txBody>
      </p:sp>
      <p:sp>
        <p:nvSpPr>
          <p:cNvPr id="304" name="Dlq304"/>
          <p:cNvSpPr/>
          <p:nvPr/>
        </p:nvSpPr>
        <p:spPr>
          <a:xfrm>
            <a:off x="7493000" y="3733800"/>
            <a:ext cx="1092200" cy="215900"/>
          </a:xfrm>
          <a:prstGeom prst="roundRect">
            <a:avLst>
              <a:gd name="adj" fmla="val 16000"/>
            </a:avLst>
          </a:prstGeom>
          <a:solidFill>
            <a:srgbClr val="FFFFFF"/>
          </a:solidFill>
          <a:ln w="9525">
            <a:solidFill>
              <a:srgbClr val="31417A"/>
            </a:solidFill>
          </a:ln>
        </p:spPr>
        <p:txBody>
          <a:bodyPr wrap="square" lIns="18288" tIns="0" rIns="18288" bIns="0" anchor="ctr"/>
          <a:lstStyle/>
          <a:p>
            <a:pPr algn="ctr">
              <a:buNone/>
            </a:pPr>
            <a:r>
              <a:rPr lang="en-US" sz="1000" b="0" dirty="0">
                <a:solidFill>
                  <a:srgbClr val="31417A"/>
                </a:solidFill>
                <a:latin typeface="Calibri"/>
              </a:rPr>
              <a:t>msb4.dlq</a:t>
            </a:r>
          </a:p>
        </p:txBody>
      </p:sp>
      <p:sp>
        <p:nvSpPr>
          <p:cNvPr id="3" name="L15">
            <a:extLst>
              <a:ext uri="{FF2B5EF4-FFF2-40B4-BE49-F238E27FC236}">
                <a16:creationId xmlns:a16="http://schemas.microsoft.com/office/drawing/2014/main" id="{907F4297-F4FB-970A-72AC-E9904C8A3BF1}"/>
              </a:ext>
            </a:extLst>
          </p:cNvPr>
          <p:cNvSpPr txBox="1"/>
          <p:nvPr/>
        </p:nvSpPr>
        <p:spPr>
          <a:xfrm>
            <a:off x="6896100" y="772160"/>
            <a:ext cx="355600" cy="177800"/>
          </a:xfrm>
          <a:prstGeom prst="rect">
            <a:avLst/>
          </a:prstGeom>
          <a:noFill/>
        </p:spPr>
        <p:txBody>
          <a:bodyPr wrap="square" lIns="0" tIns="0" rIns="0" bIns="0" anchor="ctr"/>
          <a:lstStyle/>
          <a:p>
            <a:pPr algn="ctr">
              <a:buNone/>
            </a:pPr>
            <a:r>
              <a:rPr lang="en-US" sz="1000" b="1" dirty="0">
                <a:solidFill>
                  <a:srgbClr val="1E2761"/>
                </a:solidFill>
                <a:latin typeface="Calibri"/>
              </a:rPr>
              <a:t>ASYNC</a:t>
            </a:r>
          </a:p>
        </p:txBody>
      </p:sp>
    </p:spTree>
    <p:extLst>
      <p:ext uri="{BB962C8B-B14F-4D97-AF65-F5344CB8AC3E}">
        <p14:creationId xmlns:p14="http://schemas.microsoft.com/office/powerpoint/2010/main" val="26577855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11"/>
          <p:cNvSpPr txBox="1"/>
          <p:nvPr/>
        </p:nvSpPr>
        <p:spPr>
          <a:xfrm>
            <a:off x="457200" y="127000"/>
            <a:ext cx="8229600" cy="406400"/>
          </a:xfrm>
          <a:prstGeom prst="rect">
            <a:avLst/>
          </a:prstGeom>
          <a:noFill/>
        </p:spPr>
        <p:txBody>
          <a:bodyPr wrap="square" lIns="0" tIns="0" rIns="0" bIns="0" anchor="ctr"/>
          <a:lstStyle/>
          <a:p>
            <a:pPr algn="l">
              <a:buNone/>
            </a:pPr>
            <a:r>
              <a:rPr lang="en-US" sz="2600" b="1" dirty="0">
                <a:solidFill>
                  <a:srgbClr val="1E2761"/>
                </a:solidFill>
                <a:latin typeface="Cambria"/>
              </a:rPr>
              <a:t>Current Architecture: Inside a single Service</a:t>
            </a:r>
          </a:p>
        </p:txBody>
      </p:sp>
      <p:sp>
        <p:nvSpPr>
          <p:cNvPr id="11" name="L12"/>
          <p:cNvSpPr txBox="1"/>
          <p:nvPr/>
        </p:nvSpPr>
        <p:spPr>
          <a:xfrm>
            <a:off x="457200" y="571500"/>
            <a:ext cx="8229600" cy="203200"/>
          </a:xfrm>
          <a:prstGeom prst="rect">
            <a:avLst/>
          </a:prstGeom>
          <a:noFill/>
        </p:spPr>
        <p:txBody>
          <a:bodyPr wrap="square" lIns="0" tIns="0" rIns="0" bIns="0" anchor="ctr"/>
          <a:lstStyle/>
          <a:p>
            <a:pPr algn="l">
              <a:buNone/>
            </a:pPr>
            <a:r>
              <a:rPr lang="en-US" sz="1100" b="0" dirty="0">
                <a:solidFill>
                  <a:srgbClr val="334155"/>
                </a:solidFill>
                <a:latin typeface="Calibri"/>
              </a:rPr>
              <a:t>Architecture for a single microservice: </a:t>
            </a:r>
            <a:r>
              <a:rPr lang="en-US" sz="1100" b="1" dirty="0">
                <a:solidFill>
                  <a:srgbClr val="334155"/>
                </a:solidFill>
                <a:latin typeface="Calibri"/>
              </a:rPr>
              <a:t>Modular Monolith</a:t>
            </a:r>
            <a:r>
              <a:rPr lang="en-US" sz="1100" b="0" dirty="0">
                <a:solidFill>
                  <a:srgbClr val="334155"/>
                </a:solidFill>
                <a:latin typeface="Calibri"/>
              </a:rPr>
              <a:t> with </a:t>
            </a:r>
            <a:r>
              <a:rPr lang="en-US" sz="1100" b="1" dirty="0">
                <a:solidFill>
                  <a:srgbClr val="334155"/>
                </a:solidFill>
                <a:latin typeface="Calibri"/>
              </a:rPr>
              <a:t>Layered Architecture</a:t>
            </a:r>
          </a:p>
        </p:txBody>
      </p:sp>
      <p:sp>
        <p:nvSpPr>
          <p:cNvPr id="12" name="L13"/>
          <p:cNvSpPr txBox="1"/>
          <p:nvPr/>
        </p:nvSpPr>
        <p:spPr>
          <a:xfrm>
            <a:off x="762000" y="838200"/>
            <a:ext cx="4826000" cy="177800"/>
          </a:xfrm>
          <a:prstGeom prst="rect">
            <a:avLst/>
          </a:prstGeom>
          <a:noFill/>
        </p:spPr>
        <p:txBody>
          <a:bodyPr wrap="square" lIns="0" tIns="0" rIns="0" bIns="0" anchor="ctr"/>
          <a:lstStyle/>
          <a:p>
            <a:pPr algn="ctr">
              <a:buNone/>
            </a:pPr>
            <a:r>
              <a:rPr lang="en-US" sz="1000" b="1" dirty="0">
                <a:solidFill>
                  <a:srgbClr val="4A5578"/>
                </a:solidFill>
                <a:latin typeface="Calibri"/>
              </a:rPr>
              <a:t>ONE MICROSERVICE — VERTICAL LAYER STACK</a:t>
            </a:r>
          </a:p>
        </p:txBody>
      </p:sp>
      <p:sp>
        <p:nvSpPr>
          <p:cNvPr id="13" name="L14"/>
          <p:cNvSpPr txBox="1"/>
          <p:nvPr/>
        </p:nvSpPr>
        <p:spPr>
          <a:xfrm>
            <a:off x="5969000" y="838200"/>
            <a:ext cx="2717800" cy="177800"/>
          </a:xfrm>
          <a:prstGeom prst="rect">
            <a:avLst/>
          </a:prstGeom>
          <a:noFill/>
        </p:spPr>
        <p:txBody>
          <a:bodyPr wrap="square" lIns="0" tIns="0" rIns="0" bIns="0" anchor="ctr"/>
          <a:lstStyle/>
          <a:p>
            <a:pPr algn="ctr">
              <a:buNone/>
            </a:pPr>
            <a:r>
              <a:rPr lang="en-US" sz="1000" b="1" dirty="0">
                <a:solidFill>
                  <a:srgbClr val="4A5578"/>
                </a:solidFill>
                <a:latin typeface="Calibri"/>
              </a:rPr>
              <a:t>CROSS-CUTTING CONCERNS</a:t>
            </a:r>
          </a:p>
        </p:txBody>
      </p:sp>
      <p:sp>
        <p:nvSpPr>
          <p:cNvPr id="14" name="S0"/>
          <p:cNvSpPr/>
          <p:nvPr/>
        </p:nvSpPr>
        <p:spPr>
          <a:xfrm>
            <a:off x="762000" y="1066800"/>
            <a:ext cx="4445000" cy="457200"/>
          </a:xfrm>
          <a:prstGeom prst="roundRect">
            <a:avLst>
              <a:gd name="adj" fmla="val 8000"/>
            </a:avLst>
          </a:prstGeom>
          <a:solidFill>
            <a:srgbClr val="EEF4FE"/>
          </a:solidFill>
          <a:ln w="12700">
            <a:solidFill>
              <a:srgbClr val="5A6BA8"/>
            </a:solidFill>
          </a:ln>
        </p:spPr>
        <p:txBody>
          <a:bodyPr wrap="square" lIns="45720" tIns="27432" rIns="45720" bIns="27432" anchor="ctr"/>
          <a:lstStyle/>
          <a:p>
            <a:pPr algn="ctr">
              <a:buNone/>
            </a:pPr>
            <a:r>
              <a:rPr lang="en-US" sz="1400" b="1" dirty="0">
                <a:solidFill>
                  <a:srgbClr val="1E2761"/>
                </a:solidFill>
                <a:latin typeface="Calibri"/>
              </a:rPr>
              <a:t>Presentation</a:t>
            </a:r>
          </a:p>
          <a:p>
            <a:pPr algn="ctr">
              <a:buNone/>
            </a:pPr>
            <a:r>
              <a:rPr lang="en-US" sz="1000" b="0" dirty="0">
                <a:solidFill>
                  <a:srgbClr val="334155"/>
                </a:solidFill>
                <a:latin typeface="Calibri"/>
              </a:rPr>
              <a:t>API Controllers</a:t>
            </a:r>
          </a:p>
        </p:txBody>
      </p:sp>
      <p:sp>
        <p:nvSpPr>
          <p:cNvPr id="15" name="A0"/>
          <p:cNvSpPr/>
          <p:nvPr/>
        </p:nvSpPr>
        <p:spPr>
          <a:xfrm>
            <a:off x="2882900" y="1536700"/>
            <a:ext cx="203200" cy="127000"/>
          </a:xfrm>
          <a:prstGeom prst="downArrow">
            <a:avLst/>
          </a:prstGeom>
          <a:solidFill>
            <a:srgbClr val="1E2761"/>
          </a:solidFill>
          <a:ln>
            <a:noFill/>
          </a:ln>
        </p:spPr>
        <p:txBody>
          <a:bodyPr/>
          <a:lstStyle/>
          <a:p>
            <a:endParaRPr lang="en-US"/>
          </a:p>
        </p:txBody>
      </p:sp>
      <p:sp>
        <p:nvSpPr>
          <p:cNvPr id="16" name="S1"/>
          <p:cNvSpPr/>
          <p:nvPr/>
        </p:nvSpPr>
        <p:spPr>
          <a:xfrm>
            <a:off x="762000" y="1676400"/>
            <a:ext cx="4445000" cy="457200"/>
          </a:xfrm>
          <a:prstGeom prst="roundRect">
            <a:avLst>
              <a:gd name="adj" fmla="val 8000"/>
            </a:avLst>
          </a:prstGeom>
          <a:solidFill>
            <a:srgbClr val="EEF4FE"/>
          </a:solidFill>
          <a:ln w="12700">
            <a:solidFill>
              <a:srgbClr val="5A6BA8"/>
            </a:solidFill>
          </a:ln>
        </p:spPr>
        <p:txBody>
          <a:bodyPr wrap="square" lIns="45720" tIns="27432" rIns="45720" bIns="27432" anchor="ctr"/>
          <a:lstStyle/>
          <a:p>
            <a:pPr algn="ctr">
              <a:buNone/>
            </a:pPr>
            <a:r>
              <a:rPr lang="en-US" sz="1400" b="1" dirty="0">
                <a:solidFill>
                  <a:srgbClr val="1E2761"/>
                </a:solidFill>
                <a:latin typeface="Calibri"/>
              </a:rPr>
              <a:t>Business Logic Layer</a:t>
            </a:r>
          </a:p>
          <a:p>
            <a:pPr algn="ctr">
              <a:buNone/>
            </a:pPr>
            <a:r>
              <a:rPr lang="en-US" sz="1000" b="0" dirty="0">
                <a:solidFill>
                  <a:srgbClr val="334155"/>
                </a:solidFill>
                <a:latin typeface="Calibri"/>
              </a:rPr>
              <a:t>Services · Domain Exceptions · </a:t>
            </a:r>
            <a:r>
              <a:rPr lang="en-US" sz="1000" dirty="0">
                <a:solidFill>
                  <a:srgbClr val="334155"/>
                </a:solidFill>
              </a:rPr>
              <a:t>Enums · Validations</a:t>
            </a:r>
            <a:endParaRPr lang="en-US" sz="1000" b="0" dirty="0">
              <a:solidFill>
                <a:srgbClr val="334155"/>
              </a:solidFill>
              <a:latin typeface="Calibri"/>
            </a:endParaRPr>
          </a:p>
        </p:txBody>
      </p:sp>
      <p:sp>
        <p:nvSpPr>
          <p:cNvPr id="18" name="S2"/>
          <p:cNvSpPr/>
          <p:nvPr/>
        </p:nvSpPr>
        <p:spPr>
          <a:xfrm>
            <a:off x="762000" y="2286000"/>
            <a:ext cx="4445000" cy="457200"/>
          </a:xfrm>
          <a:prstGeom prst="roundRect">
            <a:avLst>
              <a:gd name="adj" fmla="val 8000"/>
            </a:avLst>
          </a:prstGeom>
          <a:solidFill>
            <a:srgbClr val="EEF4FE"/>
          </a:solidFill>
          <a:ln w="12700">
            <a:solidFill>
              <a:srgbClr val="5A6BA8"/>
            </a:solidFill>
          </a:ln>
        </p:spPr>
        <p:txBody>
          <a:bodyPr wrap="square" lIns="45720" tIns="27432" rIns="45720" bIns="27432" anchor="ctr"/>
          <a:lstStyle/>
          <a:p>
            <a:pPr algn="ctr">
              <a:buNone/>
            </a:pPr>
            <a:r>
              <a:rPr lang="en-US" sz="1400" b="1" dirty="0">
                <a:solidFill>
                  <a:srgbClr val="1E2761"/>
                </a:solidFill>
                <a:latin typeface="Calibri"/>
              </a:rPr>
              <a:t>Handlers</a:t>
            </a:r>
          </a:p>
          <a:p>
            <a:pPr algn="ctr">
              <a:buNone/>
            </a:pPr>
            <a:r>
              <a:rPr lang="en-US" sz="1000" dirty="0">
                <a:solidFill>
                  <a:srgbClr val="334155"/>
                </a:solidFill>
              </a:rPr>
              <a:t>Query/Command/Notification Handlers</a:t>
            </a:r>
            <a:endParaRPr lang="en-US" sz="1000" b="0" dirty="0">
              <a:solidFill>
                <a:srgbClr val="334155"/>
              </a:solidFill>
              <a:latin typeface="Calibri"/>
            </a:endParaRPr>
          </a:p>
        </p:txBody>
      </p:sp>
      <p:sp>
        <p:nvSpPr>
          <p:cNvPr id="19" name="A2"/>
          <p:cNvSpPr/>
          <p:nvPr/>
        </p:nvSpPr>
        <p:spPr>
          <a:xfrm>
            <a:off x="2882900" y="2755900"/>
            <a:ext cx="203200" cy="127000"/>
          </a:xfrm>
          <a:prstGeom prst="downArrow">
            <a:avLst/>
          </a:prstGeom>
          <a:solidFill>
            <a:srgbClr val="1E2761"/>
          </a:solidFill>
          <a:ln>
            <a:noFill/>
          </a:ln>
        </p:spPr>
        <p:txBody>
          <a:bodyPr/>
          <a:lstStyle/>
          <a:p>
            <a:endParaRPr lang="en-US"/>
          </a:p>
        </p:txBody>
      </p:sp>
      <p:sp>
        <p:nvSpPr>
          <p:cNvPr id="20" name="S3"/>
          <p:cNvSpPr/>
          <p:nvPr/>
        </p:nvSpPr>
        <p:spPr>
          <a:xfrm>
            <a:off x="762000" y="2895600"/>
            <a:ext cx="4445000" cy="457200"/>
          </a:xfrm>
          <a:prstGeom prst="roundRect">
            <a:avLst>
              <a:gd name="adj" fmla="val 8000"/>
            </a:avLst>
          </a:prstGeom>
          <a:solidFill>
            <a:srgbClr val="EEF4FE"/>
          </a:solidFill>
          <a:ln w="12700">
            <a:solidFill>
              <a:srgbClr val="5A6BA8"/>
            </a:solidFill>
          </a:ln>
        </p:spPr>
        <p:txBody>
          <a:bodyPr wrap="square" lIns="45720" tIns="27432" rIns="45720" bIns="27432" anchor="ctr"/>
          <a:lstStyle/>
          <a:p>
            <a:pPr algn="ctr">
              <a:buNone/>
            </a:pPr>
            <a:r>
              <a:rPr lang="en-US" sz="1400" b="1" dirty="0">
                <a:solidFill>
                  <a:srgbClr val="1E2761"/>
                </a:solidFill>
                <a:latin typeface="Calibri"/>
              </a:rPr>
              <a:t>Infrastructure</a:t>
            </a:r>
          </a:p>
          <a:p>
            <a:pPr algn="ctr">
              <a:buNone/>
            </a:pPr>
            <a:r>
              <a:rPr lang="en-US" sz="1000" dirty="0">
                <a:solidFill>
                  <a:srgbClr val="334155"/>
                </a:solidFill>
              </a:rPr>
              <a:t>Data Entities · </a:t>
            </a:r>
            <a:r>
              <a:rPr lang="en-US" sz="1000" b="0" dirty="0">
                <a:solidFill>
                  <a:srgbClr val="334155"/>
                </a:solidFill>
                <a:latin typeface="Calibri"/>
              </a:rPr>
              <a:t>Repositories · adapters · clients</a:t>
            </a:r>
          </a:p>
        </p:txBody>
      </p:sp>
      <p:sp>
        <p:nvSpPr>
          <p:cNvPr id="22" name="S4"/>
          <p:cNvSpPr/>
          <p:nvPr/>
        </p:nvSpPr>
        <p:spPr>
          <a:xfrm>
            <a:off x="762000" y="3505200"/>
            <a:ext cx="4445000" cy="939800"/>
          </a:xfrm>
          <a:prstGeom prst="roundRect">
            <a:avLst>
              <a:gd name="adj" fmla="val 8000"/>
            </a:avLst>
          </a:prstGeom>
          <a:solidFill>
            <a:srgbClr val="D6DEF5"/>
          </a:solidFill>
          <a:ln w="12700">
            <a:solidFill>
              <a:srgbClr val="5A6BA8"/>
            </a:solidFill>
          </a:ln>
        </p:spPr>
        <p:txBody>
          <a:bodyPr wrap="square" lIns="45720" tIns="45720" rIns="45720" bIns="27432" anchor="t"/>
          <a:lstStyle/>
          <a:p>
            <a:pPr algn="ctr">
              <a:buNone/>
            </a:pPr>
            <a:r>
              <a:rPr lang="en-US" sz="1000" b="1" dirty="0">
                <a:solidFill>
                  <a:srgbClr val="1E2761"/>
                </a:solidFill>
                <a:latin typeface="Calibri"/>
              </a:rPr>
              <a:t>Data &amp; Integrations</a:t>
            </a:r>
          </a:p>
        </p:txBody>
      </p:sp>
      <p:sp>
        <p:nvSpPr>
          <p:cNvPr id="23" name="XC"/>
          <p:cNvSpPr/>
          <p:nvPr/>
        </p:nvSpPr>
        <p:spPr>
          <a:xfrm>
            <a:off x="5588000" y="1066800"/>
            <a:ext cx="3098800" cy="3378200"/>
          </a:xfrm>
          <a:prstGeom prst="roundRect">
            <a:avLst>
              <a:gd name="adj" fmla="val 8000"/>
            </a:avLst>
          </a:prstGeom>
          <a:noFill/>
          <a:ln w="12700">
            <a:solidFill>
              <a:srgbClr val="5A6BA8"/>
            </a:solidFill>
            <a:prstDash val="dash"/>
          </a:ln>
        </p:spPr>
        <p:txBody>
          <a:bodyPr wrap="square" lIns="45720" tIns="27432" rIns="45720" bIns="27432" anchor="ctr"/>
          <a:lstStyle/>
          <a:p>
            <a:pPr algn="ctr">
              <a:buNone/>
            </a:pPr>
            <a:endParaRPr lang="en-US"/>
          </a:p>
        </p:txBody>
      </p:sp>
      <p:sp>
        <p:nvSpPr>
          <p:cNvPr id="24" name="XCHead"/>
          <p:cNvSpPr/>
          <p:nvPr/>
        </p:nvSpPr>
        <p:spPr>
          <a:xfrm>
            <a:off x="5689600" y="1168400"/>
            <a:ext cx="2895600" cy="279400"/>
          </a:xfrm>
          <a:prstGeom prst="roundRect">
            <a:avLst>
              <a:gd name="adj" fmla="val 12000"/>
            </a:avLst>
          </a:prstGeom>
          <a:solidFill>
            <a:srgbClr val="1E2761"/>
          </a:solidFill>
          <a:ln>
            <a:noFill/>
          </a:ln>
        </p:spPr>
        <p:txBody>
          <a:bodyPr lIns="0" tIns="0" rIns="0" bIns="0" anchor="ctr"/>
          <a:lstStyle/>
          <a:p>
            <a:pPr algn="ctr">
              <a:buNone/>
            </a:pPr>
            <a:r>
              <a:rPr lang="en-US" sz="1000" b="1" dirty="0">
                <a:solidFill>
                  <a:srgbClr val="FFFFFF"/>
                </a:solidFill>
                <a:latin typeface="Calibri"/>
              </a:rPr>
              <a:t>APPLIES TO ALL LAYERS</a:t>
            </a:r>
          </a:p>
        </p:txBody>
      </p:sp>
      <p:sp>
        <p:nvSpPr>
          <p:cNvPr id="25" name="XC0"/>
          <p:cNvSpPr/>
          <p:nvPr/>
        </p:nvSpPr>
        <p:spPr>
          <a:xfrm>
            <a:off x="5715000" y="1701800"/>
            <a:ext cx="2844800" cy="190500"/>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Queries: Requests + Responses</a:t>
            </a:r>
          </a:p>
        </p:txBody>
      </p:sp>
      <p:sp>
        <p:nvSpPr>
          <p:cNvPr id="26" name="XC1"/>
          <p:cNvSpPr/>
          <p:nvPr/>
        </p:nvSpPr>
        <p:spPr>
          <a:xfrm>
            <a:off x="5715000" y="1917700"/>
            <a:ext cx="2844800" cy="190500"/>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Commands</a:t>
            </a:r>
            <a:r>
              <a:rPr lang="en-US" sz="1000" b="1" dirty="0">
                <a:solidFill>
                  <a:srgbClr val="1E2761"/>
                </a:solidFill>
              </a:rPr>
              <a:t> : Requests + Responses</a:t>
            </a:r>
            <a:endParaRPr lang="en-US" sz="1000" b="1" dirty="0">
              <a:solidFill>
                <a:srgbClr val="1E2761"/>
              </a:solidFill>
              <a:latin typeface="Calibri"/>
            </a:endParaRPr>
          </a:p>
        </p:txBody>
      </p:sp>
      <p:sp>
        <p:nvSpPr>
          <p:cNvPr id="27" name="XC2"/>
          <p:cNvSpPr/>
          <p:nvPr/>
        </p:nvSpPr>
        <p:spPr>
          <a:xfrm>
            <a:off x="5715000" y="2133600"/>
            <a:ext cx="2844800" cy="190500"/>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Notifications</a:t>
            </a:r>
          </a:p>
        </p:txBody>
      </p:sp>
      <p:sp>
        <p:nvSpPr>
          <p:cNvPr id="28" name="XC3"/>
          <p:cNvSpPr/>
          <p:nvPr/>
        </p:nvSpPr>
        <p:spPr>
          <a:xfrm>
            <a:off x="5715000" y="2349500"/>
            <a:ext cx="2844800" cy="190500"/>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DTOs</a:t>
            </a:r>
          </a:p>
        </p:txBody>
      </p:sp>
      <p:sp>
        <p:nvSpPr>
          <p:cNvPr id="29" name="XC4"/>
          <p:cNvSpPr/>
          <p:nvPr/>
        </p:nvSpPr>
        <p:spPr>
          <a:xfrm>
            <a:off x="5715000" y="2565400"/>
            <a:ext cx="2844800" cy="190500"/>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Shared Enums</a:t>
            </a:r>
          </a:p>
        </p:txBody>
      </p:sp>
      <p:sp>
        <p:nvSpPr>
          <p:cNvPr id="31" name="L66"/>
          <p:cNvSpPr txBox="1"/>
          <p:nvPr/>
        </p:nvSpPr>
        <p:spPr>
          <a:xfrm>
            <a:off x="457200" y="4597400"/>
            <a:ext cx="8229600" cy="228600"/>
          </a:xfrm>
          <a:prstGeom prst="rect">
            <a:avLst/>
          </a:prstGeom>
          <a:noFill/>
        </p:spPr>
        <p:txBody>
          <a:bodyPr wrap="square" lIns="0" tIns="0" rIns="0" bIns="0" anchor="ctr"/>
          <a:lstStyle/>
          <a:p>
            <a:pPr algn="l">
              <a:buNone/>
            </a:pPr>
            <a:r>
              <a:rPr lang="en-US" sz="1100" b="0" dirty="0">
                <a:solidFill>
                  <a:srgbClr val="334155"/>
                </a:solidFill>
                <a:latin typeface="Calibri"/>
              </a:rPr>
              <a:t>Each layer depends only on the one below  ·  cross-cutting concerns span the whole stack</a:t>
            </a:r>
          </a:p>
        </p:txBody>
      </p:sp>
      <p:sp>
        <p:nvSpPr>
          <p:cNvPr id="200" name="D0"/>
          <p:cNvSpPr/>
          <p:nvPr/>
        </p:nvSpPr>
        <p:spPr>
          <a:xfrm>
            <a:off x="838200" y="3759200"/>
            <a:ext cx="812800" cy="609600"/>
          </a:xfrm>
          <a:prstGeom prst="roundRect">
            <a:avLst>
              <a:gd name="adj" fmla="val 10000"/>
            </a:avLst>
          </a:prstGeom>
          <a:solidFill>
            <a:srgbClr val="FFFFFF"/>
          </a:solidFill>
          <a:ln w="12700">
            <a:solidFill>
              <a:srgbClr val="C3D4F2"/>
            </a:solidFill>
          </a:ln>
        </p:spPr>
        <p:txBody>
          <a:bodyPr wrap="square" lIns="18288" tIns="18288" rIns="18288" bIns="18288" anchor="b"/>
          <a:lstStyle/>
          <a:p>
            <a:pPr algn="ctr">
              <a:buNone/>
            </a:pPr>
            <a:r>
              <a:rPr lang="en-US" sz="1000" b="1" dirty="0">
                <a:solidFill>
                  <a:srgbClr val="1E2761"/>
                </a:solidFill>
                <a:latin typeface="Calibri"/>
              </a:rPr>
              <a:t>Oracle Enterprise</a:t>
            </a:r>
          </a:p>
        </p:txBody>
      </p:sp>
      <p:sp>
        <p:nvSpPr>
          <p:cNvPr id="201" name="D1"/>
          <p:cNvSpPr/>
          <p:nvPr/>
        </p:nvSpPr>
        <p:spPr>
          <a:xfrm>
            <a:off x="1701800" y="3759200"/>
            <a:ext cx="812800" cy="609600"/>
          </a:xfrm>
          <a:prstGeom prst="roundRect">
            <a:avLst>
              <a:gd name="adj" fmla="val 10000"/>
            </a:avLst>
          </a:prstGeom>
          <a:solidFill>
            <a:srgbClr val="FFFFFF"/>
          </a:solidFill>
          <a:ln w="12700">
            <a:solidFill>
              <a:srgbClr val="C3D4F2"/>
            </a:solidFill>
          </a:ln>
        </p:spPr>
        <p:txBody>
          <a:bodyPr wrap="square" lIns="18288" tIns="18288" rIns="18288" bIns="18288" anchor="b"/>
          <a:lstStyle/>
          <a:p>
            <a:pPr algn="ctr">
              <a:buNone/>
            </a:pPr>
            <a:r>
              <a:rPr lang="en-US" sz="1000" b="1" dirty="0">
                <a:solidFill>
                  <a:srgbClr val="1E2761"/>
                </a:solidFill>
                <a:latin typeface="Calibri"/>
              </a:rPr>
              <a:t>MongoDB</a:t>
            </a:r>
          </a:p>
        </p:txBody>
      </p:sp>
      <p:sp>
        <p:nvSpPr>
          <p:cNvPr id="202" name="D2"/>
          <p:cNvSpPr/>
          <p:nvPr/>
        </p:nvSpPr>
        <p:spPr>
          <a:xfrm>
            <a:off x="2565400" y="3759200"/>
            <a:ext cx="812800" cy="609600"/>
          </a:xfrm>
          <a:prstGeom prst="roundRect">
            <a:avLst>
              <a:gd name="adj" fmla="val 10000"/>
            </a:avLst>
          </a:prstGeom>
          <a:solidFill>
            <a:srgbClr val="FFFFFF"/>
          </a:solidFill>
          <a:ln w="12700">
            <a:solidFill>
              <a:srgbClr val="C3D4F2"/>
            </a:solidFill>
          </a:ln>
        </p:spPr>
        <p:txBody>
          <a:bodyPr wrap="square" lIns="18288" tIns="18288" rIns="18288" bIns="18288" anchor="b"/>
          <a:lstStyle/>
          <a:p>
            <a:pPr algn="ctr">
              <a:buNone/>
            </a:pPr>
            <a:r>
              <a:rPr lang="en-US" sz="1000" b="1" dirty="0">
                <a:solidFill>
                  <a:srgbClr val="1E2761"/>
                </a:solidFill>
                <a:latin typeface="Calibri"/>
              </a:rPr>
              <a:t>Redis</a:t>
            </a:r>
          </a:p>
        </p:txBody>
      </p:sp>
      <p:sp>
        <p:nvSpPr>
          <p:cNvPr id="203" name="D3"/>
          <p:cNvSpPr/>
          <p:nvPr/>
        </p:nvSpPr>
        <p:spPr>
          <a:xfrm>
            <a:off x="4292600" y="3759200"/>
            <a:ext cx="812800" cy="609600"/>
          </a:xfrm>
          <a:prstGeom prst="roundRect">
            <a:avLst>
              <a:gd name="adj" fmla="val 10000"/>
            </a:avLst>
          </a:prstGeom>
          <a:solidFill>
            <a:srgbClr val="FFFFFF"/>
          </a:solidFill>
          <a:ln w="12700">
            <a:solidFill>
              <a:srgbClr val="C3D4F2"/>
            </a:solidFill>
          </a:ln>
        </p:spPr>
        <p:txBody>
          <a:bodyPr wrap="square" lIns="18288" tIns="18288" rIns="18288" bIns="18288" anchor="b"/>
          <a:lstStyle/>
          <a:p>
            <a:pPr algn="ctr">
              <a:buNone/>
            </a:pPr>
            <a:r>
              <a:rPr lang="en-US" sz="1000" b="1" dirty="0">
                <a:solidFill>
                  <a:srgbClr val="1E2761"/>
                </a:solidFill>
                <a:latin typeface="Calibri"/>
              </a:rPr>
              <a:t>External Services</a:t>
            </a:r>
          </a:p>
        </p:txBody>
      </p:sp>
      <p:sp>
        <p:nvSpPr>
          <p:cNvPr id="204" name="C0"/>
          <p:cNvSpPr/>
          <p:nvPr/>
        </p:nvSpPr>
        <p:spPr>
          <a:xfrm>
            <a:off x="5219700" y="1295400"/>
            <a:ext cx="342900" cy="0"/>
          </a:xfrm>
          <a:prstGeom prst="line">
            <a:avLst/>
          </a:prstGeom>
          <a:ln w="12700">
            <a:solidFill>
              <a:srgbClr val="5A6BA8"/>
            </a:solidFill>
            <a:prstDash val="sysDash"/>
            <a:tailEnd type="triangle" w="med" len="med"/>
          </a:ln>
        </p:spPr>
        <p:txBody>
          <a:bodyPr/>
          <a:lstStyle/>
          <a:p>
            <a:endParaRPr lang="en-US"/>
          </a:p>
        </p:txBody>
      </p:sp>
      <p:sp>
        <p:nvSpPr>
          <p:cNvPr id="205" name="C1"/>
          <p:cNvSpPr/>
          <p:nvPr/>
        </p:nvSpPr>
        <p:spPr>
          <a:xfrm>
            <a:off x="5219700" y="1905000"/>
            <a:ext cx="342900" cy="0"/>
          </a:xfrm>
          <a:prstGeom prst="line">
            <a:avLst/>
          </a:prstGeom>
          <a:ln w="12700">
            <a:solidFill>
              <a:srgbClr val="5A6BA8"/>
            </a:solidFill>
            <a:prstDash val="sysDash"/>
            <a:tailEnd type="triangle" w="med" len="med"/>
          </a:ln>
        </p:spPr>
        <p:txBody>
          <a:bodyPr/>
          <a:lstStyle/>
          <a:p>
            <a:endParaRPr lang="en-US"/>
          </a:p>
        </p:txBody>
      </p:sp>
      <p:sp>
        <p:nvSpPr>
          <p:cNvPr id="206" name="C2"/>
          <p:cNvSpPr/>
          <p:nvPr/>
        </p:nvSpPr>
        <p:spPr>
          <a:xfrm>
            <a:off x="5219700" y="2514600"/>
            <a:ext cx="342900" cy="0"/>
          </a:xfrm>
          <a:prstGeom prst="line">
            <a:avLst/>
          </a:prstGeom>
          <a:ln w="12700">
            <a:solidFill>
              <a:srgbClr val="5A6BA8"/>
            </a:solidFill>
            <a:prstDash val="sysDash"/>
            <a:tailEnd type="triangle" w="med" len="med"/>
          </a:ln>
        </p:spPr>
        <p:txBody>
          <a:bodyPr/>
          <a:lstStyle/>
          <a:p>
            <a:endParaRPr lang="en-US"/>
          </a:p>
        </p:txBody>
      </p:sp>
      <p:sp>
        <p:nvSpPr>
          <p:cNvPr id="207" name="C3"/>
          <p:cNvSpPr/>
          <p:nvPr/>
        </p:nvSpPr>
        <p:spPr>
          <a:xfrm>
            <a:off x="5219700" y="3124200"/>
            <a:ext cx="342900" cy="0"/>
          </a:xfrm>
          <a:prstGeom prst="line">
            <a:avLst/>
          </a:prstGeom>
          <a:ln w="12700">
            <a:solidFill>
              <a:srgbClr val="5A6BA8"/>
            </a:solidFill>
            <a:prstDash val="sysDash"/>
            <a:tailEnd type="triangle" w="med" len="med"/>
          </a:ln>
        </p:spPr>
        <p:txBody>
          <a:bodyPr/>
          <a:lstStyle/>
          <a:p>
            <a:endParaRPr lang="en-US"/>
          </a:p>
        </p:txBody>
      </p:sp>
      <p:sp>
        <p:nvSpPr>
          <p:cNvPr id="208" name="C4"/>
          <p:cNvSpPr/>
          <p:nvPr/>
        </p:nvSpPr>
        <p:spPr>
          <a:xfrm>
            <a:off x="5219700" y="3975100"/>
            <a:ext cx="342900" cy="0"/>
          </a:xfrm>
          <a:prstGeom prst="line">
            <a:avLst/>
          </a:prstGeom>
          <a:ln w="12700">
            <a:solidFill>
              <a:srgbClr val="5A6BA8"/>
            </a:solidFill>
            <a:prstDash val="sysDash"/>
            <a:tailEnd type="triangle" w="med" len="med"/>
          </a:ln>
        </p:spPr>
        <p:txBody>
          <a:bodyPr/>
          <a:lstStyle/>
          <a:p>
            <a:endParaRPr lang="en-US"/>
          </a:p>
        </p:txBody>
      </p:sp>
      <p:sp>
        <p:nvSpPr>
          <p:cNvPr id="400" name="A3"/>
          <p:cNvSpPr/>
          <p:nvPr/>
        </p:nvSpPr>
        <p:spPr>
          <a:xfrm>
            <a:off x="2882900" y="3365500"/>
            <a:ext cx="203200" cy="127000"/>
          </a:xfrm>
          <a:prstGeom prst="downArrow">
            <a:avLst/>
          </a:prstGeom>
          <a:solidFill>
            <a:srgbClr val="1E2761"/>
          </a:solidFill>
          <a:ln>
            <a:noFill/>
          </a:ln>
        </p:spPr>
        <p:txBody>
          <a:bodyPr/>
          <a:lstStyle/>
          <a:p>
            <a:endParaRPr lang="en-US"/>
          </a:p>
        </p:txBody>
      </p:sp>
      <p:sp>
        <p:nvSpPr>
          <p:cNvPr id="401" name="GOracle"/>
          <p:cNvSpPr/>
          <p:nvPr/>
        </p:nvSpPr>
        <p:spPr>
          <a:xfrm>
            <a:off x="1143000" y="3797300"/>
            <a:ext cx="203200" cy="215900"/>
          </a:xfrm>
          <a:prstGeom prst="can">
            <a:avLst/>
          </a:prstGeom>
          <a:solidFill>
            <a:srgbClr val="1E2761"/>
          </a:solidFill>
          <a:ln>
            <a:noFill/>
          </a:ln>
        </p:spPr>
        <p:txBody>
          <a:bodyPr/>
          <a:lstStyle/>
          <a:p>
            <a:endParaRPr lang="en-US"/>
          </a:p>
        </p:txBody>
      </p:sp>
      <p:sp>
        <p:nvSpPr>
          <p:cNvPr id="402" name="GMongo"/>
          <p:cNvSpPr/>
          <p:nvPr/>
        </p:nvSpPr>
        <p:spPr>
          <a:xfrm>
            <a:off x="2006600" y="3797300"/>
            <a:ext cx="203200" cy="215900"/>
          </a:xfrm>
          <a:prstGeom prst="teardrop">
            <a:avLst/>
          </a:prstGeom>
          <a:solidFill>
            <a:srgbClr val="1E2761"/>
          </a:solidFill>
          <a:ln>
            <a:noFill/>
          </a:ln>
        </p:spPr>
        <p:txBody>
          <a:bodyPr/>
          <a:lstStyle/>
          <a:p>
            <a:endParaRPr lang="en-US"/>
          </a:p>
        </p:txBody>
      </p:sp>
      <p:sp>
        <p:nvSpPr>
          <p:cNvPr id="403" name="GRedis"/>
          <p:cNvSpPr/>
          <p:nvPr/>
        </p:nvSpPr>
        <p:spPr>
          <a:xfrm>
            <a:off x="2870200" y="3797300"/>
            <a:ext cx="203200" cy="215900"/>
          </a:xfrm>
          <a:prstGeom prst="lightningBolt">
            <a:avLst/>
          </a:prstGeom>
          <a:solidFill>
            <a:srgbClr val="1E2761"/>
          </a:solidFill>
          <a:ln>
            <a:noFill/>
          </a:ln>
        </p:spPr>
        <p:txBody>
          <a:bodyPr/>
          <a:lstStyle/>
          <a:p>
            <a:endParaRPr lang="en-US"/>
          </a:p>
        </p:txBody>
      </p:sp>
      <p:sp>
        <p:nvSpPr>
          <p:cNvPr id="404" name="GApi"/>
          <p:cNvSpPr/>
          <p:nvPr/>
        </p:nvSpPr>
        <p:spPr>
          <a:xfrm>
            <a:off x="4597400" y="3822700"/>
            <a:ext cx="203200" cy="152400"/>
          </a:xfrm>
          <a:prstGeom prst="cloud">
            <a:avLst/>
          </a:prstGeom>
          <a:solidFill>
            <a:srgbClr val="1E2761"/>
          </a:solidFill>
          <a:ln>
            <a:noFill/>
          </a:ln>
        </p:spPr>
        <p:txBody>
          <a:bodyPr/>
          <a:lstStyle/>
          <a:p>
            <a:endParaRPr lang="en-US"/>
          </a:p>
        </p:txBody>
      </p:sp>
      <p:sp>
        <p:nvSpPr>
          <p:cNvPr id="500" name="D4"/>
          <p:cNvSpPr/>
          <p:nvPr/>
        </p:nvSpPr>
        <p:spPr>
          <a:xfrm>
            <a:off x="3429000" y="3759200"/>
            <a:ext cx="812800" cy="609600"/>
          </a:xfrm>
          <a:prstGeom prst="roundRect">
            <a:avLst>
              <a:gd name="adj" fmla="val 10000"/>
            </a:avLst>
          </a:prstGeom>
          <a:solidFill>
            <a:srgbClr val="FFFFFF"/>
          </a:solidFill>
          <a:ln w="12700">
            <a:solidFill>
              <a:srgbClr val="C3D4F2"/>
            </a:solidFill>
          </a:ln>
        </p:spPr>
        <p:txBody>
          <a:bodyPr wrap="square" lIns="18288" tIns="9144" rIns="18288" bIns="9144" anchor="b"/>
          <a:lstStyle/>
          <a:p>
            <a:pPr algn="ctr">
              <a:buNone/>
            </a:pPr>
            <a:r>
              <a:rPr lang="en-US" sz="1000" b="1" dirty="0">
                <a:solidFill>
                  <a:srgbClr val="1E2761"/>
                </a:solidFill>
                <a:latin typeface="Calibri"/>
              </a:rPr>
              <a:t>Kafka</a:t>
            </a:r>
          </a:p>
        </p:txBody>
      </p:sp>
      <p:sp>
        <p:nvSpPr>
          <p:cNvPr id="501" name="GKafka"/>
          <p:cNvSpPr/>
          <p:nvPr/>
        </p:nvSpPr>
        <p:spPr>
          <a:xfrm>
            <a:off x="3733800" y="3797300"/>
            <a:ext cx="203200" cy="215900"/>
          </a:xfrm>
          <a:prstGeom prst="chevron">
            <a:avLst/>
          </a:prstGeom>
          <a:solidFill>
            <a:srgbClr val="1E2761"/>
          </a:solidFill>
          <a:ln>
            <a:noFill/>
          </a:ln>
        </p:spPr>
        <p:txBody>
          <a:bodyPr/>
          <a:lstStyle/>
          <a:p>
            <a:endParaRPr lang="en-US"/>
          </a:p>
        </p:txBody>
      </p:sp>
      <p:sp>
        <p:nvSpPr>
          <p:cNvPr id="502" name="XCL1"/>
          <p:cNvSpPr txBox="1"/>
          <p:nvPr/>
        </p:nvSpPr>
        <p:spPr>
          <a:xfrm>
            <a:off x="5715000" y="1511300"/>
            <a:ext cx="2844800" cy="152400"/>
          </a:xfrm>
          <a:prstGeom prst="rect">
            <a:avLst/>
          </a:prstGeom>
          <a:noFill/>
        </p:spPr>
        <p:txBody>
          <a:bodyPr wrap="square" lIns="0" tIns="0" rIns="0" bIns="0" anchor="ctr"/>
          <a:lstStyle/>
          <a:p>
            <a:pPr algn="l">
              <a:buNone/>
            </a:pPr>
            <a:r>
              <a:rPr lang="en-US" sz="1000" b="1" dirty="0">
                <a:solidFill>
                  <a:srgbClr val="4A5578"/>
                </a:solidFill>
                <a:latin typeface="Calibri"/>
              </a:rPr>
              <a:t>SHARED MODELS</a:t>
            </a:r>
          </a:p>
        </p:txBody>
      </p:sp>
      <p:sp>
        <p:nvSpPr>
          <p:cNvPr id="503" name="XCL2"/>
          <p:cNvSpPr txBox="1"/>
          <p:nvPr/>
        </p:nvSpPr>
        <p:spPr>
          <a:xfrm>
            <a:off x="5715000" y="2832100"/>
            <a:ext cx="2844800" cy="152400"/>
          </a:xfrm>
          <a:prstGeom prst="rect">
            <a:avLst/>
          </a:prstGeom>
          <a:noFill/>
        </p:spPr>
        <p:txBody>
          <a:bodyPr wrap="square" lIns="0" tIns="0" rIns="0" bIns="0" anchor="ctr"/>
          <a:lstStyle/>
          <a:p>
            <a:pPr algn="l">
              <a:buNone/>
            </a:pPr>
            <a:r>
              <a:rPr lang="en-US" sz="1000" b="1" dirty="0">
                <a:solidFill>
                  <a:srgbClr val="4A5578"/>
                </a:solidFill>
                <a:latin typeface="Calibri"/>
              </a:rPr>
              <a:t>TECHNICAL CONCERNS</a:t>
            </a:r>
          </a:p>
        </p:txBody>
      </p:sp>
      <p:sp>
        <p:nvSpPr>
          <p:cNvPr id="504" name="XN0"/>
          <p:cNvSpPr/>
          <p:nvPr/>
        </p:nvSpPr>
        <p:spPr>
          <a:xfrm>
            <a:off x="5715000" y="3022600"/>
            <a:ext cx="2844800" cy="190500"/>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buNone/>
            </a:pPr>
            <a:r>
              <a:rPr lang="en-US" sz="1000" b="1" dirty="0">
                <a:solidFill>
                  <a:srgbClr val="1E2761"/>
                </a:solidFill>
                <a:latin typeface="Calibri"/>
              </a:rPr>
              <a:t>Security · AuthN / AuthZ</a:t>
            </a:r>
          </a:p>
        </p:txBody>
      </p:sp>
      <p:sp>
        <p:nvSpPr>
          <p:cNvPr id="505" name="XN1"/>
          <p:cNvSpPr/>
          <p:nvPr/>
        </p:nvSpPr>
        <p:spPr>
          <a:xfrm>
            <a:off x="5715000" y="3238500"/>
            <a:ext cx="2844800" cy="190500"/>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r>
              <a:rPr lang="en-US" sz="1000" b="1" dirty="0">
                <a:solidFill>
                  <a:srgbClr val="1E2761"/>
                </a:solidFill>
                <a:latin typeface="Calibri"/>
              </a:rPr>
              <a:t>Observability: Logging </a:t>
            </a:r>
            <a:r>
              <a:rPr lang="en-US" sz="1000" b="1" dirty="0">
                <a:solidFill>
                  <a:srgbClr val="1E2761"/>
                </a:solidFill>
              </a:rPr>
              <a:t>· Tracing </a:t>
            </a:r>
            <a:r>
              <a:rPr lang="en-US" sz="1000" b="1">
                <a:solidFill>
                  <a:srgbClr val="1E2761"/>
                </a:solidFill>
              </a:rPr>
              <a:t>· Metrics</a:t>
            </a:r>
            <a:endParaRPr lang="en-US" sz="1000" b="1" dirty="0">
              <a:solidFill>
                <a:srgbClr val="1E2761"/>
              </a:solidFill>
              <a:latin typeface="Calibri"/>
            </a:endParaRPr>
          </a:p>
        </p:txBody>
      </p:sp>
      <p:sp>
        <p:nvSpPr>
          <p:cNvPr id="507" name="XN3"/>
          <p:cNvSpPr/>
          <p:nvPr/>
        </p:nvSpPr>
        <p:spPr>
          <a:xfrm>
            <a:off x="5715000" y="3670300"/>
            <a:ext cx="2844800" cy="190500"/>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buNone/>
            </a:pPr>
            <a:r>
              <a:rPr lang="en-US" sz="1000" b="1" dirty="0">
                <a:solidFill>
                  <a:srgbClr val="1E2761"/>
                </a:solidFill>
                <a:latin typeface="Calibri"/>
              </a:rPr>
              <a:t>Config · Secrets</a:t>
            </a:r>
          </a:p>
        </p:txBody>
      </p:sp>
      <p:sp>
        <p:nvSpPr>
          <p:cNvPr id="508" name="XN4"/>
          <p:cNvSpPr/>
          <p:nvPr/>
        </p:nvSpPr>
        <p:spPr>
          <a:xfrm>
            <a:off x="5715000" y="3886200"/>
            <a:ext cx="2844800" cy="190500"/>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buNone/>
            </a:pPr>
            <a:r>
              <a:rPr lang="en-US" sz="1000" b="1" dirty="0">
                <a:solidFill>
                  <a:srgbClr val="1E2761"/>
                </a:solidFill>
                <a:latin typeface="Calibri"/>
              </a:rPr>
              <a:t>Exception handling · retries</a:t>
            </a:r>
          </a:p>
        </p:txBody>
      </p:sp>
      <p:sp>
        <p:nvSpPr>
          <p:cNvPr id="509" name="XN5"/>
          <p:cNvSpPr/>
          <p:nvPr/>
        </p:nvSpPr>
        <p:spPr>
          <a:xfrm>
            <a:off x="5715000" y="4102100"/>
            <a:ext cx="2844800" cy="190500"/>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buNone/>
            </a:pPr>
            <a:r>
              <a:rPr lang="en-US" sz="1000" b="1" dirty="0">
                <a:solidFill>
                  <a:srgbClr val="1E2761"/>
                </a:solidFill>
                <a:latin typeface="Calibri"/>
              </a:rPr>
              <a:t>Health Checks</a:t>
            </a:r>
          </a:p>
        </p:txBody>
      </p:sp>
    </p:spTree>
    <p:extLst>
      <p:ext uri="{BB962C8B-B14F-4D97-AF65-F5344CB8AC3E}">
        <p14:creationId xmlns:p14="http://schemas.microsoft.com/office/powerpoint/2010/main" val="2464973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Card40"/>
          <p:cNvSpPr/>
          <p:nvPr/>
        </p:nvSpPr>
        <p:spPr>
          <a:xfrm>
            <a:off x="457200" y="1041400"/>
            <a:ext cx="4089400" cy="3276600"/>
          </a:xfrm>
          <a:prstGeom prst="rect">
            <a:avLst/>
          </a:prstGeom>
          <a:solidFill>
            <a:srgbClr val="EFF3FC"/>
          </a:solidFill>
          <a:ln w="9525">
            <a:solidFill>
              <a:srgbClr val="C7D2F0"/>
            </a:solidFill>
          </a:ln>
        </p:spPr>
        <p:txBody>
          <a:bodyPr/>
          <a:lstStyle/>
          <a:p>
            <a:endParaRPr/>
          </a:p>
        </p:txBody>
      </p:sp>
      <p:sp>
        <p:nvSpPr>
          <p:cNvPr id="41" name="Card41"/>
          <p:cNvSpPr/>
          <p:nvPr/>
        </p:nvSpPr>
        <p:spPr>
          <a:xfrm>
            <a:off x="4724400" y="1041400"/>
            <a:ext cx="3962400" cy="3276600"/>
          </a:xfrm>
          <a:prstGeom prst="rect">
            <a:avLst/>
          </a:prstGeom>
          <a:solidFill>
            <a:srgbClr val="EFF3FC"/>
          </a:solidFill>
          <a:ln w="9525">
            <a:solidFill>
              <a:srgbClr val="C7D2F0"/>
            </a:solidFill>
          </a:ln>
        </p:spPr>
        <p:txBody>
          <a:bodyPr/>
          <a:lstStyle/>
          <a:p>
            <a:endParaRPr/>
          </a:p>
        </p:txBody>
      </p:sp>
      <p:sp>
        <p:nvSpPr>
          <p:cNvPr id="42" name="Head42"/>
          <p:cNvSpPr/>
          <p:nvPr/>
        </p:nvSpPr>
        <p:spPr>
          <a:xfrm>
            <a:off x="457200" y="1041400"/>
            <a:ext cx="4089400" cy="330200"/>
          </a:xfrm>
          <a:prstGeom prst="rect">
            <a:avLst/>
          </a:prstGeom>
          <a:solidFill>
            <a:srgbClr val="1E2761"/>
          </a:solidFill>
          <a:ln>
            <a:noFill/>
          </a:ln>
        </p:spPr>
        <p:txBody>
          <a:bodyPr wrap="square" lIns="0" tIns="0" rIns="0" bIns="0" anchor="ctr"/>
          <a:lstStyle/>
          <a:p>
            <a:pPr algn="ctr">
              <a:buNone/>
            </a:pPr>
            <a:r>
              <a:rPr lang="en-US" sz="1300" b="1" dirty="0">
                <a:solidFill>
                  <a:srgbClr val="FFFFFF"/>
                </a:solidFill>
                <a:latin typeface="Calibri"/>
              </a:rPr>
              <a:t>COUPLING</a:t>
            </a:r>
          </a:p>
        </p:txBody>
      </p:sp>
      <p:sp>
        <p:nvSpPr>
          <p:cNvPr id="43" name="Head43"/>
          <p:cNvSpPr/>
          <p:nvPr/>
        </p:nvSpPr>
        <p:spPr>
          <a:xfrm>
            <a:off x="4724400" y="1041400"/>
            <a:ext cx="3962400" cy="330200"/>
          </a:xfrm>
          <a:prstGeom prst="rect">
            <a:avLst/>
          </a:prstGeom>
          <a:solidFill>
            <a:srgbClr val="1E2761"/>
          </a:solidFill>
          <a:ln>
            <a:noFill/>
          </a:ln>
        </p:spPr>
        <p:txBody>
          <a:bodyPr wrap="square" lIns="0" tIns="0" rIns="0" bIns="0" anchor="ctr"/>
          <a:lstStyle/>
          <a:p>
            <a:pPr algn="ctr">
              <a:buNone/>
            </a:pPr>
            <a:r>
              <a:rPr lang="en-US" sz="1300" b="1" dirty="0">
                <a:solidFill>
                  <a:srgbClr val="FFFFFF"/>
                </a:solidFill>
                <a:latin typeface="Calibri"/>
              </a:rPr>
              <a:t>COHESION</a:t>
            </a:r>
          </a:p>
        </p:txBody>
      </p:sp>
      <p:sp>
        <p:nvSpPr>
          <p:cNvPr id="2" name="TextBox 1">
            <a:extLst>
              <a:ext uri="{FF2B5EF4-FFF2-40B4-BE49-F238E27FC236}">
                <a16:creationId xmlns:a16="http://schemas.microsoft.com/office/drawing/2014/main" id="{288828FF-3869-9225-8F5C-35844D62CCB0}"/>
              </a:ext>
            </a:extLst>
          </p:cNvPr>
          <p:cNvSpPr txBox="1"/>
          <p:nvPr/>
        </p:nvSpPr>
        <p:spPr>
          <a:xfrm>
            <a:off x="457200" y="101600"/>
            <a:ext cx="5418406" cy="523220"/>
          </a:xfrm>
          <a:prstGeom prst="rect">
            <a:avLst/>
          </a:prstGeom>
          <a:noFill/>
        </p:spPr>
        <p:txBody>
          <a:bodyPr wrap="none" rtlCol="0">
            <a:spAutoFit/>
          </a:bodyPr>
          <a:lstStyle/>
          <a:p>
            <a:pPr algn="l">
              <a:buNone/>
            </a:pPr>
            <a:r>
              <a:rPr lang="en-US" sz="2600" b="1" dirty="0">
                <a:solidFill>
                  <a:srgbClr val="1E2761"/>
                </a:solidFill>
                <a:latin typeface="Cambria"/>
              </a:rPr>
              <a:t>The problem: </a:t>
            </a:r>
            <a:r>
              <a:rPr lang="en-US" sz="2800" b="1" dirty="0">
                <a:solidFill>
                  <a:srgbClr val="334155"/>
                </a:solidFill>
              </a:rPr>
              <a:t>Coupling &amp; Cohesion</a:t>
            </a:r>
          </a:p>
        </p:txBody>
      </p:sp>
      <p:sp>
        <p:nvSpPr>
          <p:cNvPr id="3" name="TextBox 2">
            <a:extLst>
              <a:ext uri="{FF2B5EF4-FFF2-40B4-BE49-F238E27FC236}">
                <a16:creationId xmlns:a16="http://schemas.microsoft.com/office/drawing/2014/main" id="{7393955C-5535-1028-6401-746E56EF2B64}"/>
              </a:ext>
            </a:extLst>
          </p:cNvPr>
          <p:cNvSpPr txBox="1"/>
          <p:nvPr/>
        </p:nvSpPr>
        <p:spPr>
          <a:xfrm>
            <a:off x="609600" y="1473200"/>
            <a:ext cx="3784600" cy="1015663"/>
          </a:xfrm>
          <a:prstGeom prst="rect">
            <a:avLst/>
          </a:prstGeom>
          <a:noFill/>
        </p:spPr>
        <p:txBody>
          <a:bodyPr wrap="square" rtlCol="0">
            <a:spAutoFit/>
          </a:bodyPr>
          <a:lstStyle/>
          <a:p>
            <a:pPr algn="l">
              <a:lnSpc>
                <a:spcPts val="1600"/>
              </a:lnSpc>
              <a:buNone/>
            </a:pPr>
            <a:r>
              <a:rPr lang="en-US" sz="1400" b="1" dirty="0">
                <a:solidFill>
                  <a:srgbClr val="1E2761"/>
                </a:solidFill>
                <a:latin typeface="Calibri"/>
              </a:rPr>
              <a:t>Already low-coupled. </a:t>
            </a:r>
            <a:r>
              <a:rPr lang="en-US" sz="1400" dirty="0">
                <a:solidFill>
                  <a:srgbClr val="1E293B"/>
                </a:solidFill>
                <a:latin typeface="Calibri"/>
              </a:rPr>
              <a:t>Mediator pattern + CQRS with an abstraction layer between the layers.</a:t>
            </a:r>
          </a:p>
          <a:p>
            <a:pPr algn="l">
              <a:lnSpc>
                <a:spcPts val="1600"/>
              </a:lnSpc>
              <a:spcBef>
                <a:spcPts val="800"/>
              </a:spcBef>
              <a:buNone/>
            </a:pPr>
            <a:r>
              <a:rPr lang="en-US" sz="1400" b="1" dirty="0">
                <a:solidFill>
                  <a:srgbClr val="0E7C86"/>
                </a:solidFill>
                <a:latin typeface="Calibri"/>
              </a:rPr>
              <a:t>Decoupled across microservices. </a:t>
            </a:r>
            <a:r>
              <a:rPr lang="en-US" sz="1400" dirty="0">
                <a:solidFill>
                  <a:srgbClr val="1E293B"/>
                </a:solidFill>
                <a:latin typeface="Calibri"/>
              </a:rPr>
              <a:t>Communication via asynchronous messaging.</a:t>
            </a:r>
          </a:p>
        </p:txBody>
      </p:sp>
      <p:sp>
        <p:nvSpPr>
          <p:cNvPr id="4" name="TextBox 3">
            <a:extLst>
              <a:ext uri="{FF2B5EF4-FFF2-40B4-BE49-F238E27FC236}">
                <a16:creationId xmlns:a16="http://schemas.microsoft.com/office/drawing/2014/main" id="{006C12AE-B948-77F3-546E-DE1B1BCA05BA}"/>
              </a:ext>
            </a:extLst>
          </p:cNvPr>
          <p:cNvSpPr txBox="1"/>
          <p:nvPr/>
        </p:nvSpPr>
        <p:spPr>
          <a:xfrm>
            <a:off x="457200" y="558800"/>
            <a:ext cx="8229600" cy="261610"/>
          </a:xfrm>
          <a:prstGeom prst="rect">
            <a:avLst/>
          </a:prstGeom>
          <a:noFill/>
        </p:spPr>
        <p:txBody>
          <a:bodyPr wrap="square" rtlCol="0">
            <a:spAutoFit/>
          </a:bodyPr>
          <a:lstStyle/>
          <a:p>
            <a:pPr algn="l">
              <a:buNone/>
            </a:pPr>
            <a:r>
              <a:rPr lang="en-US" sz="1100" b="0" dirty="0">
                <a:solidFill>
                  <a:srgbClr val="334155"/>
                </a:solidFill>
                <a:latin typeface="Calibri"/>
              </a:rPr>
              <a:t>The core goal of any architecture: </a:t>
            </a:r>
            <a:r>
              <a:rPr lang="en-US" sz="1100" b="1" dirty="0">
                <a:solidFill>
                  <a:srgbClr val="334155"/>
                </a:solidFill>
                <a:latin typeface="Calibri"/>
              </a:rPr>
              <a:t>loose coupling or decoupling</a:t>
            </a:r>
            <a:r>
              <a:rPr lang="en-US" sz="1100" b="0" dirty="0">
                <a:solidFill>
                  <a:srgbClr val="334155"/>
                </a:solidFill>
                <a:latin typeface="Calibri"/>
              </a:rPr>
              <a:t> and </a:t>
            </a:r>
            <a:r>
              <a:rPr lang="en-US" sz="1100" b="1" dirty="0">
                <a:solidFill>
                  <a:srgbClr val="334155"/>
                </a:solidFill>
                <a:latin typeface="Calibri"/>
              </a:rPr>
              <a:t>high cohesion</a:t>
            </a:r>
          </a:p>
        </p:txBody>
      </p:sp>
      <p:sp>
        <p:nvSpPr>
          <p:cNvPr id="6" name="TextBox 5">
            <a:extLst>
              <a:ext uri="{FF2B5EF4-FFF2-40B4-BE49-F238E27FC236}">
                <a16:creationId xmlns:a16="http://schemas.microsoft.com/office/drawing/2014/main" id="{F8199F44-9633-BAC2-20A0-80C6E0345ACE}"/>
              </a:ext>
            </a:extLst>
          </p:cNvPr>
          <p:cNvSpPr txBox="1"/>
          <p:nvPr/>
        </p:nvSpPr>
        <p:spPr>
          <a:xfrm>
            <a:off x="4876800" y="1473200"/>
            <a:ext cx="3657600" cy="1733808"/>
          </a:xfrm>
          <a:prstGeom prst="rect">
            <a:avLst/>
          </a:prstGeom>
          <a:noFill/>
        </p:spPr>
        <p:txBody>
          <a:bodyPr wrap="square" rtlCol="0">
            <a:spAutoFit/>
          </a:bodyPr>
          <a:lstStyle/>
          <a:p>
            <a:pPr algn="l">
              <a:lnSpc>
                <a:spcPts val="1600"/>
              </a:lnSpc>
              <a:buNone/>
            </a:pPr>
            <a:r>
              <a:rPr lang="en-US" sz="1400" dirty="0">
                <a:solidFill>
                  <a:srgbClr val="1E293B"/>
                </a:solidFill>
                <a:latin typeface="Calibri"/>
              </a:rPr>
              <a:t>Domain boundaries are currently scattered across technical layers.</a:t>
            </a:r>
          </a:p>
          <a:p>
            <a:pPr algn="l">
              <a:lnSpc>
                <a:spcPts val="1600"/>
              </a:lnSpc>
              <a:spcBef>
                <a:spcPts val="800"/>
              </a:spcBef>
              <a:buNone/>
            </a:pPr>
            <a:r>
              <a:rPr lang="en-US" sz="1400" b="1" dirty="0">
                <a:solidFill>
                  <a:srgbClr val="1E2761"/>
                </a:solidFill>
                <a:latin typeface="Calibri"/>
              </a:rPr>
              <a:t>Fix: </a:t>
            </a:r>
            <a:r>
              <a:rPr lang="en-US" sz="1400" dirty="0">
                <a:solidFill>
                  <a:srgbClr val="1E293B"/>
                </a:solidFill>
                <a:latin typeface="Calibri"/>
              </a:rPr>
              <a:t>segregate each Bounded Context into its own project — higher cohesion, smaller blast radius.</a:t>
            </a:r>
          </a:p>
          <a:p>
            <a:pPr algn="l">
              <a:lnSpc>
                <a:spcPts val="1600"/>
              </a:lnSpc>
              <a:spcBef>
                <a:spcPts val="800"/>
              </a:spcBef>
              <a:buNone/>
            </a:pPr>
            <a:r>
              <a:rPr lang="en-US" sz="1400" b="1" dirty="0">
                <a:solidFill>
                  <a:srgbClr val="1E2761"/>
                </a:solidFill>
                <a:latin typeface="Calibri"/>
              </a:rPr>
              <a:t>Next: </a:t>
            </a:r>
            <a:r>
              <a:rPr lang="en-US" sz="1400" dirty="0">
                <a:solidFill>
                  <a:srgbClr val="1E293B"/>
                </a:solidFill>
                <a:latin typeface="Calibri"/>
              </a:rPr>
              <a:t>define the Bounded Contexts and how each communicates.</a:t>
            </a:r>
          </a:p>
        </p:txBody>
      </p:sp>
      <p:sp>
        <p:nvSpPr>
          <p:cNvPr id="60" name="Footer"/>
          <p:cNvSpPr/>
          <p:nvPr/>
        </p:nvSpPr>
        <p:spPr>
          <a:xfrm>
            <a:off x="457200" y="4546600"/>
            <a:ext cx="8229600" cy="228600"/>
          </a:xfrm>
          <a:prstGeom prst="rect">
            <a:avLst/>
          </a:prstGeom>
          <a:noFill/>
        </p:spPr>
        <p:txBody>
          <a:bodyPr wrap="square"/>
          <a:lstStyle/>
          <a:p>
            <a:pPr algn="l">
              <a:buNone/>
            </a:pPr>
            <a:r>
              <a:rPr lang="en-US" sz="1100" b="0" dirty="0">
                <a:solidFill>
                  <a:srgbClr val="334155"/>
                </a:solidFill>
                <a:latin typeface="Calibri"/>
              </a:rPr>
              <a:t>Two forces guiding the move toward Bounded Contexts</a:t>
            </a:r>
          </a:p>
        </p:txBody>
      </p:sp>
    </p:spTree>
    <p:extLst>
      <p:ext uri="{BB962C8B-B14F-4D97-AF65-F5344CB8AC3E}">
        <p14:creationId xmlns:p14="http://schemas.microsoft.com/office/powerpoint/2010/main" val="161659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D1493-F05D-6723-A135-7EEFC2CF6457}"/>
            </a:ext>
          </a:extLst>
        </p:cNvPr>
        <p:cNvGrpSpPr/>
        <p:nvPr/>
      </p:nvGrpSpPr>
      <p:grpSpPr>
        <a:xfrm>
          <a:off x="0" y="0"/>
          <a:ext cx="0" cy="0"/>
          <a:chOff x="0" y="0"/>
          <a:chExt cx="0" cy="0"/>
        </a:xfrm>
      </p:grpSpPr>
      <p:sp>
        <p:nvSpPr>
          <p:cNvPr id="10" name="L11">
            <a:extLst>
              <a:ext uri="{FF2B5EF4-FFF2-40B4-BE49-F238E27FC236}">
                <a16:creationId xmlns:a16="http://schemas.microsoft.com/office/drawing/2014/main" id="{8879D113-7A97-9302-FF47-2F370F61E460}"/>
              </a:ext>
            </a:extLst>
          </p:cNvPr>
          <p:cNvSpPr txBox="1"/>
          <p:nvPr/>
        </p:nvSpPr>
        <p:spPr>
          <a:xfrm>
            <a:off x="457200" y="127000"/>
            <a:ext cx="8229600" cy="406400"/>
          </a:xfrm>
          <a:prstGeom prst="rect">
            <a:avLst/>
          </a:prstGeom>
          <a:noFill/>
        </p:spPr>
        <p:txBody>
          <a:bodyPr wrap="square" lIns="0" tIns="0" rIns="0" bIns="0" anchor="ctr"/>
          <a:lstStyle/>
          <a:p>
            <a:r>
              <a:rPr lang="en-US" sz="2600" b="1" dirty="0">
                <a:solidFill>
                  <a:srgbClr val="1E2761"/>
                </a:solidFill>
                <a:latin typeface="Cambria"/>
              </a:rPr>
              <a:t>Proposal 1: </a:t>
            </a:r>
            <a:r>
              <a:rPr lang="en-US" sz="2800" b="1" dirty="0">
                <a:solidFill>
                  <a:srgbClr val="334155"/>
                </a:solidFill>
              </a:rPr>
              <a:t>Vertical Slice Architecture</a:t>
            </a:r>
          </a:p>
        </p:txBody>
      </p:sp>
      <p:sp>
        <p:nvSpPr>
          <p:cNvPr id="11" name="L12">
            <a:extLst>
              <a:ext uri="{FF2B5EF4-FFF2-40B4-BE49-F238E27FC236}">
                <a16:creationId xmlns:a16="http://schemas.microsoft.com/office/drawing/2014/main" id="{22105EA8-50B9-1A04-CDA0-CD6C74BEA9F5}"/>
              </a:ext>
            </a:extLst>
          </p:cNvPr>
          <p:cNvSpPr txBox="1"/>
          <p:nvPr/>
        </p:nvSpPr>
        <p:spPr>
          <a:xfrm>
            <a:off x="457200" y="571500"/>
            <a:ext cx="8229600" cy="203200"/>
          </a:xfrm>
          <a:prstGeom prst="rect">
            <a:avLst/>
          </a:prstGeom>
          <a:noFill/>
        </p:spPr>
        <p:txBody>
          <a:bodyPr wrap="square" lIns="0" tIns="0" rIns="0" bIns="0" anchor="ctr"/>
          <a:lstStyle/>
          <a:p>
            <a:pPr algn="l">
              <a:buNone/>
            </a:pPr>
            <a:r>
              <a:rPr lang="en-US" sz="1100" b="0" dirty="0">
                <a:solidFill>
                  <a:srgbClr val="334155"/>
                </a:solidFill>
                <a:latin typeface="Calibri"/>
              </a:rPr>
              <a:t>Architecture for a single microservice: </a:t>
            </a:r>
            <a:r>
              <a:rPr lang="en-US" sz="1100" b="1" dirty="0">
                <a:solidFill>
                  <a:srgbClr val="334155"/>
                </a:solidFill>
                <a:latin typeface="Calibri"/>
              </a:rPr>
              <a:t>each project is a business capability; layers live as folders inside the slice</a:t>
            </a:r>
          </a:p>
        </p:txBody>
      </p:sp>
      <p:sp>
        <p:nvSpPr>
          <p:cNvPr id="12" name="L13">
            <a:extLst>
              <a:ext uri="{FF2B5EF4-FFF2-40B4-BE49-F238E27FC236}">
                <a16:creationId xmlns:a16="http://schemas.microsoft.com/office/drawing/2014/main" id="{AC0150F8-EDAA-F982-18A6-BB8E39314F00}"/>
              </a:ext>
            </a:extLst>
          </p:cNvPr>
          <p:cNvSpPr txBox="1"/>
          <p:nvPr/>
        </p:nvSpPr>
        <p:spPr>
          <a:xfrm>
            <a:off x="762000" y="838200"/>
            <a:ext cx="4826000" cy="177800"/>
          </a:xfrm>
          <a:prstGeom prst="rect">
            <a:avLst/>
          </a:prstGeom>
          <a:noFill/>
        </p:spPr>
        <p:txBody>
          <a:bodyPr wrap="square" lIns="0" tIns="0" rIns="0" bIns="0" anchor="ctr"/>
          <a:lstStyle/>
          <a:p>
            <a:pPr algn="l">
              <a:buNone/>
            </a:pPr>
            <a:r>
              <a:rPr lang="en-US" sz="900" b="1" dirty="0">
                <a:solidFill>
                  <a:srgbClr val="1E2761"/>
                </a:solidFill>
                <a:latin typeface="Calibri"/>
              </a:rPr>
              <a:t>ONE MICROSERVICE — VERTICAL SLICES (1 SLICE = 1 .NET PROJECT · FOLDERS = LAYERS)</a:t>
            </a:r>
          </a:p>
        </p:txBody>
      </p:sp>
      <p:sp>
        <p:nvSpPr>
          <p:cNvPr id="13" name="L14">
            <a:extLst>
              <a:ext uri="{FF2B5EF4-FFF2-40B4-BE49-F238E27FC236}">
                <a16:creationId xmlns:a16="http://schemas.microsoft.com/office/drawing/2014/main" id="{145A93C7-F0C6-2F8E-694E-F5A6971C91C5}"/>
              </a:ext>
            </a:extLst>
          </p:cNvPr>
          <p:cNvSpPr txBox="1"/>
          <p:nvPr/>
        </p:nvSpPr>
        <p:spPr>
          <a:xfrm>
            <a:off x="5969000" y="838200"/>
            <a:ext cx="2717800" cy="177800"/>
          </a:xfrm>
          <a:prstGeom prst="rect">
            <a:avLst/>
          </a:prstGeom>
          <a:noFill/>
        </p:spPr>
        <p:txBody>
          <a:bodyPr wrap="square" lIns="0" tIns="0" rIns="0" bIns="0" anchor="ctr"/>
          <a:lstStyle/>
          <a:p>
            <a:pPr algn="ctr">
              <a:buNone/>
            </a:pPr>
            <a:r>
              <a:rPr lang="en-US" sz="1000" b="1" dirty="0">
                <a:solidFill>
                  <a:srgbClr val="4A5578"/>
                </a:solidFill>
                <a:latin typeface="Calibri"/>
              </a:rPr>
              <a:t>CROSS-CUTTING CONCERNS</a:t>
            </a:r>
          </a:p>
        </p:txBody>
      </p:sp>
      <p:sp>
        <p:nvSpPr>
          <p:cNvPr id="14" name="S0">
            <a:extLst>
              <a:ext uri="{FF2B5EF4-FFF2-40B4-BE49-F238E27FC236}">
                <a16:creationId xmlns:a16="http://schemas.microsoft.com/office/drawing/2014/main" id="{EEE34140-9B61-ED98-2B99-5DD2563FCC40}"/>
              </a:ext>
            </a:extLst>
          </p:cNvPr>
          <p:cNvSpPr/>
          <p:nvPr/>
        </p:nvSpPr>
        <p:spPr>
          <a:xfrm>
            <a:off x="762000" y="1066800"/>
            <a:ext cx="4445000" cy="457200"/>
          </a:xfrm>
          <a:prstGeom prst="roundRect">
            <a:avLst>
              <a:gd name="adj" fmla="val 8000"/>
            </a:avLst>
          </a:prstGeom>
          <a:solidFill>
            <a:srgbClr val="EEF4FE"/>
          </a:solidFill>
          <a:ln w="12700">
            <a:solidFill>
              <a:srgbClr val="5A6BA8"/>
            </a:solidFill>
          </a:ln>
        </p:spPr>
        <p:txBody>
          <a:bodyPr wrap="square" lIns="45720" tIns="27432" rIns="45720" bIns="27432" anchor="ctr"/>
          <a:lstStyle/>
          <a:p>
            <a:pPr algn="ctr">
              <a:buNone/>
            </a:pPr>
            <a:r>
              <a:rPr lang="en-US" sz="1100" b="1" dirty="0">
                <a:solidFill>
                  <a:srgbClr val="1E2761"/>
                </a:solidFill>
                <a:latin typeface="Calibri"/>
              </a:rPr>
              <a:t>API Host (composition root)</a:t>
            </a:r>
          </a:p>
          <a:p>
            <a:pPr algn="ctr">
              <a:buNone/>
            </a:pPr>
            <a:r>
              <a:rPr lang="en-US" sz="1000" b="0" dirty="0">
                <a:solidFill>
                  <a:srgbClr val="334155"/>
                </a:solidFill>
                <a:latin typeface="Calibri"/>
              </a:rPr>
              <a:t>Routes each request into exactly one slice</a:t>
            </a:r>
          </a:p>
        </p:txBody>
      </p:sp>
      <p:sp>
        <p:nvSpPr>
          <p:cNvPr id="15" name="A0">
            <a:extLst>
              <a:ext uri="{FF2B5EF4-FFF2-40B4-BE49-F238E27FC236}">
                <a16:creationId xmlns:a16="http://schemas.microsoft.com/office/drawing/2014/main" id="{12504B65-780E-E6DE-BEA0-A314D5F36B72}"/>
              </a:ext>
            </a:extLst>
          </p:cNvPr>
          <p:cNvSpPr/>
          <p:nvPr/>
        </p:nvSpPr>
        <p:spPr>
          <a:xfrm>
            <a:off x="1371600" y="1524000"/>
            <a:ext cx="203200" cy="127000"/>
          </a:xfrm>
          <a:prstGeom prst="downArrow">
            <a:avLst/>
          </a:prstGeom>
          <a:solidFill>
            <a:srgbClr val="1E2761"/>
          </a:solidFill>
          <a:ln>
            <a:noFill/>
          </a:ln>
        </p:spPr>
        <p:txBody>
          <a:bodyPr/>
          <a:lstStyle/>
          <a:p>
            <a:endParaRPr lang="en-US"/>
          </a:p>
        </p:txBody>
      </p:sp>
      <p:sp>
        <p:nvSpPr>
          <p:cNvPr id="16" name="S1">
            <a:extLst>
              <a:ext uri="{FF2B5EF4-FFF2-40B4-BE49-F238E27FC236}">
                <a16:creationId xmlns:a16="http://schemas.microsoft.com/office/drawing/2014/main" id="{3EC34695-A06F-704E-0D59-1F5C0D2BDC21}"/>
              </a:ext>
            </a:extLst>
          </p:cNvPr>
          <p:cNvSpPr/>
          <p:nvPr/>
        </p:nvSpPr>
        <p:spPr>
          <a:xfrm>
            <a:off x="762000" y="1676400"/>
            <a:ext cx="1422400" cy="1803400"/>
          </a:xfrm>
          <a:prstGeom prst="roundRect">
            <a:avLst>
              <a:gd name="adj" fmla="val 8000"/>
            </a:avLst>
          </a:prstGeom>
          <a:solidFill>
            <a:srgbClr val="F5F8FF"/>
          </a:solidFill>
          <a:ln w="9525">
            <a:solidFill>
              <a:srgbClr val="1E2761"/>
            </a:solidFill>
          </a:ln>
        </p:spPr>
        <p:txBody>
          <a:bodyPr wrap="square" lIns="45720" tIns="27432" rIns="45720" bIns="27432" anchor="ctr"/>
          <a:lstStyle/>
          <a:p>
            <a:pPr>
              <a:buNone/>
            </a:pPr>
            <a:endParaRPr lang="en-US" sz="900"/>
          </a:p>
        </p:txBody>
      </p:sp>
      <p:sp>
        <p:nvSpPr>
          <p:cNvPr id="20" name="S3">
            <a:extLst>
              <a:ext uri="{FF2B5EF4-FFF2-40B4-BE49-F238E27FC236}">
                <a16:creationId xmlns:a16="http://schemas.microsoft.com/office/drawing/2014/main" id="{BF1CE1A7-E616-CE16-5B8A-70B0DD424A64}"/>
              </a:ext>
            </a:extLst>
          </p:cNvPr>
          <p:cNvSpPr/>
          <p:nvPr/>
        </p:nvSpPr>
        <p:spPr>
          <a:xfrm>
            <a:off x="3784600" y="1676400"/>
            <a:ext cx="1422400" cy="1803400"/>
          </a:xfrm>
          <a:prstGeom prst="roundRect">
            <a:avLst>
              <a:gd name="adj" fmla="val 8000"/>
            </a:avLst>
          </a:prstGeom>
          <a:solidFill>
            <a:srgbClr val="F5F8FF"/>
          </a:solidFill>
          <a:ln w="9525">
            <a:solidFill>
              <a:srgbClr val="1E2761"/>
            </a:solidFill>
          </a:ln>
        </p:spPr>
        <p:txBody>
          <a:bodyPr wrap="square" lIns="45720" tIns="27432" rIns="45720" bIns="27432" anchor="ctr"/>
          <a:lstStyle/>
          <a:p>
            <a:pPr>
              <a:buNone/>
            </a:pPr>
            <a:endParaRPr lang="en-US" sz="900"/>
          </a:p>
        </p:txBody>
      </p:sp>
      <p:sp>
        <p:nvSpPr>
          <p:cNvPr id="22" name="S4">
            <a:extLst>
              <a:ext uri="{FF2B5EF4-FFF2-40B4-BE49-F238E27FC236}">
                <a16:creationId xmlns:a16="http://schemas.microsoft.com/office/drawing/2014/main" id="{6D4E9E46-AC05-9B3D-57B8-15AAC103C421}"/>
              </a:ext>
            </a:extLst>
          </p:cNvPr>
          <p:cNvSpPr/>
          <p:nvPr/>
        </p:nvSpPr>
        <p:spPr>
          <a:xfrm>
            <a:off x="762000" y="3505200"/>
            <a:ext cx="4445000" cy="939800"/>
          </a:xfrm>
          <a:prstGeom prst="roundRect">
            <a:avLst>
              <a:gd name="adj" fmla="val 8000"/>
            </a:avLst>
          </a:prstGeom>
          <a:solidFill>
            <a:srgbClr val="D6DEF5"/>
          </a:solidFill>
          <a:ln w="12700">
            <a:solidFill>
              <a:srgbClr val="5A6BA8"/>
            </a:solidFill>
          </a:ln>
        </p:spPr>
        <p:txBody>
          <a:bodyPr wrap="square" lIns="45720" tIns="45720" rIns="45720" bIns="27432" anchor="t"/>
          <a:lstStyle/>
          <a:p>
            <a:pPr algn="ctr">
              <a:buNone/>
            </a:pPr>
            <a:r>
              <a:rPr lang="en-US" sz="1000" b="1" dirty="0">
                <a:solidFill>
                  <a:srgbClr val="1E2761"/>
                </a:solidFill>
                <a:latin typeface="Calibri"/>
              </a:rPr>
              <a:t>Data &amp; Integrations</a:t>
            </a:r>
          </a:p>
        </p:txBody>
      </p:sp>
      <p:sp>
        <p:nvSpPr>
          <p:cNvPr id="31" name="L66">
            <a:extLst>
              <a:ext uri="{FF2B5EF4-FFF2-40B4-BE49-F238E27FC236}">
                <a16:creationId xmlns:a16="http://schemas.microsoft.com/office/drawing/2014/main" id="{086BC3A7-F82F-C35C-A4BA-E92702D67295}"/>
              </a:ext>
            </a:extLst>
          </p:cNvPr>
          <p:cNvSpPr txBox="1"/>
          <p:nvPr/>
        </p:nvSpPr>
        <p:spPr>
          <a:xfrm>
            <a:off x="457200" y="4597400"/>
            <a:ext cx="8229600" cy="228600"/>
          </a:xfrm>
          <a:prstGeom prst="rect">
            <a:avLst/>
          </a:prstGeom>
          <a:noFill/>
        </p:spPr>
        <p:txBody>
          <a:bodyPr wrap="square" lIns="0" tIns="0" rIns="0" bIns="0" anchor="ctr"/>
          <a:lstStyle/>
          <a:p>
            <a:pPr algn="l">
              <a:buNone/>
            </a:pPr>
            <a:r>
              <a:rPr lang="en-US" sz="1100" b="0" dirty="0">
                <a:solidFill>
                  <a:srgbClr val="334155"/>
                </a:solidFill>
                <a:latin typeface="Calibri"/>
              </a:rPr>
              <a:t>No slice references another  ·  they coordinate only via CQRS  </a:t>
            </a:r>
          </a:p>
        </p:txBody>
      </p:sp>
      <p:sp>
        <p:nvSpPr>
          <p:cNvPr id="200" name="D0">
            <a:extLst>
              <a:ext uri="{FF2B5EF4-FFF2-40B4-BE49-F238E27FC236}">
                <a16:creationId xmlns:a16="http://schemas.microsoft.com/office/drawing/2014/main" id="{4CA54841-8044-2070-8E03-1CA9F4EF2B63}"/>
              </a:ext>
            </a:extLst>
          </p:cNvPr>
          <p:cNvSpPr/>
          <p:nvPr/>
        </p:nvSpPr>
        <p:spPr>
          <a:xfrm>
            <a:off x="838200" y="3759200"/>
            <a:ext cx="812800" cy="609600"/>
          </a:xfrm>
          <a:prstGeom prst="roundRect">
            <a:avLst>
              <a:gd name="adj" fmla="val 10000"/>
            </a:avLst>
          </a:prstGeom>
          <a:solidFill>
            <a:srgbClr val="FFFFFF"/>
          </a:solidFill>
          <a:ln w="12700">
            <a:solidFill>
              <a:srgbClr val="C3D4F2"/>
            </a:solidFill>
          </a:ln>
        </p:spPr>
        <p:txBody>
          <a:bodyPr wrap="square" lIns="18288" tIns="18288" rIns="18288" bIns="18288" anchor="b"/>
          <a:lstStyle/>
          <a:p>
            <a:pPr algn="ctr">
              <a:buNone/>
            </a:pPr>
            <a:r>
              <a:rPr lang="en-US" sz="1000" b="1" dirty="0">
                <a:solidFill>
                  <a:srgbClr val="1E2761"/>
                </a:solidFill>
                <a:latin typeface="Calibri"/>
              </a:rPr>
              <a:t>Oracle Enterprise</a:t>
            </a:r>
          </a:p>
        </p:txBody>
      </p:sp>
      <p:sp>
        <p:nvSpPr>
          <p:cNvPr id="201" name="D1">
            <a:extLst>
              <a:ext uri="{FF2B5EF4-FFF2-40B4-BE49-F238E27FC236}">
                <a16:creationId xmlns:a16="http://schemas.microsoft.com/office/drawing/2014/main" id="{0AF02B62-9E4B-CBC7-1D90-AD697553C5EC}"/>
              </a:ext>
            </a:extLst>
          </p:cNvPr>
          <p:cNvSpPr/>
          <p:nvPr/>
        </p:nvSpPr>
        <p:spPr>
          <a:xfrm>
            <a:off x="1701800" y="3759200"/>
            <a:ext cx="812800" cy="609600"/>
          </a:xfrm>
          <a:prstGeom prst="roundRect">
            <a:avLst>
              <a:gd name="adj" fmla="val 10000"/>
            </a:avLst>
          </a:prstGeom>
          <a:solidFill>
            <a:srgbClr val="FFFFFF"/>
          </a:solidFill>
          <a:ln w="12700">
            <a:solidFill>
              <a:srgbClr val="C3D4F2"/>
            </a:solidFill>
          </a:ln>
        </p:spPr>
        <p:txBody>
          <a:bodyPr wrap="square" lIns="18288" tIns="18288" rIns="18288" bIns="18288" anchor="b"/>
          <a:lstStyle/>
          <a:p>
            <a:pPr algn="ctr">
              <a:buNone/>
            </a:pPr>
            <a:r>
              <a:rPr lang="en-US" sz="1000" b="1" dirty="0">
                <a:solidFill>
                  <a:srgbClr val="1E2761"/>
                </a:solidFill>
                <a:latin typeface="Calibri"/>
              </a:rPr>
              <a:t>MongoDB</a:t>
            </a:r>
          </a:p>
        </p:txBody>
      </p:sp>
      <p:sp>
        <p:nvSpPr>
          <p:cNvPr id="202" name="D2">
            <a:extLst>
              <a:ext uri="{FF2B5EF4-FFF2-40B4-BE49-F238E27FC236}">
                <a16:creationId xmlns:a16="http://schemas.microsoft.com/office/drawing/2014/main" id="{35175B3D-A583-399A-24E5-81F091480D9B}"/>
              </a:ext>
            </a:extLst>
          </p:cNvPr>
          <p:cNvSpPr/>
          <p:nvPr/>
        </p:nvSpPr>
        <p:spPr>
          <a:xfrm>
            <a:off x="2565400" y="3759200"/>
            <a:ext cx="812800" cy="609600"/>
          </a:xfrm>
          <a:prstGeom prst="roundRect">
            <a:avLst>
              <a:gd name="adj" fmla="val 10000"/>
            </a:avLst>
          </a:prstGeom>
          <a:solidFill>
            <a:srgbClr val="FFFFFF"/>
          </a:solidFill>
          <a:ln w="12700">
            <a:solidFill>
              <a:srgbClr val="C3D4F2"/>
            </a:solidFill>
          </a:ln>
        </p:spPr>
        <p:txBody>
          <a:bodyPr wrap="square" lIns="18288" tIns="18288" rIns="18288" bIns="18288" anchor="b"/>
          <a:lstStyle/>
          <a:p>
            <a:pPr algn="ctr">
              <a:buNone/>
            </a:pPr>
            <a:r>
              <a:rPr lang="en-US" sz="1000" b="1" dirty="0">
                <a:solidFill>
                  <a:srgbClr val="1E2761"/>
                </a:solidFill>
                <a:latin typeface="Calibri"/>
              </a:rPr>
              <a:t>Redis</a:t>
            </a:r>
          </a:p>
        </p:txBody>
      </p:sp>
      <p:sp>
        <p:nvSpPr>
          <p:cNvPr id="203" name="D3">
            <a:extLst>
              <a:ext uri="{FF2B5EF4-FFF2-40B4-BE49-F238E27FC236}">
                <a16:creationId xmlns:a16="http://schemas.microsoft.com/office/drawing/2014/main" id="{FCFE83D1-94C8-FBF0-5DE9-48460F56B906}"/>
              </a:ext>
            </a:extLst>
          </p:cNvPr>
          <p:cNvSpPr/>
          <p:nvPr/>
        </p:nvSpPr>
        <p:spPr>
          <a:xfrm>
            <a:off x="4292600" y="3759200"/>
            <a:ext cx="812800" cy="609600"/>
          </a:xfrm>
          <a:prstGeom prst="roundRect">
            <a:avLst>
              <a:gd name="adj" fmla="val 10000"/>
            </a:avLst>
          </a:prstGeom>
          <a:solidFill>
            <a:srgbClr val="FFFFFF"/>
          </a:solidFill>
          <a:ln w="12700">
            <a:solidFill>
              <a:srgbClr val="C3D4F2"/>
            </a:solidFill>
          </a:ln>
        </p:spPr>
        <p:txBody>
          <a:bodyPr wrap="square" lIns="18288" tIns="18288" rIns="18288" bIns="18288" anchor="b"/>
          <a:lstStyle/>
          <a:p>
            <a:pPr algn="ctr">
              <a:buNone/>
            </a:pPr>
            <a:r>
              <a:rPr lang="en-US" sz="1000" b="1" dirty="0">
                <a:solidFill>
                  <a:srgbClr val="1E2761"/>
                </a:solidFill>
                <a:latin typeface="Calibri"/>
              </a:rPr>
              <a:t>External Services</a:t>
            </a:r>
          </a:p>
        </p:txBody>
      </p:sp>
      <p:sp>
        <p:nvSpPr>
          <p:cNvPr id="204" name="C0">
            <a:extLst>
              <a:ext uri="{FF2B5EF4-FFF2-40B4-BE49-F238E27FC236}">
                <a16:creationId xmlns:a16="http://schemas.microsoft.com/office/drawing/2014/main" id="{6FED0EB9-3035-1004-0180-15AB41E4B0BB}"/>
              </a:ext>
            </a:extLst>
          </p:cNvPr>
          <p:cNvSpPr/>
          <p:nvPr/>
        </p:nvSpPr>
        <p:spPr>
          <a:xfrm>
            <a:off x="5219700" y="1295399"/>
            <a:ext cx="787080" cy="1"/>
          </a:xfrm>
          <a:prstGeom prst="line">
            <a:avLst/>
          </a:prstGeom>
          <a:ln w="12700">
            <a:solidFill>
              <a:srgbClr val="5A6BA8"/>
            </a:solidFill>
            <a:prstDash val="solid"/>
            <a:tailEnd type="triangle" w="med" len="med"/>
          </a:ln>
        </p:spPr>
        <p:txBody>
          <a:bodyPr/>
          <a:lstStyle/>
          <a:p>
            <a:endParaRPr lang="en-US"/>
          </a:p>
        </p:txBody>
      </p:sp>
      <p:sp>
        <p:nvSpPr>
          <p:cNvPr id="206" name="C2">
            <a:extLst>
              <a:ext uri="{FF2B5EF4-FFF2-40B4-BE49-F238E27FC236}">
                <a16:creationId xmlns:a16="http://schemas.microsoft.com/office/drawing/2014/main" id="{B3DA3EE9-5C66-E4FB-495E-8B4D333322EF}"/>
              </a:ext>
            </a:extLst>
          </p:cNvPr>
          <p:cNvSpPr/>
          <p:nvPr/>
        </p:nvSpPr>
        <p:spPr>
          <a:xfrm>
            <a:off x="5219700" y="2514600"/>
            <a:ext cx="787080" cy="0"/>
          </a:xfrm>
          <a:prstGeom prst="line">
            <a:avLst/>
          </a:prstGeom>
          <a:ln w="12700">
            <a:solidFill>
              <a:srgbClr val="5A6BA8"/>
            </a:solidFill>
            <a:prstDash val="solid"/>
            <a:tailEnd type="triangle" w="med" len="med"/>
          </a:ln>
        </p:spPr>
        <p:txBody>
          <a:bodyPr/>
          <a:lstStyle/>
          <a:p>
            <a:endParaRPr lang="en-US"/>
          </a:p>
        </p:txBody>
      </p:sp>
      <p:sp>
        <p:nvSpPr>
          <p:cNvPr id="400" name="A3">
            <a:extLst>
              <a:ext uri="{FF2B5EF4-FFF2-40B4-BE49-F238E27FC236}">
                <a16:creationId xmlns:a16="http://schemas.microsoft.com/office/drawing/2014/main" id="{ECA8EBD6-73DF-3DAD-ADD4-45E79823D6EC}"/>
              </a:ext>
            </a:extLst>
          </p:cNvPr>
          <p:cNvSpPr/>
          <p:nvPr/>
        </p:nvSpPr>
        <p:spPr>
          <a:xfrm>
            <a:off x="4394200" y="1524000"/>
            <a:ext cx="203200" cy="127000"/>
          </a:xfrm>
          <a:prstGeom prst="downArrow">
            <a:avLst/>
          </a:prstGeom>
          <a:solidFill>
            <a:srgbClr val="1E2761"/>
          </a:solidFill>
          <a:ln>
            <a:noFill/>
          </a:ln>
        </p:spPr>
        <p:txBody>
          <a:bodyPr/>
          <a:lstStyle/>
          <a:p>
            <a:endParaRPr lang="en-US"/>
          </a:p>
        </p:txBody>
      </p:sp>
      <p:sp>
        <p:nvSpPr>
          <p:cNvPr id="401" name="GOracle">
            <a:extLst>
              <a:ext uri="{FF2B5EF4-FFF2-40B4-BE49-F238E27FC236}">
                <a16:creationId xmlns:a16="http://schemas.microsoft.com/office/drawing/2014/main" id="{B995139C-E77A-578A-4499-60BD62F23BEF}"/>
              </a:ext>
            </a:extLst>
          </p:cNvPr>
          <p:cNvSpPr/>
          <p:nvPr/>
        </p:nvSpPr>
        <p:spPr>
          <a:xfrm>
            <a:off x="1143000" y="3797300"/>
            <a:ext cx="203200" cy="215900"/>
          </a:xfrm>
          <a:prstGeom prst="can">
            <a:avLst/>
          </a:prstGeom>
          <a:solidFill>
            <a:srgbClr val="1E2761"/>
          </a:solidFill>
          <a:ln>
            <a:noFill/>
          </a:ln>
        </p:spPr>
        <p:txBody>
          <a:bodyPr/>
          <a:lstStyle/>
          <a:p>
            <a:endParaRPr lang="en-US"/>
          </a:p>
        </p:txBody>
      </p:sp>
      <p:sp>
        <p:nvSpPr>
          <p:cNvPr id="402" name="GMongo">
            <a:extLst>
              <a:ext uri="{FF2B5EF4-FFF2-40B4-BE49-F238E27FC236}">
                <a16:creationId xmlns:a16="http://schemas.microsoft.com/office/drawing/2014/main" id="{E76BF029-FA78-5BDF-1C25-9969D4EE8141}"/>
              </a:ext>
            </a:extLst>
          </p:cNvPr>
          <p:cNvSpPr/>
          <p:nvPr/>
        </p:nvSpPr>
        <p:spPr>
          <a:xfrm>
            <a:off x="2006600" y="3797300"/>
            <a:ext cx="203200" cy="215900"/>
          </a:xfrm>
          <a:prstGeom prst="teardrop">
            <a:avLst/>
          </a:prstGeom>
          <a:solidFill>
            <a:srgbClr val="1E2761"/>
          </a:solidFill>
          <a:ln>
            <a:noFill/>
          </a:ln>
        </p:spPr>
        <p:txBody>
          <a:bodyPr/>
          <a:lstStyle/>
          <a:p>
            <a:endParaRPr lang="en-US"/>
          </a:p>
        </p:txBody>
      </p:sp>
      <p:sp>
        <p:nvSpPr>
          <p:cNvPr id="403" name="GRedis">
            <a:extLst>
              <a:ext uri="{FF2B5EF4-FFF2-40B4-BE49-F238E27FC236}">
                <a16:creationId xmlns:a16="http://schemas.microsoft.com/office/drawing/2014/main" id="{E4A0DE7E-E153-49E8-EAA9-DD0136BE5607}"/>
              </a:ext>
            </a:extLst>
          </p:cNvPr>
          <p:cNvSpPr/>
          <p:nvPr/>
        </p:nvSpPr>
        <p:spPr>
          <a:xfrm>
            <a:off x="2870200" y="3797300"/>
            <a:ext cx="203200" cy="215900"/>
          </a:xfrm>
          <a:prstGeom prst="lightningBolt">
            <a:avLst/>
          </a:prstGeom>
          <a:solidFill>
            <a:srgbClr val="1E2761"/>
          </a:solidFill>
          <a:ln>
            <a:noFill/>
          </a:ln>
        </p:spPr>
        <p:txBody>
          <a:bodyPr/>
          <a:lstStyle/>
          <a:p>
            <a:endParaRPr lang="en-US"/>
          </a:p>
        </p:txBody>
      </p:sp>
      <p:sp>
        <p:nvSpPr>
          <p:cNvPr id="404" name="GApi">
            <a:extLst>
              <a:ext uri="{FF2B5EF4-FFF2-40B4-BE49-F238E27FC236}">
                <a16:creationId xmlns:a16="http://schemas.microsoft.com/office/drawing/2014/main" id="{4CF4C25E-9837-D3C8-DBDB-07A5FB82A791}"/>
              </a:ext>
            </a:extLst>
          </p:cNvPr>
          <p:cNvSpPr/>
          <p:nvPr/>
        </p:nvSpPr>
        <p:spPr>
          <a:xfrm>
            <a:off x="4597400" y="3822700"/>
            <a:ext cx="203200" cy="152400"/>
          </a:xfrm>
          <a:prstGeom prst="cloud">
            <a:avLst/>
          </a:prstGeom>
          <a:solidFill>
            <a:srgbClr val="1E2761"/>
          </a:solidFill>
          <a:ln>
            <a:noFill/>
          </a:ln>
        </p:spPr>
        <p:txBody>
          <a:bodyPr/>
          <a:lstStyle/>
          <a:p>
            <a:endParaRPr lang="en-US"/>
          </a:p>
        </p:txBody>
      </p:sp>
      <p:sp>
        <p:nvSpPr>
          <p:cNvPr id="500" name="D4">
            <a:extLst>
              <a:ext uri="{FF2B5EF4-FFF2-40B4-BE49-F238E27FC236}">
                <a16:creationId xmlns:a16="http://schemas.microsoft.com/office/drawing/2014/main" id="{C7A6D8BF-4FF2-D858-922C-1F32A432EB5A}"/>
              </a:ext>
            </a:extLst>
          </p:cNvPr>
          <p:cNvSpPr/>
          <p:nvPr/>
        </p:nvSpPr>
        <p:spPr>
          <a:xfrm>
            <a:off x="3429000" y="3759200"/>
            <a:ext cx="812800" cy="609600"/>
          </a:xfrm>
          <a:prstGeom prst="roundRect">
            <a:avLst>
              <a:gd name="adj" fmla="val 10000"/>
            </a:avLst>
          </a:prstGeom>
          <a:solidFill>
            <a:srgbClr val="FFFFFF"/>
          </a:solidFill>
          <a:ln w="12700">
            <a:solidFill>
              <a:srgbClr val="C3D4F2"/>
            </a:solidFill>
          </a:ln>
        </p:spPr>
        <p:txBody>
          <a:bodyPr wrap="square" lIns="18288" tIns="9144" rIns="18288" bIns="9144" anchor="b"/>
          <a:lstStyle/>
          <a:p>
            <a:pPr algn="ctr">
              <a:buNone/>
            </a:pPr>
            <a:r>
              <a:rPr lang="en-US" sz="1000" b="1" dirty="0">
                <a:solidFill>
                  <a:srgbClr val="1E2761"/>
                </a:solidFill>
                <a:latin typeface="Calibri"/>
              </a:rPr>
              <a:t>Kafka</a:t>
            </a:r>
          </a:p>
        </p:txBody>
      </p:sp>
      <p:sp>
        <p:nvSpPr>
          <p:cNvPr id="501" name="GKafka">
            <a:extLst>
              <a:ext uri="{FF2B5EF4-FFF2-40B4-BE49-F238E27FC236}">
                <a16:creationId xmlns:a16="http://schemas.microsoft.com/office/drawing/2014/main" id="{F7D75E92-BE00-3458-D9FF-6E38B4B446F9}"/>
              </a:ext>
            </a:extLst>
          </p:cNvPr>
          <p:cNvSpPr/>
          <p:nvPr/>
        </p:nvSpPr>
        <p:spPr>
          <a:xfrm>
            <a:off x="3733800" y="3797300"/>
            <a:ext cx="203200" cy="215900"/>
          </a:xfrm>
          <a:prstGeom prst="chevron">
            <a:avLst/>
          </a:prstGeom>
          <a:solidFill>
            <a:srgbClr val="1E2761"/>
          </a:solidFill>
          <a:ln>
            <a:noFill/>
          </a:ln>
        </p:spPr>
        <p:txBody>
          <a:bodyPr/>
          <a:lstStyle/>
          <a:p>
            <a:endParaRPr lang="en-US"/>
          </a:p>
        </p:txBody>
      </p:sp>
      <p:sp>
        <p:nvSpPr>
          <p:cNvPr id="700" name="SH0">
            <a:extLst>
              <a:ext uri="{FF2B5EF4-FFF2-40B4-BE49-F238E27FC236}">
                <a16:creationId xmlns:a16="http://schemas.microsoft.com/office/drawing/2014/main" id="{3EC34695-A06F-704E-0D59-1F5C0D2BDC21}"/>
              </a:ext>
            </a:extLst>
          </p:cNvPr>
          <p:cNvSpPr/>
          <p:nvPr/>
        </p:nvSpPr>
        <p:spPr>
          <a:xfrm>
            <a:off x="762000" y="1676400"/>
            <a:ext cx="1422400" cy="228600"/>
          </a:xfrm>
          <a:prstGeom prst="roundRect">
            <a:avLst>
              <a:gd name="adj" fmla="val 8000"/>
            </a:avLst>
          </a:prstGeom>
          <a:solidFill>
            <a:srgbClr val="1E2761"/>
          </a:solidFill>
          <a:ln w="9525">
            <a:solidFill>
              <a:srgbClr val="1E2761"/>
            </a:solidFill>
          </a:ln>
        </p:spPr>
        <p:txBody>
          <a:bodyPr wrap="square" lIns="45720" tIns="27432" rIns="45720" bIns="27432" anchor="ctr"/>
          <a:lstStyle/>
          <a:p>
            <a:pPr algn="ctr">
              <a:buNone/>
            </a:pPr>
            <a:r>
              <a:rPr lang="en-US" sz="900" b="1" dirty="0">
                <a:solidFill>
                  <a:srgbClr val="FFFFFF"/>
                </a:solidFill>
                <a:latin typeface="Calibri"/>
              </a:rPr>
              <a:t>Business Capability 1</a:t>
            </a:r>
          </a:p>
        </p:txBody>
      </p:sp>
      <p:sp>
        <p:nvSpPr>
          <p:cNvPr id="701" name="F00">
            <a:extLst>
              <a:ext uri="{FF2B5EF4-FFF2-40B4-BE49-F238E27FC236}">
                <a16:creationId xmlns:a16="http://schemas.microsoft.com/office/drawing/2014/main" id="{3EC34695-A06F-704E-0D59-1F5C0D2BDC21}"/>
              </a:ext>
            </a:extLst>
          </p:cNvPr>
          <p:cNvSpPr/>
          <p:nvPr/>
        </p:nvSpPr>
        <p:spPr>
          <a:xfrm>
            <a:off x="838200" y="1981200"/>
            <a:ext cx="1270000" cy="330200"/>
          </a:xfrm>
          <a:prstGeom prst="roundRect">
            <a:avLst>
              <a:gd name="adj" fmla="val 8000"/>
            </a:avLst>
          </a:prstGeom>
          <a:solidFill>
            <a:srgbClr val="FFFFFF"/>
          </a:solidFill>
          <a:ln w="9525">
            <a:solidFill>
              <a:srgbClr val="C7D2F0"/>
            </a:solidFill>
          </a:ln>
        </p:spPr>
        <p:txBody>
          <a:bodyPr wrap="square" lIns="45720" tIns="27432" rIns="45720" bIns="27432" anchor="ctr"/>
          <a:lstStyle/>
          <a:p>
            <a:pPr algn="ctr">
              <a:buNone/>
            </a:pPr>
            <a:r>
              <a:rPr lang="en-US" sz="1000" b="1" dirty="0">
                <a:solidFill>
                  <a:srgbClr val="1E2761"/>
                </a:solidFill>
                <a:latin typeface="Calibri"/>
              </a:rPr>
              <a:t>Presentation</a:t>
            </a:r>
          </a:p>
        </p:txBody>
      </p:sp>
      <p:sp>
        <p:nvSpPr>
          <p:cNvPr id="702" name="F01">
            <a:extLst>
              <a:ext uri="{FF2B5EF4-FFF2-40B4-BE49-F238E27FC236}">
                <a16:creationId xmlns:a16="http://schemas.microsoft.com/office/drawing/2014/main" id="{3EC34695-A06F-704E-0D59-1F5C0D2BDC21}"/>
              </a:ext>
            </a:extLst>
          </p:cNvPr>
          <p:cNvSpPr/>
          <p:nvPr/>
        </p:nvSpPr>
        <p:spPr>
          <a:xfrm>
            <a:off x="838200" y="2514600"/>
            <a:ext cx="1270000" cy="330200"/>
          </a:xfrm>
          <a:prstGeom prst="roundRect">
            <a:avLst>
              <a:gd name="adj" fmla="val 8000"/>
            </a:avLst>
          </a:prstGeom>
          <a:solidFill>
            <a:srgbClr val="FFFFFF"/>
          </a:solidFill>
          <a:ln w="9525">
            <a:solidFill>
              <a:srgbClr val="C7D2F0"/>
            </a:solidFill>
          </a:ln>
        </p:spPr>
        <p:txBody>
          <a:bodyPr wrap="square" lIns="45720" tIns="27432" rIns="45720" bIns="27432" anchor="ctr"/>
          <a:lstStyle/>
          <a:p>
            <a:pPr algn="ctr">
              <a:buNone/>
            </a:pPr>
            <a:r>
              <a:rPr lang="en-US" sz="1000" b="1" dirty="0">
                <a:solidFill>
                  <a:srgbClr val="1E2761"/>
                </a:solidFill>
                <a:latin typeface="Calibri"/>
              </a:rPr>
              <a:t>Business Logic</a:t>
            </a:r>
          </a:p>
        </p:txBody>
      </p:sp>
      <p:sp>
        <p:nvSpPr>
          <p:cNvPr id="704" name="F03">
            <a:extLst>
              <a:ext uri="{FF2B5EF4-FFF2-40B4-BE49-F238E27FC236}">
                <a16:creationId xmlns:a16="http://schemas.microsoft.com/office/drawing/2014/main" id="{3EC34695-A06F-704E-0D59-1F5C0D2BDC21}"/>
              </a:ext>
            </a:extLst>
          </p:cNvPr>
          <p:cNvSpPr/>
          <p:nvPr/>
        </p:nvSpPr>
        <p:spPr>
          <a:xfrm>
            <a:off x="838200" y="3048000"/>
            <a:ext cx="1270000" cy="330200"/>
          </a:xfrm>
          <a:prstGeom prst="roundRect">
            <a:avLst>
              <a:gd name="adj" fmla="val 8000"/>
            </a:avLst>
          </a:prstGeom>
          <a:solidFill>
            <a:srgbClr val="FFFFFF"/>
          </a:solidFill>
          <a:ln w="9525">
            <a:solidFill>
              <a:srgbClr val="C7D2F0"/>
            </a:solidFill>
          </a:ln>
        </p:spPr>
        <p:txBody>
          <a:bodyPr wrap="square" lIns="45720" tIns="27432" rIns="45720" bIns="27432" anchor="ctr"/>
          <a:lstStyle/>
          <a:p>
            <a:pPr algn="ctr">
              <a:buNone/>
            </a:pPr>
            <a:r>
              <a:rPr lang="en-US" sz="1000" b="1" dirty="0">
                <a:solidFill>
                  <a:srgbClr val="1E2761"/>
                </a:solidFill>
                <a:latin typeface="Calibri"/>
              </a:rPr>
              <a:t>Infrastructure</a:t>
            </a:r>
          </a:p>
        </p:txBody>
      </p:sp>
      <p:sp>
        <p:nvSpPr>
          <p:cNvPr id="710" name="SH2">
            <a:extLst>
              <a:ext uri="{FF2B5EF4-FFF2-40B4-BE49-F238E27FC236}">
                <a16:creationId xmlns:a16="http://schemas.microsoft.com/office/drawing/2014/main" id="{3EC34695-A06F-704E-0D59-1F5C0D2BDC21}"/>
              </a:ext>
            </a:extLst>
          </p:cNvPr>
          <p:cNvSpPr/>
          <p:nvPr/>
        </p:nvSpPr>
        <p:spPr>
          <a:xfrm>
            <a:off x="3784600" y="1676400"/>
            <a:ext cx="1422400" cy="228600"/>
          </a:xfrm>
          <a:prstGeom prst="roundRect">
            <a:avLst>
              <a:gd name="adj" fmla="val 8000"/>
            </a:avLst>
          </a:prstGeom>
          <a:solidFill>
            <a:srgbClr val="1E2761"/>
          </a:solidFill>
          <a:ln w="9525">
            <a:solidFill>
              <a:srgbClr val="1E2761"/>
            </a:solidFill>
          </a:ln>
        </p:spPr>
        <p:txBody>
          <a:bodyPr wrap="square" lIns="45720" tIns="27432" rIns="45720" bIns="27432" anchor="ctr"/>
          <a:lstStyle/>
          <a:p>
            <a:pPr algn="ctr">
              <a:buNone/>
            </a:pPr>
            <a:r>
              <a:rPr lang="en-US" sz="900" b="1" dirty="0">
                <a:solidFill>
                  <a:srgbClr val="FFFFFF"/>
                </a:solidFill>
                <a:latin typeface="Calibri"/>
              </a:rPr>
              <a:t>Business Capability 3</a:t>
            </a:r>
          </a:p>
        </p:txBody>
      </p:sp>
      <p:sp>
        <p:nvSpPr>
          <p:cNvPr id="711" name="F20">
            <a:extLst>
              <a:ext uri="{FF2B5EF4-FFF2-40B4-BE49-F238E27FC236}">
                <a16:creationId xmlns:a16="http://schemas.microsoft.com/office/drawing/2014/main" id="{3EC34695-A06F-704E-0D59-1F5C0D2BDC21}"/>
              </a:ext>
            </a:extLst>
          </p:cNvPr>
          <p:cNvSpPr/>
          <p:nvPr/>
        </p:nvSpPr>
        <p:spPr>
          <a:xfrm>
            <a:off x="3860800" y="1981200"/>
            <a:ext cx="1270000" cy="330200"/>
          </a:xfrm>
          <a:prstGeom prst="roundRect">
            <a:avLst>
              <a:gd name="adj" fmla="val 8000"/>
            </a:avLst>
          </a:prstGeom>
          <a:solidFill>
            <a:srgbClr val="FFFFFF"/>
          </a:solidFill>
          <a:ln w="9525">
            <a:solidFill>
              <a:srgbClr val="C7D2F0"/>
            </a:solidFill>
          </a:ln>
        </p:spPr>
        <p:txBody>
          <a:bodyPr wrap="square" lIns="45720" tIns="27432" rIns="45720" bIns="27432" anchor="ctr"/>
          <a:lstStyle/>
          <a:p>
            <a:pPr algn="ctr">
              <a:buNone/>
            </a:pPr>
            <a:r>
              <a:rPr lang="en-US" sz="1000" b="1" dirty="0">
                <a:solidFill>
                  <a:srgbClr val="1E2761"/>
                </a:solidFill>
                <a:latin typeface="Calibri"/>
              </a:rPr>
              <a:t>Presentation</a:t>
            </a:r>
          </a:p>
        </p:txBody>
      </p:sp>
      <p:sp>
        <p:nvSpPr>
          <p:cNvPr id="712" name="F21">
            <a:extLst>
              <a:ext uri="{FF2B5EF4-FFF2-40B4-BE49-F238E27FC236}">
                <a16:creationId xmlns:a16="http://schemas.microsoft.com/office/drawing/2014/main" id="{3EC34695-A06F-704E-0D59-1F5C0D2BDC21}"/>
              </a:ext>
            </a:extLst>
          </p:cNvPr>
          <p:cNvSpPr/>
          <p:nvPr/>
        </p:nvSpPr>
        <p:spPr>
          <a:xfrm>
            <a:off x="3860800" y="2514600"/>
            <a:ext cx="1270000" cy="330200"/>
          </a:xfrm>
          <a:prstGeom prst="roundRect">
            <a:avLst>
              <a:gd name="adj" fmla="val 8000"/>
            </a:avLst>
          </a:prstGeom>
          <a:solidFill>
            <a:srgbClr val="FFFFFF"/>
          </a:solidFill>
          <a:ln w="9525">
            <a:solidFill>
              <a:srgbClr val="C7D2F0"/>
            </a:solidFill>
          </a:ln>
        </p:spPr>
        <p:txBody>
          <a:bodyPr wrap="square" lIns="45720" tIns="27432" rIns="45720" bIns="27432" anchor="ctr"/>
          <a:lstStyle/>
          <a:p>
            <a:pPr algn="ctr">
              <a:buNone/>
            </a:pPr>
            <a:r>
              <a:rPr lang="en-US" sz="1000" b="1" dirty="0">
                <a:solidFill>
                  <a:srgbClr val="1E2761"/>
                </a:solidFill>
                <a:latin typeface="Calibri"/>
              </a:rPr>
              <a:t>Business Logic</a:t>
            </a:r>
          </a:p>
        </p:txBody>
      </p:sp>
      <p:sp>
        <p:nvSpPr>
          <p:cNvPr id="714" name="F23">
            <a:extLst>
              <a:ext uri="{FF2B5EF4-FFF2-40B4-BE49-F238E27FC236}">
                <a16:creationId xmlns:a16="http://schemas.microsoft.com/office/drawing/2014/main" id="{3EC34695-A06F-704E-0D59-1F5C0D2BDC21}"/>
              </a:ext>
            </a:extLst>
          </p:cNvPr>
          <p:cNvSpPr/>
          <p:nvPr/>
        </p:nvSpPr>
        <p:spPr>
          <a:xfrm>
            <a:off x="3860800" y="3048000"/>
            <a:ext cx="1270000" cy="330200"/>
          </a:xfrm>
          <a:prstGeom prst="roundRect">
            <a:avLst>
              <a:gd name="adj" fmla="val 8000"/>
            </a:avLst>
          </a:prstGeom>
          <a:solidFill>
            <a:srgbClr val="FFFFFF"/>
          </a:solidFill>
          <a:ln w="9525">
            <a:solidFill>
              <a:srgbClr val="C7D2F0"/>
            </a:solidFill>
          </a:ln>
        </p:spPr>
        <p:txBody>
          <a:bodyPr wrap="square" lIns="45720" tIns="27432" rIns="45720" bIns="27432" anchor="ctr"/>
          <a:lstStyle/>
          <a:p>
            <a:pPr algn="ctr">
              <a:buNone/>
            </a:pPr>
            <a:r>
              <a:rPr lang="en-US" sz="1000" b="1" dirty="0">
                <a:solidFill>
                  <a:srgbClr val="1E2761"/>
                </a:solidFill>
                <a:latin typeface="Calibri"/>
              </a:rPr>
              <a:t>Infrastructure</a:t>
            </a:r>
          </a:p>
        </p:txBody>
      </p:sp>
      <p:cxnSp>
        <p:nvCxnSpPr>
          <p:cNvPr id="920" name="LG1"/>
          <p:cNvCxnSpPr/>
          <p:nvPr/>
        </p:nvCxnSpPr>
        <p:spPr>
          <a:xfrm>
            <a:off x="5435600" y="4660900"/>
            <a:ext cx="254000" cy="0"/>
          </a:xfrm>
          <a:prstGeom prst="line">
            <a:avLst/>
          </a:prstGeom>
          <a:ln w="25400" cap="rnd">
            <a:solidFill>
              <a:srgbClr val="1E2761"/>
            </a:solidFill>
            <a:headEnd type="none"/>
            <a:tailEnd type="triangle"/>
          </a:ln>
        </p:spPr>
      </p:cxnSp>
      <p:cxnSp>
        <p:nvCxnSpPr>
          <p:cNvPr id="922" name="LG3"/>
          <p:cNvCxnSpPr/>
          <p:nvPr/>
        </p:nvCxnSpPr>
        <p:spPr>
          <a:xfrm>
            <a:off x="6375400" y="4660900"/>
            <a:ext cx="254000" cy="0"/>
          </a:xfrm>
          <a:prstGeom prst="line">
            <a:avLst/>
          </a:prstGeom>
          <a:ln w="25400" cap="rnd">
            <a:solidFill>
              <a:srgbClr val="0E7C86"/>
            </a:solidFill>
            <a:prstDash val="sysDot"/>
            <a:tailEnd type="arrow"/>
          </a:ln>
        </p:spPr>
      </p:cxnSp>
      <p:sp>
        <p:nvSpPr>
          <p:cNvPr id="983" name="LGL1">
            <a:extLst>
              <a:ext uri="{FF2B5EF4-FFF2-40B4-BE49-F238E27FC236}">
                <a16:creationId xmlns:a16="http://schemas.microsoft.com/office/drawing/2014/main" id="{13B7CF06-8A11-4898-5833-E874F2175602}"/>
              </a:ext>
            </a:extLst>
          </p:cNvPr>
          <p:cNvSpPr/>
          <p:nvPr/>
        </p:nvSpPr>
        <p:spPr>
          <a:xfrm>
            <a:off x="5702300" y="4584700"/>
            <a:ext cx="558800" cy="165100"/>
          </a:xfrm>
          <a:prstGeom prst="roundRect">
            <a:avLst>
              <a:gd name="adj" fmla="val 20000"/>
            </a:avLst>
          </a:prstGeom>
          <a:noFill/>
          <a:ln w="12700">
            <a:noFill/>
          </a:ln>
        </p:spPr>
        <p:txBody>
          <a:bodyPr wrap="square" lIns="9525" tIns="9525" rIns="18000" bIns="9525" anchor="ctr"/>
          <a:lstStyle/>
          <a:p>
            <a:pPr algn="l">
              <a:buNone/>
            </a:pPr>
            <a:r>
              <a:rPr lang="en-US" sz="800" b="1" dirty="0">
                <a:solidFill>
                  <a:srgbClr val="1E293B"/>
                </a:solidFill>
                <a:latin typeface="Calibri"/>
              </a:rPr>
              <a:t>Strong</a:t>
            </a:r>
          </a:p>
        </p:txBody>
      </p:sp>
      <p:sp>
        <p:nvSpPr>
          <p:cNvPr id="985" name="LGL3">
            <a:extLst>
              <a:ext uri="{FF2B5EF4-FFF2-40B4-BE49-F238E27FC236}">
                <a16:creationId xmlns:a16="http://schemas.microsoft.com/office/drawing/2014/main" id="{13B7CF06-8A11-4898-5833-E874F2175602}"/>
              </a:ext>
            </a:extLst>
          </p:cNvPr>
          <p:cNvSpPr/>
          <p:nvPr/>
        </p:nvSpPr>
        <p:spPr>
          <a:xfrm>
            <a:off x="6642100" y="4584700"/>
            <a:ext cx="1016000" cy="165100"/>
          </a:xfrm>
          <a:prstGeom prst="roundRect">
            <a:avLst>
              <a:gd name="adj" fmla="val 20000"/>
            </a:avLst>
          </a:prstGeom>
          <a:noFill/>
          <a:ln w="12700">
            <a:noFill/>
          </a:ln>
        </p:spPr>
        <p:txBody>
          <a:bodyPr wrap="square" lIns="9525" tIns="9525" rIns="18000" bIns="9525" anchor="ctr"/>
          <a:lstStyle/>
          <a:p>
            <a:pPr algn="l">
              <a:buNone/>
            </a:pPr>
            <a:r>
              <a:rPr lang="en-US" sz="800" b="1" dirty="0">
                <a:solidFill>
                  <a:srgbClr val="1E293B"/>
                </a:solidFill>
                <a:latin typeface="Calibri"/>
              </a:rPr>
              <a:t>Decoupled</a:t>
            </a:r>
          </a:p>
        </p:txBody>
      </p:sp>
      <p:sp>
        <p:nvSpPr>
          <p:cNvPr id="3" name="XC">
            <a:extLst>
              <a:ext uri="{FF2B5EF4-FFF2-40B4-BE49-F238E27FC236}">
                <a16:creationId xmlns:a16="http://schemas.microsoft.com/office/drawing/2014/main" id="{2D2C055F-3D8F-3349-A837-D25AB38CD3BD}"/>
              </a:ext>
            </a:extLst>
          </p:cNvPr>
          <p:cNvSpPr/>
          <p:nvPr/>
        </p:nvSpPr>
        <p:spPr>
          <a:xfrm>
            <a:off x="6006780" y="1066800"/>
            <a:ext cx="2680019" cy="3378200"/>
          </a:xfrm>
          <a:prstGeom prst="roundRect">
            <a:avLst>
              <a:gd name="adj" fmla="val 8000"/>
            </a:avLst>
          </a:prstGeom>
          <a:noFill/>
          <a:ln w="12700">
            <a:solidFill>
              <a:srgbClr val="5A6BA8"/>
            </a:solidFill>
            <a:prstDash val="dash"/>
          </a:ln>
        </p:spPr>
        <p:txBody>
          <a:bodyPr wrap="square" lIns="45720" tIns="27432" rIns="45720" bIns="27432" anchor="ctr"/>
          <a:lstStyle/>
          <a:p>
            <a:pPr algn="ctr">
              <a:buNone/>
            </a:pPr>
            <a:endParaRPr lang="en-US"/>
          </a:p>
        </p:txBody>
      </p:sp>
      <p:sp>
        <p:nvSpPr>
          <p:cNvPr id="5" name="XCHead">
            <a:extLst>
              <a:ext uri="{FF2B5EF4-FFF2-40B4-BE49-F238E27FC236}">
                <a16:creationId xmlns:a16="http://schemas.microsoft.com/office/drawing/2014/main" id="{F9DD645A-5E3B-63C0-7B18-BC65E622E054}"/>
              </a:ext>
            </a:extLst>
          </p:cNvPr>
          <p:cNvSpPr/>
          <p:nvPr/>
        </p:nvSpPr>
        <p:spPr>
          <a:xfrm>
            <a:off x="6080758" y="1168400"/>
            <a:ext cx="2504442" cy="279400"/>
          </a:xfrm>
          <a:prstGeom prst="roundRect">
            <a:avLst>
              <a:gd name="adj" fmla="val 12000"/>
            </a:avLst>
          </a:prstGeom>
          <a:solidFill>
            <a:srgbClr val="1E2761"/>
          </a:solidFill>
          <a:ln>
            <a:noFill/>
          </a:ln>
        </p:spPr>
        <p:txBody>
          <a:bodyPr lIns="0" tIns="0" rIns="0" bIns="0" anchor="ctr"/>
          <a:lstStyle/>
          <a:p>
            <a:pPr algn="ctr">
              <a:buNone/>
            </a:pPr>
            <a:r>
              <a:rPr lang="en-US" sz="1000" b="1" dirty="0">
                <a:solidFill>
                  <a:srgbClr val="FFFFFF"/>
                </a:solidFill>
                <a:latin typeface="Calibri"/>
              </a:rPr>
              <a:t>APPLIES TO ALL LAYERS</a:t>
            </a:r>
          </a:p>
        </p:txBody>
      </p:sp>
      <p:sp>
        <p:nvSpPr>
          <p:cNvPr id="7" name="XC0">
            <a:extLst>
              <a:ext uri="{FF2B5EF4-FFF2-40B4-BE49-F238E27FC236}">
                <a16:creationId xmlns:a16="http://schemas.microsoft.com/office/drawing/2014/main" id="{920F0DEF-3ECE-92D4-CBD5-5804D578CC3B}"/>
              </a:ext>
            </a:extLst>
          </p:cNvPr>
          <p:cNvSpPr/>
          <p:nvPr/>
        </p:nvSpPr>
        <p:spPr>
          <a:xfrm>
            <a:off x="6080760" y="1701800"/>
            <a:ext cx="2479040" cy="203200"/>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Queries: Requests + Responses</a:t>
            </a:r>
          </a:p>
        </p:txBody>
      </p:sp>
      <p:sp>
        <p:nvSpPr>
          <p:cNvPr id="9" name="XC1">
            <a:extLst>
              <a:ext uri="{FF2B5EF4-FFF2-40B4-BE49-F238E27FC236}">
                <a16:creationId xmlns:a16="http://schemas.microsoft.com/office/drawing/2014/main" id="{E87EFCA2-2176-9258-8F22-975B205E7D42}"/>
              </a:ext>
            </a:extLst>
          </p:cNvPr>
          <p:cNvSpPr/>
          <p:nvPr/>
        </p:nvSpPr>
        <p:spPr>
          <a:xfrm>
            <a:off x="6080760" y="1917700"/>
            <a:ext cx="2479040" cy="203200"/>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Commands</a:t>
            </a:r>
            <a:r>
              <a:rPr lang="en-US" sz="1000" b="1" dirty="0">
                <a:solidFill>
                  <a:srgbClr val="1E2761"/>
                </a:solidFill>
              </a:rPr>
              <a:t>: Requests + Responses</a:t>
            </a:r>
            <a:endParaRPr lang="en-US" sz="1000" b="1" dirty="0">
              <a:solidFill>
                <a:srgbClr val="1E2761"/>
              </a:solidFill>
              <a:latin typeface="Calibri"/>
            </a:endParaRPr>
          </a:p>
        </p:txBody>
      </p:sp>
      <p:sp>
        <p:nvSpPr>
          <p:cNvPr id="21" name="XC2">
            <a:extLst>
              <a:ext uri="{FF2B5EF4-FFF2-40B4-BE49-F238E27FC236}">
                <a16:creationId xmlns:a16="http://schemas.microsoft.com/office/drawing/2014/main" id="{774ADEB4-9CFE-E5B5-498F-38D3A2192ECD}"/>
              </a:ext>
            </a:extLst>
          </p:cNvPr>
          <p:cNvSpPr/>
          <p:nvPr/>
        </p:nvSpPr>
        <p:spPr>
          <a:xfrm>
            <a:off x="6080758" y="2133600"/>
            <a:ext cx="2479041" cy="190500"/>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Notifications</a:t>
            </a:r>
          </a:p>
        </p:txBody>
      </p:sp>
      <p:sp>
        <p:nvSpPr>
          <p:cNvPr id="32" name="XC3">
            <a:extLst>
              <a:ext uri="{FF2B5EF4-FFF2-40B4-BE49-F238E27FC236}">
                <a16:creationId xmlns:a16="http://schemas.microsoft.com/office/drawing/2014/main" id="{216845D3-5EF4-22B3-9375-19DE84BDDCB3}"/>
              </a:ext>
            </a:extLst>
          </p:cNvPr>
          <p:cNvSpPr/>
          <p:nvPr/>
        </p:nvSpPr>
        <p:spPr>
          <a:xfrm>
            <a:off x="6080760" y="2349500"/>
            <a:ext cx="2479040" cy="152399"/>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Data Entities &amp; DTOs</a:t>
            </a:r>
          </a:p>
        </p:txBody>
      </p:sp>
      <p:sp>
        <p:nvSpPr>
          <p:cNvPr id="34" name="XC4">
            <a:extLst>
              <a:ext uri="{FF2B5EF4-FFF2-40B4-BE49-F238E27FC236}">
                <a16:creationId xmlns:a16="http://schemas.microsoft.com/office/drawing/2014/main" id="{E8D09FCB-8179-7452-0B88-305AB1C5595D}"/>
              </a:ext>
            </a:extLst>
          </p:cNvPr>
          <p:cNvSpPr/>
          <p:nvPr/>
        </p:nvSpPr>
        <p:spPr>
          <a:xfrm>
            <a:off x="6080760" y="2565400"/>
            <a:ext cx="2479040" cy="220980"/>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Shared Enums</a:t>
            </a:r>
          </a:p>
        </p:txBody>
      </p:sp>
      <p:sp>
        <p:nvSpPr>
          <p:cNvPr id="36" name="XCL1">
            <a:extLst>
              <a:ext uri="{FF2B5EF4-FFF2-40B4-BE49-F238E27FC236}">
                <a16:creationId xmlns:a16="http://schemas.microsoft.com/office/drawing/2014/main" id="{8F992BEA-E29B-4118-75BF-3C283BB45A5F}"/>
              </a:ext>
            </a:extLst>
          </p:cNvPr>
          <p:cNvSpPr txBox="1"/>
          <p:nvPr/>
        </p:nvSpPr>
        <p:spPr>
          <a:xfrm>
            <a:off x="6080760" y="1511300"/>
            <a:ext cx="2479040" cy="152400"/>
          </a:xfrm>
          <a:prstGeom prst="rect">
            <a:avLst/>
          </a:prstGeom>
          <a:noFill/>
        </p:spPr>
        <p:txBody>
          <a:bodyPr wrap="square" lIns="0" tIns="0" rIns="0" bIns="0" anchor="ctr"/>
          <a:lstStyle/>
          <a:p>
            <a:pPr algn="ctr">
              <a:buNone/>
            </a:pPr>
            <a:r>
              <a:rPr lang="en-US" sz="1000" b="1" dirty="0">
                <a:solidFill>
                  <a:srgbClr val="4A5578"/>
                </a:solidFill>
                <a:latin typeface="Calibri"/>
              </a:rPr>
              <a:t>SHARED MODELS</a:t>
            </a:r>
          </a:p>
        </p:txBody>
      </p:sp>
      <p:sp>
        <p:nvSpPr>
          <p:cNvPr id="38" name="XCL2">
            <a:extLst>
              <a:ext uri="{FF2B5EF4-FFF2-40B4-BE49-F238E27FC236}">
                <a16:creationId xmlns:a16="http://schemas.microsoft.com/office/drawing/2014/main" id="{1C737080-CD61-FA2E-0269-132C32DA6F65}"/>
              </a:ext>
            </a:extLst>
          </p:cNvPr>
          <p:cNvSpPr txBox="1"/>
          <p:nvPr/>
        </p:nvSpPr>
        <p:spPr>
          <a:xfrm>
            <a:off x="6080760" y="2832100"/>
            <a:ext cx="2479040" cy="152400"/>
          </a:xfrm>
          <a:prstGeom prst="rect">
            <a:avLst/>
          </a:prstGeom>
          <a:noFill/>
        </p:spPr>
        <p:txBody>
          <a:bodyPr wrap="square" lIns="0" tIns="0" rIns="0" bIns="0" anchor="ctr"/>
          <a:lstStyle/>
          <a:p>
            <a:pPr algn="ctr">
              <a:buNone/>
            </a:pPr>
            <a:r>
              <a:rPr lang="en-US" sz="1000" b="1" dirty="0">
                <a:solidFill>
                  <a:srgbClr val="4A5578"/>
                </a:solidFill>
                <a:latin typeface="Calibri"/>
              </a:rPr>
              <a:t>TECHNICAL CONCERNS</a:t>
            </a:r>
          </a:p>
        </p:txBody>
      </p:sp>
      <p:sp>
        <p:nvSpPr>
          <p:cNvPr id="40" name="XN0">
            <a:extLst>
              <a:ext uri="{FF2B5EF4-FFF2-40B4-BE49-F238E27FC236}">
                <a16:creationId xmlns:a16="http://schemas.microsoft.com/office/drawing/2014/main" id="{38FAA21F-C136-3A9C-77BB-68983ED64FE3}"/>
              </a:ext>
            </a:extLst>
          </p:cNvPr>
          <p:cNvSpPr/>
          <p:nvPr/>
        </p:nvSpPr>
        <p:spPr>
          <a:xfrm>
            <a:off x="6080760" y="3022600"/>
            <a:ext cx="2479040" cy="152399"/>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buNone/>
            </a:pPr>
            <a:r>
              <a:rPr lang="en-US" sz="1000" b="1" dirty="0">
                <a:solidFill>
                  <a:srgbClr val="1E2761"/>
                </a:solidFill>
                <a:latin typeface="Calibri"/>
              </a:rPr>
              <a:t>Security · AuthN / AuthZ</a:t>
            </a:r>
          </a:p>
        </p:txBody>
      </p:sp>
      <p:sp>
        <p:nvSpPr>
          <p:cNvPr id="42" name="XN1">
            <a:extLst>
              <a:ext uri="{FF2B5EF4-FFF2-40B4-BE49-F238E27FC236}">
                <a16:creationId xmlns:a16="http://schemas.microsoft.com/office/drawing/2014/main" id="{25FB1B88-23D4-00D9-5F05-BCB38BB31569}"/>
              </a:ext>
            </a:extLst>
          </p:cNvPr>
          <p:cNvSpPr/>
          <p:nvPr/>
        </p:nvSpPr>
        <p:spPr>
          <a:xfrm>
            <a:off x="6080758" y="3238500"/>
            <a:ext cx="2479042" cy="160655"/>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r>
              <a:rPr lang="en-US" sz="1000" b="1" dirty="0">
                <a:solidFill>
                  <a:srgbClr val="1E2761"/>
                </a:solidFill>
                <a:latin typeface="Calibri"/>
              </a:rPr>
              <a:t>Observability: Logging </a:t>
            </a:r>
            <a:r>
              <a:rPr lang="en-US" sz="1000" b="1" dirty="0">
                <a:solidFill>
                  <a:srgbClr val="1E2761"/>
                </a:solidFill>
              </a:rPr>
              <a:t>· Tracing </a:t>
            </a:r>
            <a:r>
              <a:rPr lang="en-US" sz="1000" b="1">
                <a:solidFill>
                  <a:srgbClr val="1E2761"/>
                </a:solidFill>
              </a:rPr>
              <a:t>· Metrics</a:t>
            </a:r>
            <a:endParaRPr lang="en-US" sz="1000" b="1" dirty="0">
              <a:solidFill>
                <a:srgbClr val="1E2761"/>
              </a:solidFill>
              <a:latin typeface="Calibri"/>
            </a:endParaRPr>
          </a:p>
        </p:txBody>
      </p:sp>
      <p:sp>
        <p:nvSpPr>
          <p:cNvPr id="44" name="XN3">
            <a:extLst>
              <a:ext uri="{FF2B5EF4-FFF2-40B4-BE49-F238E27FC236}">
                <a16:creationId xmlns:a16="http://schemas.microsoft.com/office/drawing/2014/main" id="{0B05F12D-EF57-E159-A15A-D2976B4FF48F}"/>
              </a:ext>
            </a:extLst>
          </p:cNvPr>
          <p:cNvSpPr/>
          <p:nvPr/>
        </p:nvSpPr>
        <p:spPr>
          <a:xfrm>
            <a:off x="6080758" y="3454400"/>
            <a:ext cx="2479042" cy="172719"/>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buNone/>
            </a:pPr>
            <a:r>
              <a:rPr lang="en-US" sz="1000" b="1" dirty="0">
                <a:solidFill>
                  <a:srgbClr val="1E2761"/>
                </a:solidFill>
                <a:latin typeface="Calibri"/>
              </a:rPr>
              <a:t>Config · Secrets</a:t>
            </a:r>
          </a:p>
        </p:txBody>
      </p:sp>
      <p:sp>
        <p:nvSpPr>
          <p:cNvPr id="46" name="XN4">
            <a:extLst>
              <a:ext uri="{FF2B5EF4-FFF2-40B4-BE49-F238E27FC236}">
                <a16:creationId xmlns:a16="http://schemas.microsoft.com/office/drawing/2014/main" id="{6180C5B0-8C72-CC1A-E66E-4E4D6E68E377}"/>
              </a:ext>
            </a:extLst>
          </p:cNvPr>
          <p:cNvSpPr/>
          <p:nvPr/>
        </p:nvSpPr>
        <p:spPr>
          <a:xfrm>
            <a:off x="6080760" y="3670300"/>
            <a:ext cx="2479040" cy="172719"/>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buNone/>
            </a:pPr>
            <a:r>
              <a:rPr lang="en-US" sz="1000" b="1" dirty="0">
                <a:solidFill>
                  <a:srgbClr val="1E2761"/>
                </a:solidFill>
                <a:latin typeface="Calibri"/>
              </a:rPr>
              <a:t>Exception handling · retries</a:t>
            </a:r>
          </a:p>
        </p:txBody>
      </p:sp>
      <p:sp>
        <p:nvSpPr>
          <p:cNvPr id="48" name="XN5">
            <a:extLst>
              <a:ext uri="{FF2B5EF4-FFF2-40B4-BE49-F238E27FC236}">
                <a16:creationId xmlns:a16="http://schemas.microsoft.com/office/drawing/2014/main" id="{91B8CF7B-7532-98AF-95AA-AE87EB2582FA}"/>
              </a:ext>
            </a:extLst>
          </p:cNvPr>
          <p:cNvSpPr/>
          <p:nvPr/>
        </p:nvSpPr>
        <p:spPr>
          <a:xfrm>
            <a:off x="6080760" y="3886200"/>
            <a:ext cx="2479040" cy="190500"/>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buNone/>
            </a:pPr>
            <a:r>
              <a:rPr lang="en-US" sz="1000" b="1" dirty="0">
                <a:solidFill>
                  <a:srgbClr val="1E2761"/>
                </a:solidFill>
                <a:latin typeface="Calibri"/>
              </a:rPr>
              <a:t>Health Checks</a:t>
            </a:r>
          </a:p>
        </p:txBody>
      </p:sp>
      <p:cxnSp>
        <p:nvCxnSpPr>
          <p:cNvPr id="950" name="DecoupleArrow"/>
          <p:cNvCxnSpPr/>
          <p:nvPr/>
        </p:nvCxnSpPr>
        <p:spPr>
          <a:xfrm>
            <a:off x="2209800" y="2603500"/>
            <a:ext cx="1549400" cy="0"/>
          </a:xfrm>
          <a:prstGeom prst="line">
            <a:avLst/>
          </a:prstGeom>
          <a:ln w="25400" cap="rnd">
            <a:solidFill>
              <a:srgbClr val="0E7C86"/>
            </a:solidFill>
            <a:prstDash val="sysDot"/>
            <a:headEnd type="arrow"/>
            <a:tailEnd type="arrow"/>
          </a:ln>
        </p:spPr>
      </p:cxnSp>
      <p:sp>
        <p:nvSpPr>
          <p:cNvPr id="951" name="DecoupleLbl"/>
          <p:cNvSpPr/>
          <p:nvPr/>
        </p:nvSpPr>
        <p:spPr>
          <a:xfrm>
            <a:off x="2209800" y="2336800"/>
            <a:ext cx="1549400" cy="177800"/>
          </a:xfrm>
          <a:prstGeom prst="rect">
            <a:avLst/>
          </a:prstGeom>
          <a:noFill/>
        </p:spPr>
        <p:txBody>
          <a:bodyPr wrap="none" lIns="0" tIns="0" rIns="0" bIns="0" anchor="ctr" anchorCtr="1"/>
          <a:lstStyle/>
          <a:p>
            <a:pPr algn="ctr">
              <a:buNone/>
            </a:pPr>
            <a:r>
              <a:rPr lang="en-US" sz="800" b="1" dirty="0">
                <a:solidFill>
                  <a:srgbClr val="0E7C86"/>
                </a:solidFill>
                <a:latin typeface="Calibri"/>
              </a:rPr>
              <a:t>via CQRS / events</a:t>
            </a:r>
          </a:p>
        </p:txBody>
      </p:sp>
      <p:cxnSp>
        <p:nvCxnSpPr>
          <p:cNvPr id="2" name="DecoupleArrow">
            <a:extLst>
              <a:ext uri="{FF2B5EF4-FFF2-40B4-BE49-F238E27FC236}">
                <a16:creationId xmlns:a16="http://schemas.microsoft.com/office/drawing/2014/main" id="{95212BBC-C734-8069-9FE6-3B0BBD962557}"/>
              </a:ext>
            </a:extLst>
          </p:cNvPr>
          <p:cNvCxnSpPr/>
          <p:nvPr/>
        </p:nvCxnSpPr>
        <p:spPr>
          <a:xfrm>
            <a:off x="2214880" y="2933700"/>
            <a:ext cx="1549400" cy="0"/>
          </a:xfrm>
          <a:prstGeom prst="line">
            <a:avLst/>
          </a:prstGeom>
          <a:ln w="25400" cap="rnd">
            <a:solidFill>
              <a:srgbClr val="1E2761"/>
            </a:solidFill>
          </a:ln>
        </p:spPr>
      </p:cxnSp>
      <p:sp>
        <p:nvSpPr>
          <p:cNvPr id="960" name="LGL4icon"/>
          <p:cNvSpPr/>
          <p:nvPr/>
        </p:nvSpPr>
        <p:spPr>
          <a:xfrm>
            <a:off x="7734300" y="4572000"/>
            <a:ext cx="177800" cy="177800"/>
          </a:xfrm>
          <a:prstGeom prst="noSmoking">
            <a:avLst>
              <a:gd name="adj" fmla="val 12500"/>
            </a:avLst>
          </a:prstGeom>
          <a:solidFill>
            <a:srgbClr val="4472C4"/>
          </a:solidFill>
          <a:ln w="9525">
            <a:solidFill>
              <a:srgbClr val="172C51"/>
            </a:solidFill>
          </a:ln>
        </p:spPr>
        <p:txBody>
          <a:bodyPr/>
          <a:lstStyle/>
          <a:p>
            <a:pPr>
              <a:buNone/>
            </a:pPr>
            <a:endParaRPr lang="en-US"/>
          </a:p>
        </p:txBody>
      </p:sp>
      <p:sp>
        <p:nvSpPr>
          <p:cNvPr id="961" name="LGL4"/>
          <p:cNvSpPr/>
          <p:nvPr/>
        </p:nvSpPr>
        <p:spPr>
          <a:xfrm>
            <a:off x="7962900" y="4584700"/>
            <a:ext cx="698500" cy="165100"/>
          </a:xfrm>
          <a:prstGeom prst="roundRect">
            <a:avLst>
              <a:gd name="adj" fmla="val 20000"/>
            </a:avLst>
          </a:prstGeom>
          <a:noFill/>
          <a:ln w="12700">
            <a:noFill/>
          </a:ln>
        </p:spPr>
        <p:txBody>
          <a:bodyPr wrap="square" lIns="9525" tIns="9525" rIns="18000" bIns="9525" anchor="ctr"/>
          <a:lstStyle/>
          <a:p>
            <a:pPr algn="l">
              <a:buNone/>
            </a:pPr>
            <a:r>
              <a:rPr lang="en-US" sz="800" b="1" dirty="0">
                <a:solidFill>
                  <a:srgbClr val="1E293B"/>
                </a:solidFill>
                <a:latin typeface="Calibri"/>
              </a:rPr>
              <a:t>Not allowed</a:t>
            </a:r>
          </a:p>
        </p:txBody>
      </p:sp>
      <p:sp>
        <p:nvSpPr>
          <p:cNvPr id="8" name="V633">
            <a:extLst>
              <a:ext uri="{FF2B5EF4-FFF2-40B4-BE49-F238E27FC236}">
                <a16:creationId xmlns:a16="http://schemas.microsoft.com/office/drawing/2014/main" id="{B4E0486B-AE2A-D54F-E9AD-01282CAD31AC}"/>
              </a:ext>
            </a:extLst>
          </p:cNvPr>
          <p:cNvSpPr/>
          <p:nvPr/>
        </p:nvSpPr>
        <p:spPr>
          <a:xfrm>
            <a:off x="2907980" y="2819400"/>
            <a:ext cx="203200" cy="203200"/>
          </a:xfrm>
          <a:prstGeom prst="ellipse">
            <a:avLst/>
          </a:prstGeom>
          <a:solidFill>
            <a:srgbClr val="FFFFFF"/>
          </a:solidFill>
          <a:ln w="12700">
            <a:solidFill>
              <a:srgbClr val="B91C1C"/>
            </a:solidFill>
          </a:ln>
        </p:spPr>
        <p:txBody>
          <a:bodyPr wrap="square" lIns="36000" tIns="14400" rIns="36000" bIns="14400" anchor="ctr"/>
          <a:lstStyle/>
          <a:p>
            <a:pPr algn="ctr">
              <a:buNone/>
            </a:pPr>
            <a:r>
              <a:rPr lang="en-US" sz="1000" b="1" dirty="0">
                <a:solidFill>
                  <a:srgbClr val="B91C1C"/>
                </a:solidFill>
                <a:latin typeface="Calibri"/>
              </a:rPr>
              <a:t>✕</a:t>
            </a:r>
          </a:p>
        </p:txBody>
      </p:sp>
    </p:spTree>
    <p:extLst>
      <p:ext uri="{BB962C8B-B14F-4D97-AF65-F5344CB8AC3E}">
        <p14:creationId xmlns:p14="http://schemas.microsoft.com/office/powerpoint/2010/main" val="346589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D1493-F05D-6723-A135-7EEFC2CF6457}"/>
            </a:ext>
          </a:extLst>
        </p:cNvPr>
        <p:cNvGrpSpPr/>
        <p:nvPr/>
      </p:nvGrpSpPr>
      <p:grpSpPr>
        <a:xfrm>
          <a:off x="0" y="0"/>
          <a:ext cx="0" cy="0"/>
          <a:chOff x="0" y="0"/>
          <a:chExt cx="0" cy="0"/>
        </a:xfrm>
      </p:grpSpPr>
      <p:sp>
        <p:nvSpPr>
          <p:cNvPr id="10" name="L11">
            <a:extLst>
              <a:ext uri="{FF2B5EF4-FFF2-40B4-BE49-F238E27FC236}">
                <a16:creationId xmlns:a16="http://schemas.microsoft.com/office/drawing/2014/main" id="{8879D113-7A97-9302-FF47-2F370F61E460}"/>
              </a:ext>
            </a:extLst>
          </p:cNvPr>
          <p:cNvSpPr txBox="1"/>
          <p:nvPr/>
        </p:nvSpPr>
        <p:spPr>
          <a:xfrm>
            <a:off x="457200" y="127000"/>
            <a:ext cx="8229600" cy="406400"/>
          </a:xfrm>
          <a:prstGeom prst="rect">
            <a:avLst/>
          </a:prstGeom>
          <a:noFill/>
        </p:spPr>
        <p:txBody>
          <a:bodyPr wrap="square" lIns="18000" tIns="9525" rIns="18000" bIns="9525" anchor="ctr"/>
          <a:lstStyle/>
          <a:p>
            <a:pPr algn="l">
              <a:buNone/>
            </a:pPr>
            <a:r>
              <a:rPr lang="en-US" sz="2600" b="1" dirty="0">
                <a:solidFill>
                  <a:srgbClr val="1E2761"/>
                </a:solidFill>
                <a:latin typeface="Calibri"/>
              </a:rPr>
              <a:t>Zoom-In: Inside One Business Capability Slice</a:t>
            </a:r>
          </a:p>
        </p:txBody>
      </p:sp>
      <p:sp>
        <p:nvSpPr>
          <p:cNvPr id="11" name="L12">
            <a:extLst>
              <a:ext uri="{FF2B5EF4-FFF2-40B4-BE49-F238E27FC236}">
                <a16:creationId xmlns:a16="http://schemas.microsoft.com/office/drawing/2014/main" id="{22105EA8-50B9-1A04-CDA0-CD6C74BEA9F5}"/>
              </a:ext>
            </a:extLst>
          </p:cNvPr>
          <p:cNvSpPr txBox="1"/>
          <p:nvPr/>
        </p:nvSpPr>
        <p:spPr>
          <a:xfrm>
            <a:off x="457200" y="571500"/>
            <a:ext cx="8229600" cy="203200"/>
          </a:xfrm>
          <a:prstGeom prst="rect">
            <a:avLst/>
          </a:prstGeom>
          <a:noFill/>
        </p:spPr>
        <p:txBody>
          <a:bodyPr wrap="square" lIns="18000" tIns="9525" rIns="18000" bIns="9525" anchor="ctr"/>
          <a:lstStyle/>
          <a:p>
            <a:pPr algn="l">
              <a:buNone/>
            </a:pPr>
            <a:r>
              <a:rPr lang="en-US" sz="1100" b="0" dirty="0">
                <a:solidFill>
                  <a:srgbClr val="1E293B"/>
                </a:solidFill>
                <a:latin typeface="Calibri"/>
              </a:rPr>
              <a:t>Each layer exposes its own Abstractions; Handlers now live in the Business Logic Layer</a:t>
            </a:r>
          </a:p>
        </p:txBody>
      </p:sp>
      <p:sp>
        <p:nvSpPr>
          <p:cNvPr id="12" name="L13">
            <a:extLst>
              <a:ext uri="{FF2B5EF4-FFF2-40B4-BE49-F238E27FC236}">
                <a16:creationId xmlns:a16="http://schemas.microsoft.com/office/drawing/2014/main" id="{AC0150F8-EDAA-F982-18A6-BB8E39314F00}"/>
              </a:ext>
            </a:extLst>
          </p:cNvPr>
          <p:cNvSpPr txBox="1"/>
          <p:nvPr/>
        </p:nvSpPr>
        <p:spPr>
          <a:xfrm>
            <a:off x="762000" y="838200"/>
            <a:ext cx="4826000" cy="177800"/>
          </a:xfrm>
          <a:prstGeom prst="rect">
            <a:avLst/>
          </a:prstGeom>
          <a:noFill/>
        </p:spPr>
        <p:txBody>
          <a:bodyPr wrap="square" lIns="18000" tIns="9525" rIns="18000" bIns="9525" anchor="ctr"/>
          <a:lstStyle/>
          <a:p>
            <a:pPr algn="l">
              <a:buNone/>
            </a:pPr>
            <a:r>
              <a:rPr lang="en-US" sz="900" b="1" dirty="0">
                <a:solidFill>
                  <a:srgbClr val="1E2761"/>
                </a:solidFill>
                <a:latin typeface="Calibri"/>
              </a:rPr>
              <a:t>1 SLICE = 1 .NET PROJECT  ·  SAME STRUCTURE REPEATED PER CAPABILITY</a:t>
            </a:r>
          </a:p>
        </p:txBody>
      </p:sp>
      <p:sp>
        <p:nvSpPr>
          <p:cNvPr id="22" name="S4">
            <a:extLst>
              <a:ext uri="{FF2B5EF4-FFF2-40B4-BE49-F238E27FC236}">
                <a16:creationId xmlns:a16="http://schemas.microsoft.com/office/drawing/2014/main" id="{6D4E9E46-AC05-9B3D-57B8-15AAC103C421}"/>
              </a:ext>
            </a:extLst>
          </p:cNvPr>
          <p:cNvSpPr/>
          <p:nvPr/>
        </p:nvSpPr>
        <p:spPr>
          <a:xfrm>
            <a:off x="492760" y="3881118"/>
            <a:ext cx="4993640" cy="664213"/>
          </a:xfrm>
          <a:prstGeom prst="roundRect">
            <a:avLst>
              <a:gd name="adj" fmla="val 8000"/>
            </a:avLst>
          </a:prstGeom>
          <a:solidFill>
            <a:srgbClr val="D6DEF5"/>
          </a:solidFill>
          <a:ln w="12700">
            <a:solidFill>
              <a:srgbClr val="5A6BA8"/>
            </a:solidFill>
          </a:ln>
        </p:spPr>
        <p:txBody>
          <a:bodyPr wrap="square" lIns="45720" tIns="45720" rIns="45720" bIns="27432" anchor="t"/>
          <a:lstStyle/>
          <a:p>
            <a:pPr>
              <a:buNone/>
            </a:pPr>
            <a:r>
              <a:rPr lang="en-US" sz="1000" b="1" dirty="0">
                <a:solidFill>
                  <a:srgbClr val="1E2761"/>
                </a:solidFill>
                <a:latin typeface="Calibri"/>
              </a:rPr>
              <a:t>                                                        Data &amp; Integrations</a:t>
            </a:r>
          </a:p>
        </p:txBody>
      </p:sp>
      <p:sp>
        <p:nvSpPr>
          <p:cNvPr id="23" name="XC">
            <a:extLst>
              <a:ext uri="{FF2B5EF4-FFF2-40B4-BE49-F238E27FC236}">
                <a16:creationId xmlns:a16="http://schemas.microsoft.com/office/drawing/2014/main" id="{88589466-EDA1-03E1-0D1A-79275235B949}"/>
              </a:ext>
            </a:extLst>
          </p:cNvPr>
          <p:cNvSpPr/>
          <p:nvPr/>
        </p:nvSpPr>
        <p:spPr>
          <a:xfrm>
            <a:off x="6006780" y="1066800"/>
            <a:ext cx="2680019" cy="3378200"/>
          </a:xfrm>
          <a:prstGeom prst="roundRect">
            <a:avLst>
              <a:gd name="adj" fmla="val 8000"/>
            </a:avLst>
          </a:prstGeom>
          <a:noFill/>
          <a:ln w="12700">
            <a:solidFill>
              <a:srgbClr val="5A6BA8"/>
            </a:solidFill>
            <a:prstDash val="dash"/>
          </a:ln>
        </p:spPr>
        <p:txBody>
          <a:bodyPr wrap="square" lIns="45720" tIns="27432" rIns="45720" bIns="27432" anchor="ctr"/>
          <a:lstStyle/>
          <a:p>
            <a:pPr algn="ctr">
              <a:buNone/>
            </a:pPr>
            <a:endParaRPr lang="en-US"/>
          </a:p>
        </p:txBody>
      </p:sp>
      <p:sp>
        <p:nvSpPr>
          <p:cNvPr id="24" name="XCHead">
            <a:extLst>
              <a:ext uri="{FF2B5EF4-FFF2-40B4-BE49-F238E27FC236}">
                <a16:creationId xmlns:a16="http://schemas.microsoft.com/office/drawing/2014/main" id="{E0F1FE9A-CA32-B18A-3C03-4E91F6AF57D0}"/>
              </a:ext>
            </a:extLst>
          </p:cNvPr>
          <p:cNvSpPr/>
          <p:nvPr/>
        </p:nvSpPr>
        <p:spPr>
          <a:xfrm>
            <a:off x="6080758" y="1168400"/>
            <a:ext cx="2504442" cy="279400"/>
          </a:xfrm>
          <a:prstGeom prst="roundRect">
            <a:avLst>
              <a:gd name="adj" fmla="val 12000"/>
            </a:avLst>
          </a:prstGeom>
          <a:solidFill>
            <a:srgbClr val="1E2761"/>
          </a:solidFill>
          <a:ln>
            <a:noFill/>
          </a:ln>
        </p:spPr>
        <p:txBody>
          <a:bodyPr lIns="0" tIns="0" rIns="0" bIns="0" anchor="ctr"/>
          <a:lstStyle/>
          <a:p>
            <a:pPr algn="ctr">
              <a:buNone/>
            </a:pPr>
            <a:r>
              <a:rPr lang="en-US" sz="1000" b="1" dirty="0">
                <a:solidFill>
                  <a:srgbClr val="FFFFFF"/>
                </a:solidFill>
                <a:latin typeface="Calibri"/>
              </a:rPr>
              <a:t>APPLIES TO ALL LAYERS</a:t>
            </a:r>
          </a:p>
        </p:txBody>
      </p:sp>
      <p:sp>
        <p:nvSpPr>
          <p:cNvPr id="25" name="XC0">
            <a:extLst>
              <a:ext uri="{FF2B5EF4-FFF2-40B4-BE49-F238E27FC236}">
                <a16:creationId xmlns:a16="http://schemas.microsoft.com/office/drawing/2014/main" id="{13B7CF06-8A11-4898-5833-E874F2175602}"/>
              </a:ext>
            </a:extLst>
          </p:cNvPr>
          <p:cNvSpPr/>
          <p:nvPr/>
        </p:nvSpPr>
        <p:spPr>
          <a:xfrm>
            <a:off x="6080760" y="1701800"/>
            <a:ext cx="2479040" cy="203200"/>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Queries: Requests + Responses</a:t>
            </a:r>
          </a:p>
        </p:txBody>
      </p:sp>
      <p:sp>
        <p:nvSpPr>
          <p:cNvPr id="26" name="XC1">
            <a:extLst>
              <a:ext uri="{FF2B5EF4-FFF2-40B4-BE49-F238E27FC236}">
                <a16:creationId xmlns:a16="http://schemas.microsoft.com/office/drawing/2014/main" id="{92C636A0-75AB-66CC-EF77-9C20FC6CF7AE}"/>
              </a:ext>
            </a:extLst>
          </p:cNvPr>
          <p:cNvSpPr/>
          <p:nvPr/>
        </p:nvSpPr>
        <p:spPr>
          <a:xfrm>
            <a:off x="6080760" y="1917700"/>
            <a:ext cx="2479040" cy="203200"/>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Commands</a:t>
            </a:r>
            <a:r>
              <a:rPr lang="en-US" sz="1000" b="1" dirty="0">
                <a:solidFill>
                  <a:srgbClr val="1E2761"/>
                </a:solidFill>
              </a:rPr>
              <a:t>: Requests + Responses</a:t>
            </a:r>
            <a:endParaRPr lang="en-US" sz="1000" b="1" dirty="0">
              <a:solidFill>
                <a:srgbClr val="1E2761"/>
              </a:solidFill>
              <a:latin typeface="Calibri"/>
            </a:endParaRPr>
          </a:p>
        </p:txBody>
      </p:sp>
      <p:sp>
        <p:nvSpPr>
          <p:cNvPr id="27" name="XC2">
            <a:extLst>
              <a:ext uri="{FF2B5EF4-FFF2-40B4-BE49-F238E27FC236}">
                <a16:creationId xmlns:a16="http://schemas.microsoft.com/office/drawing/2014/main" id="{27D770AD-E116-AF5D-4CAA-3ECBE7D19C18}"/>
              </a:ext>
            </a:extLst>
          </p:cNvPr>
          <p:cNvSpPr/>
          <p:nvPr/>
        </p:nvSpPr>
        <p:spPr>
          <a:xfrm>
            <a:off x="6080758" y="2133600"/>
            <a:ext cx="2479041" cy="190500"/>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Notifications</a:t>
            </a:r>
          </a:p>
        </p:txBody>
      </p:sp>
      <p:sp>
        <p:nvSpPr>
          <p:cNvPr id="28" name="XC3">
            <a:extLst>
              <a:ext uri="{FF2B5EF4-FFF2-40B4-BE49-F238E27FC236}">
                <a16:creationId xmlns:a16="http://schemas.microsoft.com/office/drawing/2014/main" id="{0FA38CEC-7A65-BCC5-AA87-0A1CB427641A}"/>
              </a:ext>
            </a:extLst>
          </p:cNvPr>
          <p:cNvSpPr/>
          <p:nvPr/>
        </p:nvSpPr>
        <p:spPr>
          <a:xfrm>
            <a:off x="6080760" y="2349500"/>
            <a:ext cx="2479040" cy="152399"/>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Data Entities &amp; DTOs</a:t>
            </a:r>
          </a:p>
        </p:txBody>
      </p:sp>
      <p:sp>
        <p:nvSpPr>
          <p:cNvPr id="29" name="XC4">
            <a:extLst>
              <a:ext uri="{FF2B5EF4-FFF2-40B4-BE49-F238E27FC236}">
                <a16:creationId xmlns:a16="http://schemas.microsoft.com/office/drawing/2014/main" id="{53AC0026-DB7A-FAFD-F245-A5A5CBC87B0E}"/>
              </a:ext>
            </a:extLst>
          </p:cNvPr>
          <p:cNvSpPr/>
          <p:nvPr/>
        </p:nvSpPr>
        <p:spPr>
          <a:xfrm>
            <a:off x="6080760" y="2565400"/>
            <a:ext cx="2479040" cy="220980"/>
          </a:xfrm>
          <a:prstGeom prst="roundRect">
            <a:avLst>
              <a:gd name="adj" fmla="val 20000"/>
            </a:avLst>
          </a:prstGeom>
          <a:solidFill>
            <a:srgbClr val="F4F7FE"/>
          </a:solidFill>
          <a:ln w="12700">
            <a:solidFill>
              <a:srgbClr val="C3D4F2"/>
            </a:solidFill>
          </a:ln>
        </p:spPr>
        <p:txBody>
          <a:bodyPr wrap="square" lIns="45720" tIns="0" rIns="45720" bIns="0" anchor="ctr"/>
          <a:lstStyle/>
          <a:p>
            <a:pPr algn="ctr">
              <a:buNone/>
            </a:pPr>
            <a:r>
              <a:rPr lang="en-US" sz="1000" b="1" dirty="0">
                <a:solidFill>
                  <a:srgbClr val="1E2761"/>
                </a:solidFill>
                <a:latin typeface="Calibri"/>
              </a:rPr>
              <a:t>Shared Enums</a:t>
            </a:r>
          </a:p>
        </p:txBody>
      </p:sp>
      <p:sp>
        <p:nvSpPr>
          <p:cNvPr id="31" name="L66">
            <a:extLst>
              <a:ext uri="{FF2B5EF4-FFF2-40B4-BE49-F238E27FC236}">
                <a16:creationId xmlns:a16="http://schemas.microsoft.com/office/drawing/2014/main" id="{086BC3A7-F82F-C35C-A4BA-E92702D67295}"/>
              </a:ext>
            </a:extLst>
          </p:cNvPr>
          <p:cNvSpPr txBox="1"/>
          <p:nvPr/>
        </p:nvSpPr>
        <p:spPr>
          <a:xfrm>
            <a:off x="457200" y="4597400"/>
            <a:ext cx="8229600" cy="228600"/>
          </a:xfrm>
          <a:prstGeom prst="rect">
            <a:avLst/>
          </a:prstGeom>
          <a:noFill/>
        </p:spPr>
        <p:txBody>
          <a:bodyPr wrap="square" lIns="18000" tIns="9525" rIns="18000" bIns="9525" anchor="ctr"/>
          <a:lstStyle/>
          <a:p>
            <a:pPr algn="l">
              <a:buNone/>
            </a:pPr>
            <a:r>
              <a:rPr lang="en-US" sz="1000" b="0" dirty="0">
                <a:solidFill>
                  <a:srgbClr val="1E293B"/>
                </a:solidFill>
                <a:latin typeface="Calibri"/>
              </a:rPr>
              <a:t>API Host wires each slice via DI  ·  everything in the BLL depends on Abstractions  ·  only Models &amp; Infrastructure reach the shared cross-cutting concerns</a:t>
            </a:r>
          </a:p>
        </p:txBody>
      </p:sp>
      <p:sp>
        <p:nvSpPr>
          <p:cNvPr id="401" name="GOracle">
            <a:extLst>
              <a:ext uri="{FF2B5EF4-FFF2-40B4-BE49-F238E27FC236}">
                <a16:creationId xmlns:a16="http://schemas.microsoft.com/office/drawing/2014/main" id="{B995139C-E77A-578A-4499-60BD62F23BEF}"/>
              </a:ext>
            </a:extLst>
          </p:cNvPr>
          <p:cNvSpPr/>
          <p:nvPr/>
        </p:nvSpPr>
        <p:spPr>
          <a:xfrm>
            <a:off x="746759" y="4151106"/>
            <a:ext cx="225107" cy="265954"/>
          </a:xfrm>
          <a:prstGeom prst="can">
            <a:avLst/>
          </a:prstGeom>
          <a:solidFill>
            <a:srgbClr val="1E2761"/>
          </a:solidFill>
          <a:ln>
            <a:noFill/>
          </a:ln>
        </p:spPr>
        <p:txBody>
          <a:bodyPr/>
          <a:lstStyle/>
          <a:p>
            <a:endParaRPr lang="en-US"/>
          </a:p>
        </p:txBody>
      </p:sp>
      <p:sp>
        <p:nvSpPr>
          <p:cNvPr id="402" name="GMongo">
            <a:extLst>
              <a:ext uri="{FF2B5EF4-FFF2-40B4-BE49-F238E27FC236}">
                <a16:creationId xmlns:a16="http://schemas.microsoft.com/office/drawing/2014/main" id="{E76BF029-FA78-5BDF-1C25-9969D4EE8141}"/>
              </a:ext>
            </a:extLst>
          </p:cNvPr>
          <p:cNvSpPr/>
          <p:nvPr/>
        </p:nvSpPr>
        <p:spPr>
          <a:xfrm>
            <a:off x="1375886" y="4135903"/>
            <a:ext cx="249874" cy="265952"/>
          </a:xfrm>
          <a:prstGeom prst="teardrop">
            <a:avLst/>
          </a:prstGeom>
          <a:solidFill>
            <a:srgbClr val="1E2761"/>
          </a:solidFill>
          <a:ln>
            <a:noFill/>
          </a:ln>
        </p:spPr>
        <p:txBody>
          <a:bodyPr/>
          <a:lstStyle/>
          <a:p>
            <a:endParaRPr lang="en-US"/>
          </a:p>
        </p:txBody>
      </p:sp>
      <p:sp>
        <p:nvSpPr>
          <p:cNvPr id="403" name="GRedis">
            <a:extLst>
              <a:ext uri="{FF2B5EF4-FFF2-40B4-BE49-F238E27FC236}">
                <a16:creationId xmlns:a16="http://schemas.microsoft.com/office/drawing/2014/main" id="{E4A0DE7E-E153-49E8-EAA9-DD0136BE5607}"/>
              </a:ext>
            </a:extLst>
          </p:cNvPr>
          <p:cNvSpPr/>
          <p:nvPr/>
        </p:nvSpPr>
        <p:spPr>
          <a:xfrm>
            <a:off x="1991994" y="4151107"/>
            <a:ext cx="294321" cy="265953"/>
          </a:xfrm>
          <a:prstGeom prst="lightningBolt">
            <a:avLst/>
          </a:prstGeom>
          <a:solidFill>
            <a:srgbClr val="1E2761"/>
          </a:solidFill>
          <a:ln>
            <a:noFill/>
          </a:ln>
        </p:spPr>
        <p:txBody>
          <a:bodyPr/>
          <a:lstStyle/>
          <a:p>
            <a:endParaRPr lang="en-US"/>
          </a:p>
        </p:txBody>
      </p:sp>
      <p:sp>
        <p:nvSpPr>
          <p:cNvPr id="404" name="GApi">
            <a:extLst>
              <a:ext uri="{FF2B5EF4-FFF2-40B4-BE49-F238E27FC236}">
                <a16:creationId xmlns:a16="http://schemas.microsoft.com/office/drawing/2014/main" id="{4CF4C25E-9837-D3C8-DBDB-07A5FB82A791}"/>
              </a:ext>
            </a:extLst>
          </p:cNvPr>
          <p:cNvSpPr/>
          <p:nvPr/>
        </p:nvSpPr>
        <p:spPr>
          <a:xfrm>
            <a:off x="4528819" y="4135903"/>
            <a:ext cx="278765" cy="265917"/>
          </a:xfrm>
          <a:prstGeom prst="cloud">
            <a:avLst/>
          </a:prstGeom>
          <a:solidFill>
            <a:srgbClr val="1E2761"/>
          </a:solidFill>
          <a:ln>
            <a:noFill/>
          </a:ln>
        </p:spPr>
        <p:txBody>
          <a:bodyPr/>
          <a:lstStyle/>
          <a:p>
            <a:endParaRPr lang="en-US"/>
          </a:p>
        </p:txBody>
      </p:sp>
      <p:sp>
        <p:nvSpPr>
          <p:cNvPr id="501" name="GKafka">
            <a:extLst>
              <a:ext uri="{FF2B5EF4-FFF2-40B4-BE49-F238E27FC236}">
                <a16:creationId xmlns:a16="http://schemas.microsoft.com/office/drawing/2014/main" id="{F7D75E92-BE00-3458-D9FF-6E38B4B446F9}"/>
              </a:ext>
            </a:extLst>
          </p:cNvPr>
          <p:cNvSpPr/>
          <p:nvPr/>
        </p:nvSpPr>
        <p:spPr>
          <a:xfrm>
            <a:off x="3522980" y="4151106"/>
            <a:ext cx="218754" cy="265953"/>
          </a:xfrm>
          <a:prstGeom prst="chevron">
            <a:avLst/>
          </a:prstGeom>
          <a:solidFill>
            <a:srgbClr val="1E2761"/>
          </a:solidFill>
          <a:ln>
            <a:noFill/>
          </a:ln>
        </p:spPr>
        <p:txBody>
          <a:bodyPr/>
          <a:lstStyle/>
          <a:p>
            <a:endParaRPr lang="en-US"/>
          </a:p>
        </p:txBody>
      </p:sp>
      <p:sp>
        <p:nvSpPr>
          <p:cNvPr id="502" name="XCL1">
            <a:extLst>
              <a:ext uri="{FF2B5EF4-FFF2-40B4-BE49-F238E27FC236}">
                <a16:creationId xmlns:a16="http://schemas.microsoft.com/office/drawing/2014/main" id="{807754F9-B88C-F229-71BE-53640A4F5B54}"/>
              </a:ext>
            </a:extLst>
          </p:cNvPr>
          <p:cNvSpPr txBox="1"/>
          <p:nvPr/>
        </p:nvSpPr>
        <p:spPr>
          <a:xfrm>
            <a:off x="6080760" y="1511300"/>
            <a:ext cx="2479040" cy="152400"/>
          </a:xfrm>
          <a:prstGeom prst="rect">
            <a:avLst/>
          </a:prstGeom>
          <a:noFill/>
        </p:spPr>
        <p:txBody>
          <a:bodyPr wrap="square" lIns="0" tIns="0" rIns="0" bIns="0" anchor="ctr"/>
          <a:lstStyle/>
          <a:p>
            <a:pPr algn="ctr">
              <a:buNone/>
            </a:pPr>
            <a:r>
              <a:rPr lang="en-US" sz="1000" b="1" dirty="0">
                <a:solidFill>
                  <a:srgbClr val="4A5578"/>
                </a:solidFill>
                <a:latin typeface="Calibri"/>
              </a:rPr>
              <a:t>SHARED MODELS</a:t>
            </a:r>
          </a:p>
        </p:txBody>
      </p:sp>
      <p:sp>
        <p:nvSpPr>
          <p:cNvPr id="503" name="XCL2">
            <a:extLst>
              <a:ext uri="{FF2B5EF4-FFF2-40B4-BE49-F238E27FC236}">
                <a16:creationId xmlns:a16="http://schemas.microsoft.com/office/drawing/2014/main" id="{5F2EBABE-E646-98FB-7199-6A22D0C86FE1}"/>
              </a:ext>
            </a:extLst>
          </p:cNvPr>
          <p:cNvSpPr txBox="1"/>
          <p:nvPr/>
        </p:nvSpPr>
        <p:spPr>
          <a:xfrm>
            <a:off x="6080760" y="2832100"/>
            <a:ext cx="2479040" cy="152400"/>
          </a:xfrm>
          <a:prstGeom prst="rect">
            <a:avLst/>
          </a:prstGeom>
          <a:noFill/>
        </p:spPr>
        <p:txBody>
          <a:bodyPr wrap="square" lIns="0" tIns="0" rIns="0" bIns="0" anchor="ctr"/>
          <a:lstStyle/>
          <a:p>
            <a:pPr algn="ctr">
              <a:buNone/>
            </a:pPr>
            <a:r>
              <a:rPr lang="en-US" sz="1000" b="1" dirty="0">
                <a:solidFill>
                  <a:srgbClr val="4A5578"/>
                </a:solidFill>
                <a:latin typeface="Calibri"/>
              </a:rPr>
              <a:t>TECHNICAL CONCERNS</a:t>
            </a:r>
          </a:p>
        </p:txBody>
      </p:sp>
      <p:sp>
        <p:nvSpPr>
          <p:cNvPr id="504" name="XN0">
            <a:extLst>
              <a:ext uri="{FF2B5EF4-FFF2-40B4-BE49-F238E27FC236}">
                <a16:creationId xmlns:a16="http://schemas.microsoft.com/office/drawing/2014/main" id="{47CFCBC0-E472-DC7D-45F8-B14FC4416209}"/>
              </a:ext>
            </a:extLst>
          </p:cNvPr>
          <p:cNvSpPr/>
          <p:nvPr/>
        </p:nvSpPr>
        <p:spPr>
          <a:xfrm>
            <a:off x="6080760" y="3022600"/>
            <a:ext cx="2479040" cy="152399"/>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buNone/>
            </a:pPr>
            <a:r>
              <a:rPr lang="en-US" sz="1000" b="1" dirty="0">
                <a:solidFill>
                  <a:srgbClr val="1E2761"/>
                </a:solidFill>
                <a:latin typeface="Calibri"/>
              </a:rPr>
              <a:t>Security · AuthN / AuthZ</a:t>
            </a:r>
          </a:p>
        </p:txBody>
      </p:sp>
      <p:sp>
        <p:nvSpPr>
          <p:cNvPr id="505" name="XN1">
            <a:extLst>
              <a:ext uri="{FF2B5EF4-FFF2-40B4-BE49-F238E27FC236}">
                <a16:creationId xmlns:a16="http://schemas.microsoft.com/office/drawing/2014/main" id="{262861A1-047D-362E-6849-4056D2CEB7AC}"/>
              </a:ext>
            </a:extLst>
          </p:cNvPr>
          <p:cNvSpPr/>
          <p:nvPr/>
        </p:nvSpPr>
        <p:spPr>
          <a:xfrm>
            <a:off x="6080758" y="3238500"/>
            <a:ext cx="2479042" cy="160655"/>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r>
              <a:rPr lang="en-US" sz="1000" b="1" dirty="0">
                <a:solidFill>
                  <a:srgbClr val="1E2761"/>
                </a:solidFill>
                <a:latin typeface="Calibri"/>
              </a:rPr>
              <a:t>Observability: Logging </a:t>
            </a:r>
            <a:r>
              <a:rPr lang="en-US" sz="1000" b="1" dirty="0">
                <a:solidFill>
                  <a:srgbClr val="1E2761"/>
                </a:solidFill>
              </a:rPr>
              <a:t>· Tracing </a:t>
            </a:r>
            <a:r>
              <a:rPr lang="en-US" sz="1000" b="1">
                <a:solidFill>
                  <a:srgbClr val="1E2761"/>
                </a:solidFill>
              </a:rPr>
              <a:t>· Metrics</a:t>
            </a:r>
            <a:endParaRPr lang="en-US" sz="1000" b="1" dirty="0">
              <a:solidFill>
                <a:srgbClr val="1E2761"/>
              </a:solidFill>
              <a:latin typeface="Calibri"/>
            </a:endParaRPr>
          </a:p>
        </p:txBody>
      </p:sp>
      <p:sp>
        <p:nvSpPr>
          <p:cNvPr id="507" name="XN3">
            <a:extLst>
              <a:ext uri="{FF2B5EF4-FFF2-40B4-BE49-F238E27FC236}">
                <a16:creationId xmlns:a16="http://schemas.microsoft.com/office/drawing/2014/main" id="{52A092AF-AA95-C3D1-B072-E1F13B510E50}"/>
              </a:ext>
            </a:extLst>
          </p:cNvPr>
          <p:cNvSpPr/>
          <p:nvPr/>
        </p:nvSpPr>
        <p:spPr>
          <a:xfrm>
            <a:off x="6080758" y="3454400"/>
            <a:ext cx="2479042" cy="172719"/>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buNone/>
            </a:pPr>
            <a:r>
              <a:rPr lang="en-US" sz="1000" b="1" dirty="0">
                <a:solidFill>
                  <a:srgbClr val="1E2761"/>
                </a:solidFill>
                <a:latin typeface="Calibri"/>
              </a:rPr>
              <a:t>Config · Secrets</a:t>
            </a:r>
          </a:p>
        </p:txBody>
      </p:sp>
      <p:sp>
        <p:nvSpPr>
          <p:cNvPr id="508" name="XN4">
            <a:extLst>
              <a:ext uri="{FF2B5EF4-FFF2-40B4-BE49-F238E27FC236}">
                <a16:creationId xmlns:a16="http://schemas.microsoft.com/office/drawing/2014/main" id="{8324E444-DFBF-DD35-C269-0713B9ADD1D5}"/>
              </a:ext>
            </a:extLst>
          </p:cNvPr>
          <p:cNvSpPr/>
          <p:nvPr/>
        </p:nvSpPr>
        <p:spPr>
          <a:xfrm>
            <a:off x="6080760" y="3670300"/>
            <a:ext cx="2479040" cy="172719"/>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buNone/>
            </a:pPr>
            <a:r>
              <a:rPr lang="en-US" sz="1000" b="1" dirty="0">
                <a:solidFill>
                  <a:srgbClr val="1E2761"/>
                </a:solidFill>
                <a:latin typeface="Calibri"/>
              </a:rPr>
              <a:t>Exception handling · retries</a:t>
            </a:r>
          </a:p>
        </p:txBody>
      </p:sp>
      <p:sp>
        <p:nvSpPr>
          <p:cNvPr id="509" name="XN5">
            <a:extLst>
              <a:ext uri="{FF2B5EF4-FFF2-40B4-BE49-F238E27FC236}">
                <a16:creationId xmlns:a16="http://schemas.microsoft.com/office/drawing/2014/main" id="{A2A1CA26-8C9D-1B6E-345C-FB0269E80F8F}"/>
              </a:ext>
            </a:extLst>
          </p:cNvPr>
          <p:cNvSpPr/>
          <p:nvPr/>
        </p:nvSpPr>
        <p:spPr>
          <a:xfrm>
            <a:off x="6080760" y="3886200"/>
            <a:ext cx="2479040" cy="190500"/>
          </a:xfrm>
          <a:prstGeom prst="roundRect">
            <a:avLst>
              <a:gd name="adj" fmla="val 20000"/>
            </a:avLst>
          </a:prstGeom>
          <a:solidFill>
            <a:srgbClr val="F4F7FE"/>
          </a:solidFill>
          <a:ln w="12700">
            <a:solidFill>
              <a:srgbClr val="C3D4F2"/>
            </a:solidFill>
          </a:ln>
        </p:spPr>
        <p:txBody>
          <a:bodyPr wrap="square" lIns="18288" tIns="0" rIns="18288" bIns="0" anchor="ctr"/>
          <a:lstStyle/>
          <a:p>
            <a:pPr algn="ctr">
              <a:buNone/>
            </a:pPr>
            <a:r>
              <a:rPr lang="en-US" sz="1000" b="1" dirty="0">
                <a:solidFill>
                  <a:srgbClr val="1E2761"/>
                </a:solidFill>
                <a:latin typeface="Calibri"/>
              </a:rPr>
              <a:t>Health Checks</a:t>
            </a:r>
          </a:p>
        </p:txBody>
      </p:sp>
      <p:sp>
        <p:nvSpPr>
          <p:cNvPr id="800" name="APIH">
            <a:extLst>
              <a:ext uri="{FF2B5EF4-FFF2-40B4-BE49-F238E27FC236}">
                <a16:creationId xmlns:a16="http://schemas.microsoft.com/office/drawing/2014/main" id="{13B7CF06-8A11-4898-5833-E874F2175602}"/>
              </a:ext>
            </a:extLst>
          </p:cNvPr>
          <p:cNvSpPr/>
          <p:nvPr/>
        </p:nvSpPr>
        <p:spPr>
          <a:xfrm>
            <a:off x="525780" y="1003299"/>
            <a:ext cx="4978400" cy="228600"/>
          </a:xfrm>
          <a:prstGeom prst="roundRect">
            <a:avLst>
              <a:gd name="adj" fmla="val 20000"/>
            </a:avLst>
          </a:prstGeom>
          <a:solidFill>
            <a:srgbClr val="1E2761"/>
          </a:solidFill>
          <a:ln w="9525">
            <a:solidFill>
              <a:srgbClr val="1E2761"/>
            </a:solidFill>
          </a:ln>
        </p:spPr>
        <p:txBody>
          <a:bodyPr wrap="square" lIns="18000" tIns="9525" rIns="18000" bIns="9525" anchor="ctr"/>
          <a:lstStyle/>
          <a:p>
            <a:pPr algn="ctr">
              <a:buNone/>
            </a:pPr>
            <a:r>
              <a:rPr lang="en-US" sz="900" b="1" dirty="0">
                <a:solidFill>
                  <a:srgbClr val="FFFFFF"/>
                </a:solidFill>
                <a:latin typeface="Calibri"/>
              </a:rPr>
              <a:t>API Host (composition root) — resolves each slice's DI registration</a:t>
            </a:r>
          </a:p>
        </p:txBody>
      </p:sp>
      <p:sp>
        <p:nvSpPr>
          <p:cNvPr id="801" name="PRES">
            <a:extLst>
              <a:ext uri="{FF2B5EF4-FFF2-40B4-BE49-F238E27FC236}">
                <a16:creationId xmlns:a16="http://schemas.microsoft.com/office/drawing/2014/main" id="{13B7CF06-8A11-4898-5833-E874F2175602}"/>
              </a:ext>
            </a:extLst>
          </p:cNvPr>
          <p:cNvSpPr/>
          <p:nvPr/>
        </p:nvSpPr>
        <p:spPr>
          <a:xfrm>
            <a:off x="508000" y="1295400"/>
            <a:ext cx="4978400" cy="457200"/>
          </a:xfrm>
          <a:prstGeom prst="roundRect">
            <a:avLst>
              <a:gd name="adj" fmla="val 20000"/>
            </a:avLst>
          </a:prstGeom>
          <a:solidFill>
            <a:srgbClr val="EFF3FC"/>
          </a:solidFill>
          <a:ln w="9525">
            <a:solidFill>
              <a:srgbClr val="C7D2F0"/>
            </a:solidFill>
          </a:ln>
        </p:spPr>
        <p:txBody>
          <a:bodyPr wrap="square" lIns="72000" tIns="9525" rIns="18000" bIns="9525" anchor="t"/>
          <a:lstStyle/>
          <a:p>
            <a:pPr algn="l">
              <a:buNone/>
            </a:pPr>
            <a:r>
              <a:rPr lang="en-US" sz="900" b="1" dirty="0">
                <a:solidFill>
                  <a:srgbClr val="1E2761"/>
                </a:solidFill>
                <a:latin typeface="Calibri"/>
              </a:rPr>
              <a:t>                                                      Presentation Layer (APIs)</a:t>
            </a:r>
          </a:p>
        </p:txBody>
      </p:sp>
      <p:sp>
        <p:nvSpPr>
          <p:cNvPr id="802" name="PCTRL">
            <a:extLst>
              <a:ext uri="{FF2B5EF4-FFF2-40B4-BE49-F238E27FC236}">
                <a16:creationId xmlns:a16="http://schemas.microsoft.com/office/drawing/2014/main" id="{13B7CF06-8A11-4898-5833-E874F2175602}"/>
              </a:ext>
            </a:extLst>
          </p:cNvPr>
          <p:cNvSpPr/>
          <p:nvPr/>
        </p:nvSpPr>
        <p:spPr>
          <a:xfrm>
            <a:off x="762000" y="1498600"/>
            <a:ext cx="2590800" cy="228600"/>
          </a:xfrm>
          <a:prstGeom prst="roundRect">
            <a:avLst>
              <a:gd name="adj" fmla="val 20000"/>
            </a:avLst>
          </a:prstGeom>
          <a:solidFill>
            <a:srgbClr val="FFFFFF"/>
          </a:solidFill>
          <a:ln w="9525">
            <a:solidFill>
              <a:srgbClr val="C7D2F0"/>
            </a:solidFill>
          </a:ln>
        </p:spPr>
        <p:txBody>
          <a:bodyPr wrap="square" lIns="18000" tIns="9525" rIns="18000" bIns="9525" anchor="ctr"/>
          <a:lstStyle/>
          <a:p>
            <a:pPr algn="ctr">
              <a:buNone/>
            </a:pPr>
            <a:r>
              <a:rPr lang="en-US" sz="900" b="1" dirty="0">
                <a:solidFill>
                  <a:srgbClr val="1E2761"/>
                </a:solidFill>
                <a:latin typeface="Calibri"/>
              </a:rPr>
              <a:t>Controllers</a:t>
            </a:r>
          </a:p>
        </p:txBody>
      </p:sp>
      <p:sp>
        <p:nvSpPr>
          <p:cNvPr id="803" name="PDTO">
            <a:extLst>
              <a:ext uri="{FF2B5EF4-FFF2-40B4-BE49-F238E27FC236}">
                <a16:creationId xmlns:a16="http://schemas.microsoft.com/office/drawing/2014/main" id="{13B7CF06-8A11-4898-5833-E874F2175602}"/>
              </a:ext>
            </a:extLst>
          </p:cNvPr>
          <p:cNvSpPr/>
          <p:nvPr/>
        </p:nvSpPr>
        <p:spPr>
          <a:xfrm>
            <a:off x="3454400" y="1498600"/>
            <a:ext cx="1930400" cy="228600"/>
          </a:xfrm>
          <a:prstGeom prst="roundRect">
            <a:avLst>
              <a:gd name="adj" fmla="val 20000"/>
            </a:avLst>
          </a:prstGeom>
          <a:solidFill>
            <a:srgbClr val="FFC000">
              <a:alpha val="79000"/>
            </a:srgbClr>
          </a:solidFill>
          <a:ln w="9525">
            <a:solidFill>
              <a:srgbClr val="C7D2F0"/>
            </a:solidFill>
          </a:ln>
        </p:spPr>
        <p:txBody>
          <a:bodyPr wrap="square" lIns="18000" tIns="9525" rIns="18000" bIns="9525" anchor="ctr"/>
          <a:lstStyle/>
          <a:p>
            <a:pPr algn="ctr">
              <a:buNone/>
            </a:pPr>
            <a:r>
              <a:rPr lang="en-US" sz="800" b="1" dirty="0">
                <a:solidFill>
                  <a:srgbClr val="1E2761"/>
                </a:solidFill>
                <a:latin typeface="Calibri"/>
              </a:rPr>
              <a:t>Public DI Registration for the slice</a:t>
            </a:r>
          </a:p>
        </p:txBody>
      </p:sp>
      <p:sp>
        <p:nvSpPr>
          <p:cNvPr id="804" name="BLL">
            <a:extLst>
              <a:ext uri="{FF2B5EF4-FFF2-40B4-BE49-F238E27FC236}">
                <a16:creationId xmlns:a16="http://schemas.microsoft.com/office/drawing/2014/main" id="{13B7CF06-8A11-4898-5833-E874F2175602}"/>
              </a:ext>
            </a:extLst>
          </p:cNvPr>
          <p:cNvSpPr/>
          <p:nvPr/>
        </p:nvSpPr>
        <p:spPr>
          <a:xfrm>
            <a:off x="508000" y="1778000"/>
            <a:ext cx="4978400" cy="1066800"/>
          </a:xfrm>
          <a:prstGeom prst="roundRect">
            <a:avLst>
              <a:gd name="adj" fmla="val 20000"/>
            </a:avLst>
          </a:prstGeom>
          <a:solidFill>
            <a:srgbClr val="EFF3FC"/>
          </a:solidFill>
          <a:ln w="9525">
            <a:solidFill>
              <a:srgbClr val="C7D2F0"/>
            </a:solidFill>
          </a:ln>
        </p:spPr>
        <p:txBody>
          <a:bodyPr wrap="square" lIns="72000" tIns="9525" rIns="18000" bIns="9525" anchor="t"/>
          <a:lstStyle/>
          <a:p>
            <a:pPr algn="l">
              <a:buNone/>
            </a:pPr>
            <a:r>
              <a:rPr lang="en-US" sz="900" b="1" dirty="0">
                <a:solidFill>
                  <a:srgbClr val="1E2761"/>
                </a:solidFill>
                <a:latin typeface="Calibri"/>
              </a:rPr>
              <a:t>                                                      Business Logic Layer</a:t>
            </a:r>
          </a:p>
        </p:txBody>
      </p:sp>
      <p:sp>
        <p:nvSpPr>
          <p:cNvPr id="808" name="BABS">
            <a:extLst>
              <a:ext uri="{FF2B5EF4-FFF2-40B4-BE49-F238E27FC236}">
                <a16:creationId xmlns:a16="http://schemas.microsoft.com/office/drawing/2014/main" id="{13B7CF06-8A11-4898-5833-E874F2175602}"/>
              </a:ext>
            </a:extLst>
          </p:cNvPr>
          <p:cNvSpPr/>
          <p:nvPr/>
        </p:nvSpPr>
        <p:spPr>
          <a:xfrm>
            <a:off x="637540" y="1986281"/>
            <a:ext cx="2207260" cy="279400"/>
          </a:xfrm>
          <a:prstGeom prst="roundRect">
            <a:avLst>
              <a:gd name="adj" fmla="val 20000"/>
            </a:avLst>
          </a:prstGeom>
          <a:solidFill>
            <a:srgbClr val="FFF7E6"/>
          </a:solidFill>
          <a:ln w="12700">
            <a:solidFill>
              <a:srgbClr val="E0A93B"/>
            </a:solidFill>
          </a:ln>
        </p:spPr>
        <p:txBody>
          <a:bodyPr wrap="square" lIns="18000" tIns="9525" rIns="18000" bIns="9525" anchor="ctr"/>
          <a:lstStyle/>
          <a:p>
            <a:pPr algn="ctr">
              <a:buNone/>
            </a:pPr>
            <a:r>
              <a:rPr lang="en-US" sz="800" b="1" dirty="0">
                <a:solidFill>
                  <a:srgbClr val="6B4A0E"/>
                </a:solidFill>
                <a:latin typeface="Calibri"/>
              </a:rPr>
              <a:t>Layer of Abstractions  </a:t>
            </a:r>
          </a:p>
          <a:p>
            <a:pPr algn="ctr">
              <a:buNone/>
            </a:pPr>
            <a:r>
              <a:rPr lang="en-US" sz="800" b="1" dirty="0">
                <a:solidFill>
                  <a:srgbClr val="6B4A0E"/>
                </a:solidFill>
                <a:latin typeface="Calibri"/>
              </a:rPr>
              <a:t>Service &amp; Aggregates</a:t>
            </a:r>
          </a:p>
        </p:txBody>
      </p:sp>
      <p:sp>
        <p:nvSpPr>
          <p:cNvPr id="809" name="INFRA">
            <a:extLst>
              <a:ext uri="{FF2B5EF4-FFF2-40B4-BE49-F238E27FC236}">
                <a16:creationId xmlns:a16="http://schemas.microsoft.com/office/drawing/2014/main" id="{13B7CF06-8A11-4898-5833-E874F2175602}"/>
              </a:ext>
            </a:extLst>
          </p:cNvPr>
          <p:cNvSpPr/>
          <p:nvPr/>
        </p:nvSpPr>
        <p:spPr>
          <a:xfrm>
            <a:off x="508000" y="2932429"/>
            <a:ext cx="4978400" cy="881381"/>
          </a:xfrm>
          <a:prstGeom prst="roundRect">
            <a:avLst>
              <a:gd name="adj" fmla="val 20000"/>
            </a:avLst>
          </a:prstGeom>
          <a:solidFill>
            <a:srgbClr val="EFF3FC"/>
          </a:solidFill>
          <a:ln w="9525">
            <a:solidFill>
              <a:srgbClr val="C7D2F0"/>
            </a:solidFill>
          </a:ln>
        </p:spPr>
        <p:txBody>
          <a:bodyPr wrap="square" lIns="72000" tIns="9525" rIns="18000" bIns="9525" anchor="t"/>
          <a:lstStyle/>
          <a:p>
            <a:pPr algn="l">
              <a:buNone/>
            </a:pPr>
            <a:r>
              <a:rPr lang="en-US" sz="900" b="1" dirty="0">
                <a:solidFill>
                  <a:srgbClr val="1E2761"/>
                </a:solidFill>
                <a:latin typeface="Calibri"/>
              </a:rPr>
              <a:t>                                                         Infrastructure</a:t>
            </a:r>
          </a:p>
        </p:txBody>
      </p:sp>
      <p:sp>
        <p:nvSpPr>
          <p:cNvPr id="810" name="IDB">
            <a:extLst>
              <a:ext uri="{FF2B5EF4-FFF2-40B4-BE49-F238E27FC236}">
                <a16:creationId xmlns:a16="http://schemas.microsoft.com/office/drawing/2014/main" id="{13B7CF06-8A11-4898-5833-E874F2175602}"/>
              </a:ext>
            </a:extLst>
          </p:cNvPr>
          <p:cNvSpPr/>
          <p:nvPr/>
        </p:nvSpPr>
        <p:spPr>
          <a:xfrm>
            <a:off x="650240" y="3491230"/>
            <a:ext cx="1730375" cy="245745"/>
          </a:xfrm>
          <a:prstGeom prst="roundRect">
            <a:avLst>
              <a:gd name="adj" fmla="val 20000"/>
            </a:avLst>
          </a:prstGeom>
          <a:solidFill>
            <a:srgbClr val="FFFFFF"/>
          </a:solidFill>
          <a:ln w="9525">
            <a:solidFill>
              <a:srgbClr val="C7D2F0"/>
            </a:solidFill>
          </a:ln>
        </p:spPr>
        <p:txBody>
          <a:bodyPr wrap="square" lIns="18000" tIns="9525" rIns="18000" bIns="9525" anchor="ctr"/>
          <a:lstStyle/>
          <a:p>
            <a:pPr algn="ctr">
              <a:buNone/>
            </a:pPr>
            <a:r>
              <a:rPr lang="en-US" sz="800" b="1" dirty="0">
                <a:solidFill>
                  <a:srgbClr val="1E2761"/>
                </a:solidFill>
                <a:latin typeface="Calibri"/>
              </a:rPr>
              <a:t>Data &amp; Persistence</a:t>
            </a:r>
          </a:p>
          <a:p>
            <a:pPr algn="ctr">
              <a:buNone/>
            </a:pPr>
            <a:r>
              <a:rPr lang="en-US" sz="800" b="1" dirty="0">
                <a:solidFill>
                  <a:srgbClr val="1E2761"/>
                </a:solidFill>
                <a:latin typeface="Calibri"/>
              </a:rPr>
              <a:t>Repositories and Caching</a:t>
            </a:r>
            <a:endParaRPr lang="en-US" sz="800" b="0" dirty="0">
              <a:solidFill>
                <a:srgbClr val="1E293B"/>
              </a:solidFill>
              <a:latin typeface="Calibri"/>
            </a:endParaRPr>
          </a:p>
        </p:txBody>
      </p:sp>
      <p:sp>
        <p:nvSpPr>
          <p:cNvPr id="812" name="IMSG">
            <a:extLst>
              <a:ext uri="{FF2B5EF4-FFF2-40B4-BE49-F238E27FC236}">
                <a16:creationId xmlns:a16="http://schemas.microsoft.com/office/drawing/2014/main" id="{13B7CF06-8A11-4898-5833-E874F2175602}"/>
              </a:ext>
            </a:extLst>
          </p:cNvPr>
          <p:cNvSpPr/>
          <p:nvPr/>
        </p:nvSpPr>
        <p:spPr>
          <a:xfrm>
            <a:off x="2583815" y="3513457"/>
            <a:ext cx="1168401" cy="245745"/>
          </a:xfrm>
          <a:prstGeom prst="roundRect">
            <a:avLst>
              <a:gd name="adj" fmla="val 20000"/>
            </a:avLst>
          </a:prstGeom>
          <a:solidFill>
            <a:srgbClr val="FFFFFF"/>
          </a:solidFill>
          <a:ln w="9525">
            <a:solidFill>
              <a:srgbClr val="C7D2F0"/>
            </a:solidFill>
          </a:ln>
        </p:spPr>
        <p:txBody>
          <a:bodyPr wrap="square" lIns="18000" tIns="9525" rIns="18000" bIns="9525" anchor="ctr"/>
          <a:lstStyle/>
          <a:p>
            <a:pPr algn="ctr">
              <a:buNone/>
            </a:pPr>
            <a:r>
              <a:rPr lang="en-US" sz="800" b="1" dirty="0">
                <a:solidFill>
                  <a:srgbClr val="1E2761"/>
                </a:solidFill>
                <a:latin typeface="Calibri"/>
              </a:rPr>
              <a:t>Async Messaging</a:t>
            </a:r>
          </a:p>
        </p:txBody>
      </p:sp>
      <p:sp>
        <p:nvSpPr>
          <p:cNvPr id="813" name="IEXT">
            <a:extLst>
              <a:ext uri="{FF2B5EF4-FFF2-40B4-BE49-F238E27FC236}">
                <a16:creationId xmlns:a16="http://schemas.microsoft.com/office/drawing/2014/main" id="{13B7CF06-8A11-4898-5833-E874F2175602}"/>
              </a:ext>
            </a:extLst>
          </p:cNvPr>
          <p:cNvSpPr/>
          <p:nvPr/>
        </p:nvSpPr>
        <p:spPr>
          <a:xfrm>
            <a:off x="3942080" y="3513456"/>
            <a:ext cx="1442720" cy="245745"/>
          </a:xfrm>
          <a:prstGeom prst="roundRect">
            <a:avLst>
              <a:gd name="adj" fmla="val 20000"/>
            </a:avLst>
          </a:prstGeom>
          <a:solidFill>
            <a:srgbClr val="FFFFFF"/>
          </a:solidFill>
          <a:ln w="9525">
            <a:solidFill>
              <a:srgbClr val="C7D2F0"/>
            </a:solidFill>
          </a:ln>
        </p:spPr>
        <p:txBody>
          <a:bodyPr wrap="square" lIns="18000" tIns="9525" rIns="18000" bIns="9525" anchor="ctr"/>
          <a:lstStyle/>
          <a:p>
            <a:pPr algn="ctr">
              <a:buNone/>
            </a:pPr>
            <a:r>
              <a:rPr lang="en-US" sz="800" b="1" dirty="0">
                <a:solidFill>
                  <a:srgbClr val="1E2761"/>
                </a:solidFill>
                <a:latin typeface="Calibri"/>
              </a:rPr>
              <a:t>External</a:t>
            </a:r>
          </a:p>
          <a:p>
            <a:pPr algn="ctr">
              <a:buNone/>
            </a:pPr>
            <a:r>
              <a:rPr lang="en-US" sz="800" b="0" dirty="0">
                <a:solidFill>
                  <a:srgbClr val="1E293B"/>
                </a:solidFill>
                <a:latin typeface="Calibri"/>
              </a:rPr>
              <a:t>integration services</a:t>
            </a:r>
          </a:p>
        </p:txBody>
      </p:sp>
      <p:cxnSp>
        <p:nvCxnSpPr>
          <p:cNvPr id="900" name="B1"/>
          <p:cNvCxnSpPr>
            <a:cxnSpLocks/>
          </p:cNvCxnSpPr>
          <p:nvPr/>
        </p:nvCxnSpPr>
        <p:spPr>
          <a:xfrm>
            <a:off x="4497070" y="1228724"/>
            <a:ext cx="0" cy="285750"/>
          </a:xfrm>
          <a:prstGeom prst="line">
            <a:avLst/>
          </a:prstGeom>
          <a:ln w="19050" cap="rnd" cmpd="sng">
            <a:solidFill>
              <a:srgbClr val="5A6BA8"/>
            </a:solidFill>
            <a:prstDash val="solid"/>
            <a:tailEnd type="triangle" w="med" len="med"/>
          </a:ln>
        </p:spPr>
      </p:cxnSp>
      <p:cxnSp>
        <p:nvCxnSpPr>
          <p:cNvPr id="901" name="B2"/>
          <p:cNvCxnSpPr>
            <a:cxnSpLocks/>
            <a:endCxn id="7" idx="0"/>
          </p:cNvCxnSpPr>
          <p:nvPr/>
        </p:nvCxnSpPr>
        <p:spPr>
          <a:xfrm>
            <a:off x="3022600" y="1727200"/>
            <a:ext cx="0" cy="671830"/>
          </a:xfrm>
          <a:prstGeom prst="line">
            <a:avLst/>
          </a:prstGeom>
          <a:ln w="19050" cap="rnd">
            <a:solidFill>
              <a:srgbClr val="5A6BA8"/>
            </a:solidFill>
            <a:prstDash val="solid"/>
            <a:tailEnd type="triangle" w="med" len="med"/>
          </a:ln>
        </p:spPr>
      </p:cxnSp>
      <p:cxnSp>
        <p:nvCxnSpPr>
          <p:cNvPr id="903" name="B4"/>
          <p:cNvCxnSpPr>
            <a:cxnSpLocks/>
            <a:stCxn id="810" idx="2"/>
            <a:endCxn id="401" idx="1"/>
          </p:cNvCxnSpPr>
          <p:nvPr/>
        </p:nvCxnSpPr>
        <p:spPr>
          <a:xfrm flipH="1">
            <a:off x="859313" y="3736975"/>
            <a:ext cx="656115" cy="414131"/>
          </a:xfrm>
          <a:prstGeom prst="line">
            <a:avLst/>
          </a:prstGeom>
          <a:ln w="22225" cap="rnd">
            <a:solidFill>
              <a:srgbClr val="1E2761"/>
            </a:solidFill>
            <a:prstDash val="solid"/>
            <a:tailEnd type="triangle" w="med" len="med"/>
          </a:ln>
        </p:spPr>
      </p:cxnSp>
      <p:cxnSp>
        <p:nvCxnSpPr>
          <p:cNvPr id="912" name="C2"/>
          <p:cNvCxnSpPr>
            <a:cxnSpLocks/>
            <a:stCxn id="809" idx="3"/>
          </p:cNvCxnSpPr>
          <p:nvPr/>
        </p:nvCxnSpPr>
        <p:spPr>
          <a:xfrm>
            <a:off x="5486400" y="3373120"/>
            <a:ext cx="520380" cy="3286"/>
          </a:xfrm>
          <a:prstGeom prst="line">
            <a:avLst/>
          </a:prstGeom>
          <a:ln w="19050" cap="rnd">
            <a:solidFill>
              <a:srgbClr val="1E2761"/>
            </a:solidFill>
            <a:tailEnd type="triangle" w="med" len="med"/>
          </a:ln>
        </p:spPr>
      </p:cxnSp>
      <p:cxnSp>
        <p:nvCxnSpPr>
          <p:cNvPr id="913" name="M1"/>
          <p:cNvCxnSpPr>
            <a:cxnSpLocks/>
          </p:cNvCxnSpPr>
          <p:nvPr/>
        </p:nvCxnSpPr>
        <p:spPr>
          <a:xfrm>
            <a:off x="3578054" y="3724910"/>
            <a:ext cx="6308" cy="426196"/>
          </a:xfrm>
          <a:prstGeom prst="line">
            <a:avLst/>
          </a:prstGeom>
          <a:ln w="19050" cap="rnd">
            <a:solidFill>
              <a:srgbClr val="0E7C86"/>
            </a:solidFill>
            <a:prstDash val="sysDot"/>
            <a:headEnd type="arrow"/>
            <a:tailEnd type="arrow" w="med" len="med"/>
          </a:ln>
        </p:spPr>
      </p:cxnSp>
      <p:cxnSp>
        <p:nvCxnSpPr>
          <p:cNvPr id="914" name="LG1"/>
          <p:cNvCxnSpPr/>
          <p:nvPr/>
        </p:nvCxnSpPr>
        <p:spPr>
          <a:xfrm>
            <a:off x="4495800" y="889000"/>
            <a:ext cx="254000" cy="0"/>
          </a:xfrm>
          <a:prstGeom prst="line">
            <a:avLst/>
          </a:prstGeom>
          <a:ln w="25400" cap="rnd">
            <a:solidFill>
              <a:srgbClr val="1E2761"/>
            </a:solidFill>
            <a:headEnd type="none"/>
            <a:tailEnd type="triangle"/>
          </a:ln>
        </p:spPr>
      </p:cxnSp>
      <p:sp>
        <p:nvSpPr>
          <p:cNvPr id="980" name="LGL1">
            <a:extLst>
              <a:ext uri="{FF2B5EF4-FFF2-40B4-BE49-F238E27FC236}">
                <a16:creationId xmlns:a16="http://schemas.microsoft.com/office/drawing/2014/main" id="{13B7CF06-8A11-4898-5833-E874F2175602}"/>
              </a:ext>
            </a:extLst>
          </p:cNvPr>
          <p:cNvSpPr/>
          <p:nvPr/>
        </p:nvSpPr>
        <p:spPr>
          <a:xfrm>
            <a:off x="4775200" y="812800"/>
            <a:ext cx="558800" cy="165100"/>
          </a:xfrm>
          <a:prstGeom prst="roundRect">
            <a:avLst>
              <a:gd name="adj" fmla="val 20000"/>
            </a:avLst>
          </a:prstGeom>
          <a:noFill/>
          <a:ln w="12700">
            <a:noFill/>
          </a:ln>
        </p:spPr>
        <p:txBody>
          <a:bodyPr wrap="square" lIns="9525" tIns="9525" rIns="18000" bIns="9525" anchor="ctr"/>
          <a:lstStyle/>
          <a:p>
            <a:pPr algn="l">
              <a:buNone/>
            </a:pPr>
            <a:r>
              <a:rPr lang="en-US" sz="800" b="1" dirty="0">
                <a:solidFill>
                  <a:srgbClr val="1E293B"/>
                </a:solidFill>
                <a:latin typeface="Calibri"/>
              </a:rPr>
              <a:t>Strong</a:t>
            </a:r>
          </a:p>
        </p:txBody>
      </p:sp>
      <p:cxnSp>
        <p:nvCxnSpPr>
          <p:cNvPr id="915" name="LG2"/>
          <p:cNvCxnSpPr/>
          <p:nvPr/>
        </p:nvCxnSpPr>
        <p:spPr>
          <a:xfrm>
            <a:off x="5384800" y="889000"/>
            <a:ext cx="254000" cy="0"/>
          </a:xfrm>
          <a:prstGeom prst="line">
            <a:avLst/>
          </a:prstGeom>
          <a:ln w="25400" cap="rnd">
            <a:solidFill>
              <a:srgbClr val="5A6BA8"/>
            </a:solidFill>
            <a:prstDash val="dash"/>
            <a:tailEnd type="triangle"/>
          </a:ln>
        </p:spPr>
      </p:cxnSp>
      <p:sp>
        <p:nvSpPr>
          <p:cNvPr id="981" name="LGL2">
            <a:extLst>
              <a:ext uri="{FF2B5EF4-FFF2-40B4-BE49-F238E27FC236}">
                <a16:creationId xmlns:a16="http://schemas.microsoft.com/office/drawing/2014/main" id="{13B7CF06-8A11-4898-5833-E874F2175602}"/>
              </a:ext>
            </a:extLst>
          </p:cNvPr>
          <p:cNvSpPr/>
          <p:nvPr/>
        </p:nvSpPr>
        <p:spPr>
          <a:xfrm>
            <a:off x="5664200" y="812800"/>
            <a:ext cx="508000" cy="165100"/>
          </a:xfrm>
          <a:prstGeom prst="roundRect">
            <a:avLst>
              <a:gd name="adj" fmla="val 20000"/>
            </a:avLst>
          </a:prstGeom>
          <a:noFill/>
          <a:ln w="12700">
            <a:noFill/>
          </a:ln>
        </p:spPr>
        <p:txBody>
          <a:bodyPr wrap="square" lIns="9525" tIns="9525" rIns="18000" bIns="9525" anchor="ctr"/>
          <a:lstStyle/>
          <a:p>
            <a:pPr algn="l">
              <a:buNone/>
            </a:pPr>
            <a:r>
              <a:rPr lang="en-US" sz="800" b="1" dirty="0">
                <a:solidFill>
                  <a:srgbClr val="1E293B"/>
                </a:solidFill>
                <a:latin typeface="Calibri"/>
              </a:rPr>
              <a:t>Loose</a:t>
            </a:r>
          </a:p>
        </p:txBody>
      </p:sp>
      <p:cxnSp>
        <p:nvCxnSpPr>
          <p:cNvPr id="916" name="LG3"/>
          <p:cNvCxnSpPr/>
          <p:nvPr/>
        </p:nvCxnSpPr>
        <p:spPr>
          <a:xfrm>
            <a:off x="6184900" y="889000"/>
            <a:ext cx="254000" cy="0"/>
          </a:xfrm>
          <a:prstGeom prst="line">
            <a:avLst/>
          </a:prstGeom>
          <a:ln w="25400" cap="rnd">
            <a:solidFill>
              <a:srgbClr val="0E7C86"/>
            </a:solidFill>
            <a:prstDash val="sysDot"/>
            <a:tailEnd type="arrow"/>
          </a:ln>
        </p:spPr>
      </p:cxnSp>
      <p:sp>
        <p:nvSpPr>
          <p:cNvPr id="982" name="LGL3">
            <a:extLst>
              <a:ext uri="{FF2B5EF4-FFF2-40B4-BE49-F238E27FC236}">
                <a16:creationId xmlns:a16="http://schemas.microsoft.com/office/drawing/2014/main" id="{13B7CF06-8A11-4898-5833-E874F2175602}"/>
              </a:ext>
            </a:extLst>
          </p:cNvPr>
          <p:cNvSpPr/>
          <p:nvPr/>
        </p:nvSpPr>
        <p:spPr>
          <a:xfrm>
            <a:off x="6464300" y="812800"/>
            <a:ext cx="1016000" cy="165100"/>
          </a:xfrm>
          <a:prstGeom prst="roundRect">
            <a:avLst>
              <a:gd name="adj" fmla="val 20000"/>
            </a:avLst>
          </a:prstGeom>
          <a:noFill/>
          <a:ln w="12700">
            <a:noFill/>
          </a:ln>
        </p:spPr>
        <p:txBody>
          <a:bodyPr wrap="square" lIns="9525" tIns="9525" rIns="18000" bIns="9525" anchor="ctr"/>
          <a:lstStyle/>
          <a:p>
            <a:pPr algn="l">
              <a:buNone/>
            </a:pPr>
            <a:r>
              <a:rPr lang="en-US" sz="800" b="1" dirty="0">
                <a:solidFill>
                  <a:srgbClr val="1E293B"/>
                </a:solidFill>
                <a:latin typeface="Calibri"/>
              </a:rPr>
              <a:t>Decoupled</a:t>
            </a:r>
          </a:p>
        </p:txBody>
      </p:sp>
      <p:cxnSp>
        <p:nvCxnSpPr>
          <p:cNvPr id="1205" name="C1a"/>
          <p:cNvCxnSpPr>
            <a:cxnSpLocks/>
          </p:cNvCxnSpPr>
          <p:nvPr/>
        </p:nvCxnSpPr>
        <p:spPr>
          <a:xfrm flipV="1">
            <a:off x="3429000" y="2331721"/>
            <a:ext cx="0" cy="119379"/>
          </a:xfrm>
          <a:prstGeom prst="line">
            <a:avLst/>
          </a:prstGeom>
          <a:ln w="19050" cap="rnd">
            <a:solidFill>
              <a:srgbClr val="1E2761"/>
            </a:solidFill>
          </a:ln>
        </p:spPr>
      </p:cxnSp>
      <p:cxnSp>
        <p:nvCxnSpPr>
          <p:cNvPr id="1206" name="C1b"/>
          <p:cNvCxnSpPr>
            <a:cxnSpLocks/>
          </p:cNvCxnSpPr>
          <p:nvPr/>
        </p:nvCxnSpPr>
        <p:spPr>
          <a:xfrm>
            <a:off x="3429000" y="2322830"/>
            <a:ext cx="2577780" cy="26670"/>
          </a:xfrm>
          <a:prstGeom prst="line">
            <a:avLst/>
          </a:prstGeom>
          <a:ln w="19050" cap="rnd" cmpd="sng">
            <a:solidFill>
              <a:srgbClr val="1E2761"/>
            </a:solidFill>
            <a:tailEnd type="triangle" w="med" len="med"/>
          </a:ln>
        </p:spPr>
      </p:cxnSp>
      <p:sp>
        <p:nvSpPr>
          <p:cNvPr id="6" name="BHV">
            <a:extLst>
              <a:ext uri="{FF2B5EF4-FFF2-40B4-BE49-F238E27FC236}">
                <a16:creationId xmlns:a16="http://schemas.microsoft.com/office/drawing/2014/main" id="{7B91B40E-A525-EA84-8DF4-5517FF1965D7}"/>
              </a:ext>
            </a:extLst>
          </p:cNvPr>
          <p:cNvSpPr/>
          <p:nvPr/>
        </p:nvSpPr>
        <p:spPr>
          <a:xfrm>
            <a:off x="635000" y="2405380"/>
            <a:ext cx="1473200" cy="381000"/>
          </a:xfrm>
          <a:prstGeom prst="roundRect">
            <a:avLst>
              <a:gd name="adj" fmla="val 20000"/>
            </a:avLst>
          </a:prstGeom>
          <a:solidFill>
            <a:srgbClr val="FFFFFF"/>
          </a:solidFill>
          <a:ln w="9525">
            <a:solidFill>
              <a:srgbClr val="C7D2F0"/>
            </a:solidFill>
          </a:ln>
        </p:spPr>
        <p:txBody>
          <a:bodyPr wrap="square" lIns="18000" tIns="9525" rIns="18000" bIns="9525" anchor="ctr"/>
          <a:lstStyle/>
          <a:p>
            <a:pPr algn="ctr">
              <a:buNone/>
            </a:pPr>
            <a:r>
              <a:rPr lang="en-US" sz="800" b="1" dirty="0">
                <a:solidFill>
                  <a:srgbClr val="1E2761"/>
                </a:solidFill>
                <a:latin typeface="Calibri"/>
              </a:rPr>
              <a:t>Handlers &amp; Validators</a:t>
            </a:r>
          </a:p>
          <a:p>
            <a:pPr algn="ctr">
              <a:buNone/>
            </a:pPr>
            <a:r>
              <a:rPr lang="en-US" sz="800" b="0" dirty="0">
                <a:solidFill>
                  <a:srgbClr val="1E293B"/>
                </a:solidFill>
                <a:latin typeface="Calibri"/>
              </a:rPr>
              <a:t>command / query / notification handlers and validators</a:t>
            </a:r>
          </a:p>
        </p:txBody>
      </p:sp>
      <p:sp>
        <p:nvSpPr>
          <p:cNvPr id="7" name="BMD">
            <a:extLst>
              <a:ext uri="{FF2B5EF4-FFF2-40B4-BE49-F238E27FC236}">
                <a16:creationId xmlns:a16="http://schemas.microsoft.com/office/drawing/2014/main" id="{7D6F52A3-C423-E429-C00E-6DA2A87391E4}"/>
              </a:ext>
            </a:extLst>
          </p:cNvPr>
          <p:cNvSpPr/>
          <p:nvPr/>
        </p:nvSpPr>
        <p:spPr>
          <a:xfrm>
            <a:off x="2286000" y="2399030"/>
            <a:ext cx="1473200" cy="381000"/>
          </a:xfrm>
          <a:prstGeom prst="roundRect">
            <a:avLst>
              <a:gd name="adj" fmla="val 20000"/>
            </a:avLst>
          </a:prstGeom>
          <a:solidFill>
            <a:srgbClr val="FFFFFF"/>
          </a:solidFill>
          <a:ln w="9525">
            <a:solidFill>
              <a:srgbClr val="C7D2F0"/>
            </a:solidFill>
          </a:ln>
        </p:spPr>
        <p:txBody>
          <a:bodyPr wrap="square" lIns="18000" tIns="9525" rIns="18000" bIns="9525" anchor="ctr"/>
          <a:lstStyle/>
          <a:p>
            <a:pPr algn="ctr">
              <a:buNone/>
            </a:pPr>
            <a:r>
              <a:rPr lang="en-US" sz="800" b="1" dirty="0">
                <a:solidFill>
                  <a:srgbClr val="1E2761"/>
                </a:solidFill>
                <a:latin typeface="Calibri"/>
              </a:rPr>
              <a:t>Domain Models</a:t>
            </a:r>
          </a:p>
          <a:p>
            <a:pPr algn="ctr">
              <a:buNone/>
            </a:pPr>
            <a:r>
              <a:rPr lang="en-US" sz="800" dirty="0">
                <a:solidFill>
                  <a:srgbClr val="1E293B"/>
                </a:solidFill>
              </a:rPr>
              <a:t> Aggregates · Domain</a:t>
            </a:r>
            <a:r>
              <a:rPr lang="en-US" sz="800" b="0" dirty="0">
                <a:solidFill>
                  <a:srgbClr val="1E293B"/>
                </a:solidFill>
                <a:latin typeface="Calibri"/>
              </a:rPr>
              <a:t> · VOs</a:t>
            </a:r>
            <a:r>
              <a:rPr lang="en-US" sz="800" dirty="0">
                <a:solidFill>
                  <a:srgbClr val="1E293B"/>
                </a:solidFill>
              </a:rPr>
              <a:t> · DTOs · </a:t>
            </a:r>
            <a:r>
              <a:rPr lang="en-US" sz="800" dirty="0">
                <a:solidFill>
                  <a:srgbClr val="1E293B"/>
                </a:solidFill>
                <a:latin typeface="Calibri"/>
              </a:rPr>
              <a:t>E</a:t>
            </a:r>
            <a:r>
              <a:rPr lang="en-US" sz="800" b="0" dirty="0">
                <a:solidFill>
                  <a:srgbClr val="1E293B"/>
                </a:solidFill>
                <a:latin typeface="Calibri"/>
              </a:rPr>
              <a:t>nums</a:t>
            </a:r>
            <a:r>
              <a:rPr lang="en-US" sz="800" dirty="0">
                <a:solidFill>
                  <a:srgbClr val="1E293B"/>
                </a:solidFill>
              </a:rPr>
              <a:t> · </a:t>
            </a:r>
            <a:r>
              <a:rPr lang="en-US" sz="800" b="0" dirty="0">
                <a:solidFill>
                  <a:srgbClr val="1E293B"/>
                </a:solidFill>
                <a:latin typeface="Calibri"/>
              </a:rPr>
              <a:t>Exceptions </a:t>
            </a:r>
          </a:p>
        </p:txBody>
      </p:sp>
      <p:sp>
        <p:nvSpPr>
          <p:cNvPr id="8" name="BSI">
            <a:extLst>
              <a:ext uri="{FF2B5EF4-FFF2-40B4-BE49-F238E27FC236}">
                <a16:creationId xmlns:a16="http://schemas.microsoft.com/office/drawing/2014/main" id="{58D96F59-37E8-7C2E-12E4-47819FA76772}"/>
              </a:ext>
            </a:extLst>
          </p:cNvPr>
          <p:cNvSpPr/>
          <p:nvPr/>
        </p:nvSpPr>
        <p:spPr>
          <a:xfrm>
            <a:off x="3924300" y="2399030"/>
            <a:ext cx="1473200" cy="381000"/>
          </a:xfrm>
          <a:prstGeom prst="roundRect">
            <a:avLst>
              <a:gd name="adj" fmla="val 20000"/>
            </a:avLst>
          </a:prstGeom>
          <a:solidFill>
            <a:srgbClr val="FFFFFF"/>
          </a:solidFill>
          <a:ln w="9525">
            <a:solidFill>
              <a:srgbClr val="C7D2F0"/>
            </a:solidFill>
          </a:ln>
        </p:spPr>
        <p:txBody>
          <a:bodyPr wrap="square" lIns="18000" tIns="9525" rIns="18000" bIns="9525" anchor="ctr"/>
          <a:lstStyle/>
          <a:p>
            <a:pPr algn="ctr">
              <a:buNone/>
            </a:pPr>
            <a:r>
              <a:rPr lang="en-US" sz="800" b="1" dirty="0">
                <a:solidFill>
                  <a:srgbClr val="1E2761"/>
                </a:solidFill>
                <a:latin typeface="Calibri"/>
              </a:rPr>
              <a:t>Domain Services</a:t>
            </a:r>
          </a:p>
          <a:p>
            <a:pPr algn="ctr">
              <a:buNone/>
            </a:pPr>
            <a:r>
              <a:rPr lang="en-US" sz="800" b="0" dirty="0">
                <a:solidFill>
                  <a:srgbClr val="1E293B"/>
                </a:solidFill>
                <a:latin typeface="Calibri"/>
              </a:rPr>
              <a:t>concrete services</a:t>
            </a:r>
          </a:p>
        </p:txBody>
      </p:sp>
      <p:cxnSp>
        <p:nvCxnSpPr>
          <p:cNvPr id="13" name="B2">
            <a:extLst>
              <a:ext uri="{FF2B5EF4-FFF2-40B4-BE49-F238E27FC236}">
                <a16:creationId xmlns:a16="http://schemas.microsoft.com/office/drawing/2014/main" id="{EF74BCAA-C8DA-D230-FB33-E25449E3B991}"/>
              </a:ext>
            </a:extLst>
          </p:cNvPr>
          <p:cNvCxnSpPr>
            <a:cxnSpLocks/>
          </p:cNvCxnSpPr>
          <p:nvPr/>
        </p:nvCxnSpPr>
        <p:spPr>
          <a:xfrm>
            <a:off x="1211580" y="1727200"/>
            <a:ext cx="0" cy="259081"/>
          </a:xfrm>
          <a:prstGeom prst="line">
            <a:avLst/>
          </a:prstGeom>
          <a:ln w="19050" cap="rnd" cmpd="dbl">
            <a:solidFill>
              <a:srgbClr val="5A6BA8"/>
            </a:solidFill>
            <a:prstDash val="sysDash"/>
            <a:tailEnd type="triangle" w="med" len="med"/>
          </a:ln>
        </p:spPr>
      </p:cxnSp>
      <p:sp>
        <p:nvSpPr>
          <p:cNvPr id="18" name="BABS">
            <a:extLst>
              <a:ext uri="{FF2B5EF4-FFF2-40B4-BE49-F238E27FC236}">
                <a16:creationId xmlns:a16="http://schemas.microsoft.com/office/drawing/2014/main" id="{C352C362-32AF-8354-D159-C1355CD43705}"/>
              </a:ext>
            </a:extLst>
          </p:cNvPr>
          <p:cNvSpPr/>
          <p:nvPr/>
        </p:nvSpPr>
        <p:spPr>
          <a:xfrm>
            <a:off x="3454400" y="1976120"/>
            <a:ext cx="1930400" cy="259079"/>
          </a:xfrm>
          <a:prstGeom prst="roundRect">
            <a:avLst>
              <a:gd name="adj" fmla="val 20000"/>
            </a:avLst>
          </a:prstGeom>
          <a:solidFill>
            <a:srgbClr val="FFF7E6"/>
          </a:solidFill>
          <a:ln w="12700">
            <a:solidFill>
              <a:srgbClr val="E0A93B"/>
            </a:solidFill>
          </a:ln>
        </p:spPr>
        <p:txBody>
          <a:bodyPr wrap="square" lIns="18000" tIns="9525" rIns="18000" bIns="9525" anchor="ctr"/>
          <a:lstStyle/>
          <a:p>
            <a:pPr algn="ctr">
              <a:buNone/>
            </a:pPr>
            <a:r>
              <a:rPr lang="en-US" sz="800" b="1" dirty="0">
                <a:solidFill>
                  <a:srgbClr val="6B4A0E"/>
                </a:solidFill>
                <a:latin typeface="Calibri"/>
              </a:rPr>
              <a:t>Internal Layer-wise </a:t>
            </a:r>
          </a:p>
          <a:p>
            <a:pPr algn="ctr">
              <a:buNone/>
            </a:pPr>
            <a:r>
              <a:rPr lang="en-US" sz="800" b="1" dirty="0">
                <a:solidFill>
                  <a:srgbClr val="6B4A0E"/>
                </a:solidFill>
                <a:latin typeface="Calibri"/>
              </a:rPr>
              <a:t>DI Registration</a:t>
            </a:r>
          </a:p>
        </p:txBody>
      </p:sp>
      <p:cxnSp>
        <p:nvCxnSpPr>
          <p:cNvPr id="30" name="B2">
            <a:extLst>
              <a:ext uri="{FF2B5EF4-FFF2-40B4-BE49-F238E27FC236}">
                <a16:creationId xmlns:a16="http://schemas.microsoft.com/office/drawing/2014/main" id="{FE01FB3F-727C-9D5F-078C-6987FA845811}"/>
              </a:ext>
            </a:extLst>
          </p:cNvPr>
          <p:cNvCxnSpPr>
            <a:cxnSpLocks/>
          </p:cNvCxnSpPr>
          <p:nvPr/>
        </p:nvCxnSpPr>
        <p:spPr>
          <a:xfrm>
            <a:off x="4503420" y="1727200"/>
            <a:ext cx="0" cy="228600"/>
          </a:xfrm>
          <a:prstGeom prst="line">
            <a:avLst/>
          </a:prstGeom>
          <a:ln w="19050" cap="rnd">
            <a:solidFill>
              <a:srgbClr val="5A6BA8"/>
            </a:solidFill>
            <a:prstDash val="solid"/>
            <a:tailEnd type="triangle" w="med" len="med"/>
          </a:ln>
        </p:spPr>
      </p:cxnSp>
      <p:cxnSp>
        <p:nvCxnSpPr>
          <p:cNvPr id="37" name="B2">
            <a:extLst>
              <a:ext uri="{FF2B5EF4-FFF2-40B4-BE49-F238E27FC236}">
                <a16:creationId xmlns:a16="http://schemas.microsoft.com/office/drawing/2014/main" id="{18E4E4A3-6085-5569-67CB-9C5B723F1243}"/>
              </a:ext>
            </a:extLst>
          </p:cNvPr>
          <p:cNvCxnSpPr>
            <a:cxnSpLocks/>
            <a:stCxn id="6" idx="3"/>
          </p:cNvCxnSpPr>
          <p:nvPr/>
        </p:nvCxnSpPr>
        <p:spPr>
          <a:xfrm>
            <a:off x="2108200" y="2595880"/>
            <a:ext cx="165100" cy="0"/>
          </a:xfrm>
          <a:prstGeom prst="line">
            <a:avLst/>
          </a:prstGeom>
          <a:ln w="19050" cap="rnd">
            <a:solidFill>
              <a:srgbClr val="5A6BA8"/>
            </a:solidFill>
            <a:prstDash val="solid"/>
            <a:tailEnd type="triangle" w="med" len="med"/>
          </a:ln>
        </p:spPr>
      </p:cxnSp>
      <p:cxnSp>
        <p:nvCxnSpPr>
          <p:cNvPr id="40" name="B2">
            <a:extLst>
              <a:ext uri="{FF2B5EF4-FFF2-40B4-BE49-F238E27FC236}">
                <a16:creationId xmlns:a16="http://schemas.microsoft.com/office/drawing/2014/main" id="{D9AB8A84-7878-2680-35A9-B58E528E812F}"/>
              </a:ext>
            </a:extLst>
          </p:cNvPr>
          <p:cNvCxnSpPr>
            <a:cxnSpLocks/>
            <a:stCxn id="8" idx="1"/>
            <a:endCxn id="7" idx="3"/>
          </p:cNvCxnSpPr>
          <p:nvPr/>
        </p:nvCxnSpPr>
        <p:spPr>
          <a:xfrm flipH="1">
            <a:off x="3759200" y="2589530"/>
            <a:ext cx="165100" cy="0"/>
          </a:xfrm>
          <a:prstGeom prst="line">
            <a:avLst/>
          </a:prstGeom>
          <a:ln w="19050" cap="rnd">
            <a:solidFill>
              <a:srgbClr val="5A6BA8"/>
            </a:solidFill>
            <a:prstDash val="solid"/>
            <a:tailEnd type="triangle" w="med" len="med"/>
          </a:ln>
        </p:spPr>
      </p:cxnSp>
      <p:cxnSp>
        <p:nvCxnSpPr>
          <p:cNvPr id="44" name="C2">
            <a:extLst>
              <a:ext uri="{FF2B5EF4-FFF2-40B4-BE49-F238E27FC236}">
                <a16:creationId xmlns:a16="http://schemas.microsoft.com/office/drawing/2014/main" id="{3A3C6272-D39F-23A8-0331-2B335D8D40FA}"/>
              </a:ext>
            </a:extLst>
          </p:cNvPr>
          <p:cNvCxnSpPr>
            <a:cxnSpLocks/>
            <a:stCxn id="813" idx="2"/>
            <a:endCxn id="404" idx="3"/>
          </p:cNvCxnSpPr>
          <p:nvPr/>
        </p:nvCxnSpPr>
        <p:spPr>
          <a:xfrm>
            <a:off x="4663440" y="3759201"/>
            <a:ext cx="4762" cy="391906"/>
          </a:xfrm>
          <a:prstGeom prst="line">
            <a:avLst/>
          </a:prstGeom>
          <a:ln w="19050" cap="rnd">
            <a:solidFill>
              <a:srgbClr val="1E2761"/>
            </a:solidFill>
            <a:tailEnd type="triangle" w="med" len="med"/>
          </a:ln>
        </p:spPr>
      </p:cxnSp>
      <p:cxnSp>
        <p:nvCxnSpPr>
          <p:cNvPr id="52" name="B2">
            <a:extLst>
              <a:ext uri="{FF2B5EF4-FFF2-40B4-BE49-F238E27FC236}">
                <a16:creationId xmlns:a16="http://schemas.microsoft.com/office/drawing/2014/main" id="{3BECABE8-E403-F215-AE1E-C20411F5E549}"/>
              </a:ext>
            </a:extLst>
          </p:cNvPr>
          <p:cNvCxnSpPr>
            <a:cxnSpLocks/>
          </p:cNvCxnSpPr>
          <p:nvPr/>
        </p:nvCxnSpPr>
        <p:spPr>
          <a:xfrm>
            <a:off x="1160781" y="2794000"/>
            <a:ext cx="0" cy="327023"/>
          </a:xfrm>
          <a:prstGeom prst="line">
            <a:avLst/>
          </a:prstGeom>
          <a:ln w="19050" cap="rnd" cmpd="dbl">
            <a:solidFill>
              <a:srgbClr val="5A6BA8"/>
            </a:solidFill>
            <a:prstDash val="sysDash"/>
            <a:tailEnd type="triangle" w="med" len="med"/>
          </a:ln>
        </p:spPr>
      </p:cxnSp>
      <p:cxnSp>
        <p:nvCxnSpPr>
          <p:cNvPr id="61" name="B3">
            <a:extLst>
              <a:ext uri="{FF2B5EF4-FFF2-40B4-BE49-F238E27FC236}">
                <a16:creationId xmlns:a16="http://schemas.microsoft.com/office/drawing/2014/main" id="{C761BAF7-1180-2189-39CF-271885267639}"/>
              </a:ext>
            </a:extLst>
          </p:cNvPr>
          <p:cNvCxnSpPr>
            <a:cxnSpLocks/>
          </p:cNvCxnSpPr>
          <p:nvPr/>
        </p:nvCxnSpPr>
        <p:spPr>
          <a:xfrm flipH="1">
            <a:off x="2820432" y="2780030"/>
            <a:ext cx="1103868" cy="326446"/>
          </a:xfrm>
          <a:prstGeom prst="line">
            <a:avLst/>
          </a:prstGeom>
          <a:ln w="19050" cap="rnd">
            <a:solidFill>
              <a:srgbClr val="5A6BA8"/>
            </a:solidFill>
            <a:prstDash val="sysDash"/>
            <a:tailEnd type="triangle" w="med" len="med"/>
          </a:ln>
        </p:spPr>
      </p:cxnSp>
      <p:sp>
        <p:nvSpPr>
          <p:cNvPr id="451" name="BABS">
            <a:extLst>
              <a:ext uri="{FF2B5EF4-FFF2-40B4-BE49-F238E27FC236}">
                <a16:creationId xmlns:a16="http://schemas.microsoft.com/office/drawing/2014/main" id="{DA5A70FE-9CD9-A1DC-8C4C-E99C1511A6B6}"/>
              </a:ext>
            </a:extLst>
          </p:cNvPr>
          <p:cNvSpPr/>
          <p:nvPr/>
        </p:nvSpPr>
        <p:spPr>
          <a:xfrm>
            <a:off x="650240" y="3121022"/>
            <a:ext cx="2194560" cy="231777"/>
          </a:xfrm>
          <a:prstGeom prst="roundRect">
            <a:avLst>
              <a:gd name="adj" fmla="val 20000"/>
            </a:avLst>
          </a:prstGeom>
          <a:solidFill>
            <a:srgbClr val="FFF7E6"/>
          </a:solidFill>
          <a:ln w="12700">
            <a:solidFill>
              <a:srgbClr val="E0A93B"/>
            </a:solidFill>
          </a:ln>
        </p:spPr>
        <p:txBody>
          <a:bodyPr wrap="square" lIns="18000" tIns="9525" rIns="18000" bIns="9525" anchor="ctr"/>
          <a:lstStyle/>
          <a:p>
            <a:pPr algn="ctr">
              <a:buNone/>
            </a:pPr>
            <a:r>
              <a:rPr lang="en-US" sz="800" b="1" dirty="0">
                <a:solidFill>
                  <a:srgbClr val="6B4A0E"/>
                </a:solidFill>
                <a:latin typeface="Calibri"/>
              </a:rPr>
              <a:t>Layer of Abstractions</a:t>
            </a:r>
          </a:p>
        </p:txBody>
      </p:sp>
      <p:cxnSp>
        <p:nvCxnSpPr>
          <p:cNvPr id="467" name="B4">
            <a:extLst>
              <a:ext uri="{FF2B5EF4-FFF2-40B4-BE49-F238E27FC236}">
                <a16:creationId xmlns:a16="http://schemas.microsoft.com/office/drawing/2014/main" id="{28B6490A-1EB4-C3C5-4000-0C7F07D6E12B}"/>
              </a:ext>
            </a:extLst>
          </p:cNvPr>
          <p:cNvCxnSpPr>
            <a:cxnSpLocks/>
            <a:stCxn id="810" idx="2"/>
            <a:endCxn id="402" idx="6"/>
          </p:cNvCxnSpPr>
          <p:nvPr/>
        </p:nvCxnSpPr>
        <p:spPr>
          <a:xfrm flipH="1">
            <a:off x="1500823" y="3736975"/>
            <a:ext cx="14605" cy="398928"/>
          </a:xfrm>
          <a:prstGeom prst="line">
            <a:avLst/>
          </a:prstGeom>
          <a:ln w="22225" cap="rnd">
            <a:solidFill>
              <a:srgbClr val="1E2761"/>
            </a:solidFill>
            <a:prstDash val="solid"/>
            <a:tailEnd type="triangle" w="med" len="med"/>
          </a:ln>
        </p:spPr>
      </p:cxnSp>
      <p:cxnSp>
        <p:nvCxnSpPr>
          <p:cNvPr id="470" name="B4">
            <a:extLst>
              <a:ext uri="{FF2B5EF4-FFF2-40B4-BE49-F238E27FC236}">
                <a16:creationId xmlns:a16="http://schemas.microsoft.com/office/drawing/2014/main" id="{EA366531-149E-3346-83C4-BE4976084FAC}"/>
              </a:ext>
            </a:extLst>
          </p:cNvPr>
          <p:cNvCxnSpPr>
            <a:cxnSpLocks/>
            <a:stCxn id="810" idx="2"/>
            <a:endCxn id="403" idx="0"/>
          </p:cNvCxnSpPr>
          <p:nvPr/>
        </p:nvCxnSpPr>
        <p:spPr>
          <a:xfrm>
            <a:off x="1515428" y="3736975"/>
            <a:ext cx="592005" cy="414132"/>
          </a:xfrm>
          <a:prstGeom prst="line">
            <a:avLst/>
          </a:prstGeom>
          <a:ln w="22225" cap="rnd">
            <a:solidFill>
              <a:srgbClr val="1E2761"/>
            </a:solidFill>
            <a:prstDash val="solid"/>
            <a:tailEnd type="triangle" w="med" len="med"/>
          </a:ln>
        </p:spPr>
      </p:cxnSp>
      <p:cxnSp>
        <p:nvCxnSpPr>
          <p:cNvPr id="985" name="C1b">
            <a:extLst>
              <a:ext uri="{FF2B5EF4-FFF2-40B4-BE49-F238E27FC236}">
                <a16:creationId xmlns:a16="http://schemas.microsoft.com/office/drawing/2014/main" id="{B1C62F87-CC52-9570-7E41-12CCA78CD048}"/>
              </a:ext>
            </a:extLst>
          </p:cNvPr>
          <p:cNvCxnSpPr>
            <a:cxnSpLocks/>
          </p:cNvCxnSpPr>
          <p:nvPr/>
        </p:nvCxnSpPr>
        <p:spPr>
          <a:xfrm>
            <a:off x="394020" y="1612900"/>
            <a:ext cx="0" cy="976630"/>
          </a:xfrm>
          <a:prstGeom prst="line">
            <a:avLst/>
          </a:prstGeom>
          <a:ln w="19050" cap="rnd">
            <a:solidFill>
              <a:srgbClr val="1E2761"/>
            </a:solidFill>
            <a:prstDash val="sysDot"/>
            <a:tailEnd type="none" w="med" len="med"/>
          </a:ln>
        </p:spPr>
      </p:cxnSp>
      <p:cxnSp>
        <p:nvCxnSpPr>
          <p:cNvPr id="988" name="C1b">
            <a:extLst>
              <a:ext uri="{FF2B5EF4-FFF2-40B4-BE49-F238E27FC236}">
                <a16:creationId xmlns:a16="http://schemas.microsoft.com/office/drawing/2014/main" id="{CC1A6FE0-A7B9-34E5-881D-871E3EC06B88}"/>
              </a:ext>
            </a:extLst>
          </p:cNvPr>
          <p:cNvCxnSpPr>
            <a:cxnSpLocks/>
            <a:endCxn id="802" idx="1"/>
          </p:cNvCxnSpPr>
          <p:nvPr/>
        </p:nvCxnSpPr>
        <p:spPr>
          <a:xfrm>
            <a:off x="394020" y="1612900"/>
            <a:ext cx="367980" cy="0"/>
          </a:xfrm>
          <a:prstGeom prst="line">
            <a:avLst/>
          </a:prstGeom>
          <a:ln w="19050" cap="rnd">
            <a:solidFill>
              <a:srgbClr val="1E2761"/>
            </a:solidFill>
            <a:prstDash val="sysDot"/>
            <a:tailEnd type="none" w="med" len="med"/>
          </a:ln>
        </p:spPr>
      </p:cxnSp>
      <p:cxnSp>
        <p:nvCxnSpPr>
          <p:cNvPr id="1000" name="C1b">
            <a:extLst>
              <a:ext uri="{FF2B5EF4-FFF2-40B4-BE49-F238E27FC236}">
                <a16:creationId xmlns:a16="http://schemas.microsoft.com/office/drawing/2014/main" id="{4579F521-D2F0-1FE5-DBA6-7FC81B31F093}"/>
              </a:ext>
            </a:extLst>
          </p:cNvPr>
          <p:cNvCxnSpPr>
            <a:cxnSpLocks/>
            <a:endCxn id="6" idx="1"/>
          </p:cNvCxnSpPr>
          <p:nvPr/>
        </p:nvCxnSpPr>
        <p:spPr>
          <a:xfrm>
            <a:off x="394020" y="2589530"/>
            <a:ext cx="393380" cy="6350"/>
          </a:xfrm>
          <a:prstGeom prst="line">
            <a:avLst/>
          </a:prstGeom>
          <a:ln w="19050" cap="rnd">
            <a:solidFill>
              <a:srgbClr val="1E2761"/>
            </a:solidFill>
            <a:prstDash val="sysDot"/>
            <a:tailEnd type="arrow" w="med" len="med"/>
          </a:ln>
        </p:spPr>
      </p:cxnSp>
      <p:cxnSp>
        <p:nvCxnSpPr>
          <p:cNvPr id="1006" name="C1b">
            <a:extLst>
              <a:ext uri="{FF2B5EF4-FFF2-40B4-BE49-F238E27FC236}">
                <a16:creationId xmlns:a16="http://schemas.microsoft.com/office/drawing/2014/main" id="{9378650E-922B-9C6D-8163-787F0CD1EF3F}"/>
              </a:ext>
            </a:extLst>
          </p:cNvPr>
          <p:cNvCxnSpPr>
            <a:cxnSpLocks/>
          </p:cNvCxnSpPr>
          <p:nvPr/>
        </p:nvCxnSpPr>
        <p:spPr>
          <a:xfrm>
            <a:off x="394020" y="2571750"/>
            <a:ext cx="0" cy="827405"/>
          </a:xfrm>
          <a:prstGeom prst="line">
            <a:avLst/>
          </a:prstGeom>
          <a:ln w="19050" cap="rnd">
            <a:solidFill>
              <a:srgbClr val="1E2761"/>
            </a:solidFill>
            <a:prstDash val="sysDot"/>
            <a:tailEnd type="none" w="med" len="med"/>
          </a:ln>
        </p:spPr>
      </p:cxnSp>
      <p:cxnSp>
        <p:nvCxnSpPr>
          <p:cNvPr id="1009" name="C1b">
            <a:extLst>
              <a:ext uri="{FF2B5EF4-FFF2-40B4-BE49-F238E27FC236}">
                <a16:creationId xmlns:a16="http://schemas.microsoft.com/office/drawing/2014/main" id="{78CEE974-C743-C21C-2BDD-F9B6FB1F0A68}"/>
              </a:ext>
            </a:extLst>
          </p:cNvPr>
          <p:cNvCxnSpPr>
            <a:cxnSpLocks/>
          </p:cNvCxnSpPr>
          <p:nvPr/>
        </p:nvCxnSpPr>
        <p:spPr>
          <a:xfrm flipV="1">
            <a:off x="394020" y="3373120"/>
            <a:ext cx="2773996" cy="12068"/>
          </a:xfrm>
          <a:prstGeom prst="line">
            <a:avLst/>
          </a:prstGeom>
          <a:ln w="19050" cap="rnd">
            <a:solidFill>
              <a:srgbClr val="1E2761"/>
            </a:solidFill>
            <a:prstDash val="sysDot"/>
            <a:tailEnd type="none" w="med" len="med"/>
          </a:ln>
        </p:spPr>
      </p:cxnSp>
      <p:sp>
        <p:nvSpPr>
          <p:cNvPr id="1016" name="TextBox 1015">
            <a:extLst>
              <a:ext uri="{FF2B5EF4-FFF2-40B4-BE49-F238E27FC236}">
                <a16:creationId xmlns:a16="http://schemas.microsoft.com/office/drawing/2014/main" id="{6F03CF9A-94DB-4360-5490-8CFA120B1BA2}"/>
              </a:ext>
            </a:extLst>
          </p:cNvPr>
          <p:cNvSpPr txBox="1"/>
          <p:nvPr/>
        </p:nvSpPr>
        <p:spPr>
          <a:xfrm>
            <a:off x="287822" y="2185038"/>
            <a:ext cx="166838" cy="621022"/>
          </a:xfrm>
          <a:prstGeom prst="rect">
            <a:avLst/>
          </a:prstGeom>
          <a:solidFill>
            <a:srgbClr val="1E2761">
              <a:alpha val="70000"/>
            </a:srgbClr>
          </a:solidFill>
        </p:spPr>
        <p:txBody>
          <a:bodyPr rot="0" spcFirstLastPara="0" vert="vert270" wrap="none" lIns="0" tIns="0" rIns="0" bIns="0" anchor="ctr" anchorCtr="1"/>
          <a:lstStyle/>
          <a:p>
            <a:pPr algn="ctr">
              <a:buNone/>
            </a:pPr>
            <a:r>
              <a:rPr lang="en-US" sz="1000" b="1" dirty="0">
                <a:solidFill>
                  <a:srgbClr val="FFFFFF"/>
                </a:solidFill>
                <a:latin typeface="Calibri"/>
              </a:rPr>
              <a:t>CQRS</a:t>
            </a:r>
          </a:p>
        </p:txBody>
      </p:sp>
      <p:sp>
        <p:nvSpPr>
          <p:cNvPr id="194" name="BABS">
            <a:extLst>
              <a:ext uri="{FF2B5EF4-FFF2-40B4-BE49-F238E27FC236}">
                <a16:creationId xmlns:a16="http://schemas.microsoft.com/office/drawing/2014/main" id="{986E6806-13E9-722F-ECCB-CAAF3EFA6473}"/>
              </a:ext>
            </a:extLst>
          </p:cNvPr>
          <p:cNvSpPr/>
          <p:nvPr/>
        </p:nvSpPr>
        <p:spPr>
          <a:xfrm>
            <a:off x="3454400" y="3114788"/>
            <a:ext cx="1930400" cy="261618"/>
          </a:xfrm>
          <a:prstGeom prst="roundRect">
            <a:avLst>
              <a:gd name="adj" fmla="val 20000"/>
            </a:avLst>
          </a:prstGeom>
          <a:solidFill>
            <a:srgbClr val="FFF7E6"/>
          </a:solidFill>
          <a:ln w="12700">
            <a:solidFill>
              <a:srgbClr val="E0A93B"/>
            </a:solidFill>
          </a:ln>
        </p:spPr>
        <p:txBody>
          <a:bodyPr wrap="square" lIns="18000" tIns="9525" rIns="18000" bIns="9525" anchor="ctr"/>
          <a:lstStyle/>
          <a:p>
            <a:pPr algn="ctr">
              <a:buNone/>
            </a:pPr>
            <a:r>
              <a:rPr lang="en-US" sz="800" b="1" dirty="0">
                <a:solidFill>
                  <a:srgbClr val="6B4A0E"/>
                </a:solidFill>
                <a:latin typeface="Calibri"/>
              </a:rPr>
              <a:t>Internal Layer-wise </a:t>
            </a:r>
          </a:p>
          <a:p>
            <a:pPr algn="ctr">
              <a:buNone/>
            </a:pPr>
            <a:r>
              <a:rPr lang="en-US" sz="800" b="1" dirty="0">
                <a:solidFill>
                  <a:srgbClr val="6B4A0E"/>
                </a:solidFill>
                <a:latin typeface="Calibri"/>
              </a:rPr>
              <a:t>DI Registration</a:t>
            </a:r>
          </a:p>
        </p:txBody>
      </p:sp>
      <p:cxnSp>
        <p:nvCxnSpPr>
          <p:cNvPr id="209" name="B2">
            <a:extLst>
              <a:ext uri="{FF2B5EF4-FFF2-40B4-BE49-F238E27FC236}">
                <a16:creationId xmlns:a16="http://schemas.microsoft.com/office/drawing/2014/main" id="{BCDC1C6F-3550-2D0B-1E55-7C0D7E7BC86C}"/>
              </a:ext>
            </a:extLst>
          </p:cNvPr>
          <p:cNvCxnSpPr>
            <a:cxnSpLocks/>
          </p:cNvCxnSpPr>
          <p:nvPr/>
        </p:nvCxnSpPr>
        <p:spPr>
          <a:xfrm>
            <a:off x="5753100" y="2120900"/>
            <a:ext cx="0" cy="1117600"/>
          </a:xfrm>
          <a:prstGeom prst="line">
            <a:avLst/>
          </a:prstGeom>
          <a:ln w="19050" cap="rnd">
            <a:solidFill>
              <a:srgbClr val="5A6BA8"/>
            </a:solidFill>
            <a:prstDash val="solid"/>
            <a:tailEnd type="none" w="med" len="med"/>
          </a:ln>
        </p:spPr>
      </p:cxnSp>
      <p:cxnSp>
        <p:nvCxnSpPr>
          <p:cNvPr id="212" name="B2">
            <a:extLst>
              <a:ext uri="{FF2B5EF4-FFF2-40B4-BE49-F238E27FC236}">
                <a16:creationId xmlns:a16="http://schemas.microsoft.com/office/drawing/2014/main" id="{6C15DFEB-7D9A-97AD-8B1C-5E09E890A449}"/>
              </a:ext>
            </a:extLst>
          </p:cNvPr>
          <p:cNvCxnSpPr>
            <a:cxnSpLocks/>
            <a:endCxn id="18" idx="3"/>
          </p:cNvCxnSpPr>
          <p:nvPr/>
        </p:nvCxnSpPr>
        <p:spPr>
          <a:xfrm flipH="1">
            <a:off x="5384800" y="2105660"/>
            <a:ext cx="368300" cy="0"/>
          </a:xfrm>
          <a:prstGeom prst="line">
            <a:avLst/>
          </a:prstGeom>
          <a:ln w="19050" cap="rnd">
            <a:solidFill>
              <a:srgbClr val="5A6BA8"/>
            </a:solidFill>
            <a:prstDash val="solid"/>
            <a:tailEnd type="none" w="med" len="med"/>
          </a:ln>
        </p:spPr>
      </p:cxnSp>
      <p:cxnSp>
        <p:nvCxnSpPr>
          <p:cNvPr id="217" name="B2">
            <a:extLst>
              <a:ext uri="{FF2B5EF4-FFF2-40B4-BE49-F238E27FC236}">
                <a16:creationId xmlns:a16="http://schemas.microsoft.com/office/drawing/2014/main" id="{5F314171-781D-C100-9692-D72225A384F9}"/>
              </a:ext>
            </a:extLst>
          </p:cNvPr>
          <p:cNvCxnSpPr>
            <a:cxnSpLocks/>
          </p:cNvCxnSpPr>
          <p:nvPr/>
        </p:nvCxnSpPr>
        <p:spPr>
          <a:xfrm flipH="1">
            <a:off x="5384800" y="3248660"/>
            <a:ext cx="368300" cy="0"/>
          </a:xfrm>
          <a:prstGeom prst="line">
            <a:avLst/>
          </a:prstGeom>
          <a:ln w="19050" cap="rnd">
            <a:solidFill>
              <a:srgbClr val="5A6BA8"/>
            </a:solidFill>
            <a:prstDash val="solid"/>
            <a:tailEnd type="triangle" w="med" len="med"/>
          </a:ln>
        </p:spPr>
      </p:cxnSp>
      <p:cxnSp>
        <p:nvCxnSpPr>
          <p:cNvPr id="225" name="B2">
            <a:extLst>
              <a:ext uri="{FF2B5EF4-FFF2-40B4-BE49-F238E27FC236}">
                <a16:creationId xmlns:a16="http://schemas.microsoft.com/office/drawing/2014/main" id="{6D3B5B21-8D34-DA55-F2BA-C4ADA37B348A}"/>
              </a:ext>
            </a:extLst>
          </p:cNvPr>
          <p:cNvCxnSpPr>
            <a:cxnSpLocks/>
            <a:endCxn id="812" idx="0"/>
          </p:cNvCxnSpPr>
          <p:nvPr/>
        </p:nvCxnSpPr>
        <p:spPr>
          <a:xfrm>
            <a:off x="3168016" y="3373120"/>
            <a:ext cx="0" cy="140337"/>
          </a:xfrm>
          <a:prstGeom prst="line">
            <a:avLst/>
          </a:prstGeom>
          <a:ln w="19050" cap="rnd" cmpd="dbl">
            <a:solidFill>
              <a:srgbClr val="5A6BA8"/>
            </a:solidFill>
            <a:prstDash val="sysDot"/>
            <a:tailEnd type="none" w="med" len="med"/>
          </a:ln>
        </p:spPr>
      </p:cxnSp>
      <p:cxnSp>
        <p:nvCxnSpPr>
          <p:cNvPr id="230" name="B2">
            <a:extLst>
              <a:ext uri="{FF2B5EF4-FFF2-40B4-BE49-F238E27FC236}">
                <a16:creationId xmlns:a16="http://schemas.microsoft.com/office/drawing/2014/main" id="{F581D403-26DD-DABF-5643-561741EF0B00}"/>
              </a:ext>
            </a:extLst>
          </p:cNvPr>
          <p:cNvCxnSpPr>
            <a:cxnSpLocks/>
            <a:endCxn id="451" idx="3"/>
          </p:cNvCxnSpPr>
          <p:nvPr/>
        </p:nvCxnSpPr>
        <p:spPr>
          <a:xfrm flipH="1" flipV="1">
            <a:off x="2844800" y="3236911"/>
            <a:ext cx="584200" cy="1589"/>
          </a:xfrm>
          <a:prstGeom prst="line">
            <a:avLst/>
          </a:prstGeom>
          <a:ln w="19050" cap="rnd">
            <a:solidFill>
              <a:srgbClr val="5A6BA8"/>
            </a:solidFill>
            <a:prstDash val="sysDash"/>
            <a:tailEnd type="triangle" w="med" len="med"/>
          </a:ln>
        </p:spPr>
      </p:cxnSp>
      <p:cxnSp>
        <p:nvCxnSpPr>
          <p:cNvPr id="233" name="B2">
            <a:extLst>
              <a:ext uri="{FF2B5EF4-FFF2-40B4-BE49-F238E27FC236}">
                <a16:creationId xmlns:a16="http://schemas.microsoft.com/office/drawing/2014/main" id="{49487220-639F-BE0C-E76B-C8BC5EBC08C4}"/>
              </a:ext>
            </a:extLst>
          </p:cNvPr>
          <p:cNvCxnSpPr>
            <a:cxnSpLocks/>
            <a:stCxn id="194" idx="2"/>
          </p:cNvCxnSpPr>
          <p:nvPr/>
        </p:nvCxnSpPr>
        <p:spPr>
          <a:xfrm>
            <a:off x="4419600" y="3376406"/>
            <a:ext cx="0" cy="137051"/>
          </a:xfrm>
          <a:prstGeom prst="line">
            <a:avLst/>
          </a:prstGeom>
          <a:ln w="19050" cap="rnd">
            <a:solidFill>
              <a:srgbClr val="5A6BA8"/>
            </a:solidFill>
            <a:prstDash val="solid"/>
            <a:tailEnd type="triangle" w="med" len="med"/>
          </a:ln>
        </p:spPr>
      </p:cxnSp>
    </p:spTree>
    <p:extLst>
      <p:ext uri="{BB962C8B-B14F-4D97-AF65-F5344CB8AC3E}">
        <p14:creationId xmlns:p14="http://schemas.microsoft.com/office/powerpoint/2010/main" val="26097020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4BF693C-90F3-4B7F-06FA-68F7DFD9E0F9}"/>
              </a:ext>
            </a:extLst>
          </p:cNvPr>
          <p:cNvSpPr txBox="1"/>
          <p:nvPr/>
        </p:nvSpPr>
        <p:spPr>
          <a:xfrm>
            <a:off x="434340" y="81379"/>
            <a:ext cx="8511540" cy="492443"/>
          </a:xfrm>
          <a:prstGeom prst="rect">
            <a:avLst/>
          </a:prstGeom>
          <a:noFill/>
        </p:spPr>
        <p:txBody>
          <a:bodyPr wrap="square">
            <a:spAutoFit/>
          </a:bodyPr>
          <a:lstStyle/>
          <a:p>
            <a:pPr algn="l">
              <a:buNone/>
            </a:pPr>
            <a:r>
              <a:rPr lang="en-US" sz="2600" b="1" dirty="0">
                <a:solidFill>
                  <a:srgbClr val="1E2761"/>
                </a:solidFill>
                <a:latin typeface="Cambria"/>
              </a:rPr>
              <a:t>Proposal 2: Modular Monolith with Clean Architecture</a:t>
            </a:r>
          </a:p>
        </p:txBody>
      </p:sp>
      <p:sp>
        <p:nvSpPr>
          <p:cNvPr id="101" name="Outer WebUI"/>
          <p:cNvSpPr/>
          <p:nvPr/>
        </p:nvSpPr>
        <p:spPr>
          <a:xfrm>
            <a:off x="2349500" y="660400"/>
            <a:ext cx="4445000" cy="4445000"/>
          </a:xfrm>
          <a:prstGeom prst="ellipse">
            <a:avLst/>
          </a:prstGeom>
          <a:solidFill>
            <a:srgbClr val="DCE6F6"/>
          </a:solidFill>
          <a:ln w="19050">
            <a:solidFill>
              <a:srgbClr val="4472C4"/>
            </a:solidFill>
          </a:ln>
        </p:spPr>
        <p:txBody>
          <a:bodyPr/>
          <a:lstStyle/>
          <a:p>
            <a:endParaRPr/>
          </a:p>
        </p:txBody>
      </p:sp>
      <p:sp>
        <p:nvSpPr>
          <p:cNvPr id="102" name="Infra Half"/>
          <p:cNvSpPr/>
          <p:nvPr/>
        </p:nvSpPr>
        <p:spPr>
          <a:xfrm>
            <a:off x="2349500" y="660400"/>
            <a:ext cx="4445000" cy="4445000"/>
          </a:xfrm>
          <a:prstGeom prst="chord">
            <a:avLst>
              <a:gd name="adj1" fmla="val 0"/>
              <a:gd name="adj2" fmla="val 10800000"/>
            </a:avLst>
          </a:prstGeom>
          <a:solidFill>
            <a:srgbClr val="58C4EC"/>
          </a:solidFill>
          <a:ln>
            <a:noFill/>
          </a:ln>
        </p:spPr>
        <p:txBody>
          <a:bodyPr/>
          <a:lstStyle/>
          <a:p>
            <a:endParaRPr/>
          </a:p>
        </p:txBody>
      </p:sp>
      <p:sp>
        <p:nvSpPr>
          <p:cNvPr id="103" name="Application Ring"/>
          <p:cNvSpPr/>
          <p:nvPr/>
        </p:nvSpPr>
        <p:spPr>
          <a:xfrm>
            <a:off x="3238500" y="1549400"/>
            <a:ext cx="2667000" cy="2667000"/>
          </a:xfrm>
          <a:prstGeom prst="ellipse">
            <a:avLst/>
          </a:prstGeom>
          <a:solidFill>
            <a:srgbClr val="DCE9CB"/>
          </a:solidFill>
          <a:ln w="19050">
            <a:solidFill>
              <a:srgbClr val="548235"/>
            </a:solidFill>
          </a:ln>
        </p:spPr>
        <p:txBody>
          <a:bodyPr/>
          <a:lstStyle/>
          <a:p>
            <a:endParaRPr/>
          </a:p>
        </p:txBody>
      </p:sp>
      <p:sp>
        <p:nvSpPr>
          <p:cNvPr id="104" name="Domain Core"/>
          <p:cNvSpPr/>
          <p:nvPr/>
        </p:nvSpPr>
        <p:spPr>
          <a:xfrm>
            <a:off x="3822700" y="2133600"/>
            <a:ext cx="1498600" cy="1498600"/>
          </a:xfrm>
          <a:prstGeom prst="ellipse">
            <a:avLst/>
          </a:prstGeom>
          <a:solidFill>
            <a:srgbClr val="FCE4D6"/>
          </a:solidFill>
          <a:ln w="19050">
            <a:solidFill>
              <a:srgbClr val="ED7D31"/>
            </a:solidFill>
          </a:ln>
        </p:spPr>
        <p:txBody>
          <a:bodyPr/>
          <a:lstStyle/>
          <a:p>
            <a:endParaRPr/>
          </a:p>
        </p:txBody>
      </p:sp>
      <p:sp>
        <p:nvSpPr>
          <p:cNvPr id="110" name="WebUI Label"/>
          <p:cNvSpPr txBox="1"/>
          <p:nvPr/>
        </p:nvSpPr>
        <p:spPr>
          <a:xfrm>
            <a:off x="4000500" y="787400"/>
            <a:ext cx="1155700" cy="613165"/>
          </a:xfrm>
          <a:prstGeom prst="rect">
            <a:avLst/>
          </a:prstGeom>
          <a:noFill/>
        </p:spPr>
        <p:txBody>
          <a:bodyPr wrap="square" lIns="18000" tIns="9000" rIns="18000" bIns="9000" anchor="t">
            <a:normAutofit/>
          </a:bodyPr>
          <a:lstStyle/>
          <a:p>
            <a:pPr algn="ctr">
              <a:buNone/>
            </a:pPr>
            <a:r>
              <a:rPr lang="en-US" sz="1400" b="1" dirty="0" err="1">
                <a:solidFill>
                  <a:srgbClr val="000000"/>
                </a:solidFill>
              </a:rPr>
              <a:t>WebAPI</a:t>
            </a:r>
            <a:endParaRPr lang="en-US" sz="1400" b="1" dirty="0">
              <a:solidFill>
                <a:srgbClr val="000000"/>
              </a:solidFill>
            </a:endParaRPr>
          </a:p>
          <a:p>
            <a:pPr algn="ctr">
              <a:buNone/>
            </a:pPr>
            <a:r>
              <a:rPr lang="en-US" sz="1050" b="0" dirty="0">
                <a:solidFill>
                  <a:srgbClr val="000000"/>
                </a:solidFill>
              </a:rPr>
              <a:t>Program &amp; Startup</a:t>
            </a:r>
          </a:p>
          <a:p>
            <a:pPr algn="ctr">
              <a:buNone/>
            </a:pPr>
            <a:r>
              <a:rPr lang="en-US" sz="1050" b="0" dirty="0">
                <a:solidFill>
                  <a:srgbClr val="000000"/>
                </a:solidFill>
              </a:rPr>
              <a:t>Controllers</a:t>
            </a:r>
          </a:p>
        </p:txBody>
      </p:sp>
      <p:sp>
        <p:nvSpPr>
          <p:cNvPr id="111" name="App Label"/>
          <p:cNvSpPr txBox="1"/>
          <p:nvPr/>
        </p:nvSpPr>
        <p:spPr>
          <a:xfrm>
            <a:off x="3581400" y="1587500"/>
            <a:ext cx="2019300" cy="552450"/>
          </a:xfrm>
          <a:prstGeom prst="rect">
            <a:avLst/>
          </a:prstGeom>
          <a:noFill/>
        </p:spPr>
        <p:txBody>
          <a:bodyPr wrap="square" lIns="18000" tIns="9000" rIns="18000" bIns="9000" anchor="t">
            <a:normAutofit/>
          </a:bodyPr>
          <a:lstStyle/>
          <a:p>
            <a:pPr algn="ctr">
              <a:buNone/>
            </a:pPr>
            <a:r>
              <a:rPr lang="en-US" sz="1300" b="1" dirty="0">
                <a:solidFill>
                  <a:srgbClr val="000000"/>
                </a:solidFill>
              </a:rPr>
              <a:t>Application</a:t>
            </a:r>
          </a:p>
          <a:p>
            <a:pPr algn="ctr">
              <a:buNone/>
            </a:pPr>
            <a:r>
              <a:rPr lang="en-US" sz="1000" b="0" dirty="0">
                <a:solidFill>
                  <a:srgbClr val="000000"/>
                </a:solidFill>
              </a:rPr>
              <a:t>Use cases, </a:t>
            </a:r>
          </a:p>
          <a:p>
            <a:pPr algn="ctr">
              <a:buNone/>
            </a:pPr>
            <a:r>
              <a:rPr lang="en-US" sz="1000" b="0" dirty="0">
                <a:solidFill>
                  <a:srgbClr val="000000"/>
                </a:solidFill>
              </a:rPr>
              <a:t>Queries</a:t>
            </a:r>
            <a:r>
              <a:rPr lang="en-US" sz="1000" dirty="0">
                <a:solidFill>
                  <a:srgbClr val="000000"/>
                </a:solidFill>
              </a:rPr>
              <a:t> &amp; </a:t>
            </a:r>
            <a:r>
              <a:rPr lang="en-US" sz="1000" b="0" dirty="0">
                <a:solidFill>
                  <a:srgbClr val="000000"/>
                </a:solidFill>
              </a:rPr>
              <a:t>Commands with Handlers </a:t>
            </a:r>
          </a:p>
        </p:txBody>
      </p:sp>
      <p:sp>
        <p:nvSpPr>
          <p:cNvPr id="112" name="Domain Label"/>
          <p:cNvSpPr txBox="1"/>
          <p:nvPr/>
        </p:nvSpPr>
        <p:spPr>
          <a:xfrm>
            <a:off x="3949700" y="2476500"/>
            <a:ext cx="1282700" cy="711200"/>
          </a:xfrm>
          <a:prstGeom prst="rect">
            <a:avLst/>
          </a:prstGeom>
          <a:noFill/>
        </p:spPr>
        <p:txBody>
          <a:bodyPr wrap="square" lIns="18000" tIns="9000" rIns="18000" bIns="9000" anchor="t">
            <a:normAutofit/>
          </a:bodyPr>
          <a:lstStyle/>
          <a:p>
            <a:pPr algn="ctr">
              <a:buNone/>
            </a:pPr>
            <a:r>
              <a:rPr lang="en-US" sz="1300" b="1" dirty="0">
                <a:solidFill>
                  <a:srgbClr val="000000"/>
                </a:solidFill>
              </a:rPr>
              <a:t>Domain</a:t>
            </a:r>
          </a:p>
          <a:p>
            <a:pPr algn="ctr">
              <a:buNone/>
            </a:pPr>
            <a:r>
              <a:rPr lang="en-US" sz="950" b="0" dirty="0">
                <a:solidFill>
                  <a:srgbClr val="000000"/>
                </a:solidFill>
              </a:rPr>
              <a:t>Entities;</a:t>
            </a:r>
            <a:r>
              <a:rPr lang="en-US" sz="950" dirty="0">
                <a:solidFill>
                  <a:srgbClr val="000000"/>
                </a:solidFill>
              </a:rPr>
              <a:t> Aggregates</a:t>
            </a:r>
            <a:r>
              <a:rPr lang="en-US" sz="950" b="0" dirty="0">
                <a:solidFill>
                  <a:srgbClr val="000000"/>
                </a:solidFill>
              </a:rPr>
              <a:t>; </a:t>
            </a:r>
          </a:p>
          <a:p>
            <a:pPr algn="ctr">
              <a:buNone/>
            </a:pPr>
            <a:r>
              <a:rPr lang="en-US" sz="950" b="0" dirty="0">
                <a:solidFill>
                  <a:srgbClr val="000000"/>
                </a:solidFill>
              </a:rPr>
              <a:t>Value Objects; Events; </a:t>
            </a:r>
          </a:p>
          <a:p>
            <a:pPr algn="ctr">
              <a:buNone/>
            </a:pPr>
            <a:r>
              <a:rPr lang="en-US" sz="950" b="0" dirty="0">
                <a:solidFill>
                  <a:srgbClr val="000000"/>
                </a:solidFill>
              </a:rPr>
              <a:t>Exceptions</a:t>
            </a:r>
          </a:p>
        </p:txBody>
      </p:sp>
      <p:sp>
        <p:nvSpPr>
          <p:cNvPr id="113" name="Infra Label"/>
          <p:cNvSpPr txBox="1"/>
          <p:nvPr/>
        </p:nvSpPr>
        <p:spPr>
          <a:xfrm>
            <a:off x="3733800" y="4330700"/>
            <a:ext cx="1727200" cy="584200"/>
          </a:xfrm>
          <a:prstGeom prst="rect">
            <a:avLst/>
          </a:prstGeom>
          <a:noFill/>
        </p:spPr>
        <p:txBody>
          <a:bodyPr wrap="square" lIns="18000" tIns="9000" rIns="18000" bIns="9000" anchor="t">
            <a:normAutofit/>
          </a:bodyPr>
          <a:lstStyle/>
          <a:p>
            <a:pPr algn="ctr">
              <a:buNone/>
            </a:pPr>
            <a:r>
              <a:rPr lang="en-US" sz="1400" b="1" dirty="0">
                <a:solidFill>
                  <a:srgbClr val="000000"/>
                </a:solidFill>
              </a:rPr>
              <a:t>Infrastructure</a:t>
            </a:r>
          </a:p>
          <a:p>
            <a:pPr algn="ctr">
              <a:buNone/>
            </a:pPr>
            <a:r>
              <a:rPr lang="en-US" sz="1050" b="0" dirty="0">
                <a:solidFill>
                  <a:srgbClr val="000000"/>
                </a:solidFill>
              </a:rPr>
              <a:t>DB Persistence; Caching; </a:t>
            </a:r>
          </a:p>
          <a:p>
            <a:pPr algn="ctr">
              <a:buNone/>
            </a:pPr>
            <a:r>
              <a:rPr lang="en-US" sz="1050" dirty="0">
                <a:solidFill>
                  <a:srgbClr val="000000"/>
                </a:solidFill>
              </a:rPr>
              <a:t>Messaging; External Services</a:t>
            </a:r>
            <a:endParaRPr lang="en-US" sz="1050" b="0" dirty="0">
              <a:solidFill>
                <a:srgbClr val="000000"/>
              </a:solidFill>
            </a:endParaRPr>
          </a:p>
        </p:txBody>
      </p:sp>
      <p:sp>
        <p:nvSpPr>
          <p:cNvPr id="121" name="Legend Note"/>
          <p:cNvSpPr txBox="1"/>
          <p:nvPr/>
        </p:nvSpPr>
        <p:spPr>
          <a:xfrm>
            <a:off x="7594600" y="4368800"/>
            <a:ext cx="1524000" cy="736600"/>
          </a:xfrm>
          <a:prstGeom prst="rect">
            <a:avLst/>
          </a:prstGeom>
          <a:noFill/>
        </p:spPr>
        <p:txBody>
          <a:bodyPr wrap="square" lIns="18000" tIns="9000" rIns="18000" bIns="9000" anchor="t">
            <a:normAutofit/>
          </a:bodyPr>
          <a:lstStyle/>
          <a:p>
            <a:pPr algn="ctr">
              <a:buNone/>
            </a:pPr>
            <a:r>
              <a:rPr lang="en-US" sz="1050" dirty="0">
                <a:solidFill>
                  <a:srgbClr val="7F7F7F"/>
                </a:solidFill>
              </a:rPr>
              <a:t>Arrows represent compile time dependencies between projects</a:t>
            </a:r>
          </a:p>
        </p:txBody>
      </p:sp>
      <p:sp>
        <p:nvSpPr>
          <p:cNvPr id="140" name="Dep WebAPI"/>
          <p:cNvSpPr/>
          <p:nvPr/>
        </p:nvSpPr>
        <p:spPr>
          <a:xfrm>
            <a:off x="5143500" y="1905000"/>
            <a:ext cx="1206500" cy="736600"/>
          </a:xfrm>
          <a:custGeom>
            <a:avLst/>
            <a:gdLst/>
            <a:ahLst/>
            <a:cxnLst/>
            <a:rect l="0" t="0" r="0" b="0"/>
            <a:pathLst>
              <a:path w="1206500" h="736600" fill="none">
                <a:moveTo>
                  <a:pt x="1206500" y="73660"/>
                </a:moveTo>
                <a:cubicBezTo>
                  <a:pt x="699770" y="0"/>
                  <a:pt x="120650" y="633476"/>
                  <a:pt x="0" y="633476"/>
                </a:cubicBezTo>
              </a:path>
            </a:pathLst>
          </a:custGeom>
          <a:noFill/>
          <a:ln w="15875" cap="rnd">
            <a:solidFill>
              <a:srgbClr val="1E2761"/>
            </a:solidFill>
            <a:tailEnd type="triangle" w="med" len="med"/>
          </a:ln>
        </p:spPr>
        <p:txBody>
          <a:bodyPr/>
          <a:lstStyle/>
          <a:p>
            <a:endParaRPr/>
          </a:p>
        </p:txBody>
      </p:sp>
      <p:sp>
        <p:nvSpPr>
          <p:cNvPr id="141" name="Dep Infra"/>
          <p:cNvSpPr/>
          <p:nvPr/>
        </p:nvSpPr>
        <p:spPr>
          <a:xfrm>
            <a:off x="5143500" y="3124200"/>
            <a:ext cx="1206500" cy="736600"/>
          </a:xfrm>
          <a:custGeom>
            <a:avLst/>
            <a:gdLst/>
            <a:ahLst/>
            <a:cxnLst/>
            <a:rect l="0" t="0" r="0" b="0"/>
            <a:pathLst>
              <a:path w="1206500" h="736600" fill="none">
                <a:moveTo>
                  <a:pt x="1206500" y="662940"/>
                </a:moveTo>
                <a:cubicBezTo>
                  <a:pt x="699770" y="736600"/>
                  <a:pt x="120650" y="103124"/>
                  <a:pt x="0" y="103124"/>
                </a:cubicBezTo>
              </a:path>
            </a:pathLst>
          </a:custGeom>
          <a:noFill/>
          <a:ln w="15875" cap="rnd">
            <a:solidFill>
              <a:srgbClr val="1E2761"/>
            </a:solidFill>
            <a:tailEnd type="triangle" w="med" len="med"/>
          </a:ln>
        </p:spPr>
        <p:txBody>
          <a:bodyPr/>
          <a:lstStyle/>
          <a:p>
            <a:endParaRPr/>
          </a:p>
        </p:txBody>
      </p:sp>
    </p:spTree>
    <p:extLst>
      <p:ext uri="{BB962C8B-B14F-4D97-AF65-F5344CB8AC3E}">
        <p14:creationId xmlns:p14="http://schemas.microsoft.com/office/powerpoint/2010/main" val="40341397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90383-74A2-389E-3A28-A52EDD12033C}"/>
            </a:ext>
          </a:extLst>
        </p:cNvPr>
        <p:cNvGrpSpPr/>
        <p:nvPr/>
      </p:nvGrpSpPr>
      <p:grpSpPr>
        <a:xfrm>
          <a:off x="0" y="0"/>
          <a:ext cx="0" cy="0"/>
          <a:chOff x="0" y="0"/>
          <a:chExt cx="0" cy="0"/>
        </a:xfrm>
      </p:grpSpPr>
      <p:sp>
        <p:nvSpPr>
          <p:cNvPr id="10" name="L11">
            <a:extLst>
              <a:ext uri="{FF2B5EF4-FFF2-40B4-BE49-F238E27FC236}">
                <a16:creationId xmlns:a16="http://schemas.microsoft.com/office/drawing/2014/main" id="{068853F9-2088-BD6E-FDC5-DF9A395F8B89}"/>
              </a:ext>
            </a:extLst>
          </p:cNvPr>
          <p:cNvSpPr txBox="1"/>
          <p:nvPr/>
        </p:nvSpPr>
        <p:spPr>
          <a:xfrm>
            <a:off x="457200" y="127000"/>
            <a:ext cx="8229600" cy="406400"/>
          </a:xfrm>
          <a:prstGeom prst="rect">
            <a:avLst/>
          </a:prstGeom>
          <a:noFill/>
        </p:spPr>
        <p:txBody>
          <a:bodyPr wrap="square" lIns="0" tIns="0" rIns="0" bIns="0" anchor="ctr"/>
          <a:lstStyle/>
          <a:p>
            <a:pPr algn="l">
              <a:buNone/>
            </a:pPr>
            <a:r>
              <a:rPr lang="en-US" sz="2600" b="1" dirty="0">
                <a:solidFill>
                  <a:srgbClr val="1E2761"/>
                </a:solidFill>
                <a:latin typeface="Cambria"/>
              </a:rPr>
              <a:t>Proposal 2: Modular Monolith with CA &amp; VSA</a:t>
            </a:r>
          </a:p>
        </p:txBody>
      </p:sp>
      <p:sp>
        <p:nvSpPr>
          <p:cNvPr id="11" name="L12">
            <a:extLst>
              <a:ext uri="{FF2B5EF4-FFF2-40B4-BE49-F238E27FC236}">
                <a16:creationId xmlns:a16="http://schemas.microsoft.com/office/drawing/2014/main" id="{9330121C-52B2-D9D0-371C-9CB54FD69312}"/>
              </a:ext>
            </a:extLst>
          </p:cNvPr>
          <p:cNvSpPr txBox="1"/>
          <p:nvPr/>
        </p:nvSpPr>
        <p:spPr>
          <a:xfrm>
            <a:off x="457200" y="571500"/>
            <a:ext cx="8229600" cy="203200"/>
          </a:xfrm>
          <a:prstGeom prst="rect">
            <a:avLst/>
          </a:prstGeom>
          <a:noFill/>
        </p:spPr>
        <p:txBody>
          <a:bodyPr wrap="square" lIns="0" tIns="0" rIns="0" bIns="0" anchor="ctr"/>
          <a:lstStyle/>
          <a:p>
            <a:pPr algn="l">
              <a:buNone/>
            </a:pPr>
            <a:r>
              <a:rPr lang="en-US" sz="1100" b="0" dirty="0">
                <a:solidFill>
                  <a:srgbClr val="334155"/>
                </a:solidFill>
                <a:latin typeface="Calibri"/>
              </a:rPr>
              <a:t>Architecture for a single microservice</a:t>
            </a:r>
          </a:p>
        </p:txBody>
      </p:sp>
      <p:sp>
        <p:nvSpPr>
          <p:cNvPr id="12" name="L13">
            <a:extLst>
              <a:ext uri="{FF2B5EF4-FFF2-40B4-BE49-F238E27FC236}">
                <a16:creationId xmlns:a16="http://schemas.microsoft.com/office/drawing/2014/main" id="{BAADC9AE-F7BA-8B82-E9C3-761CA515BD2D}"/>
              </a:ext>
            </a:extLst>
          </p:cNvPr>
          <p:cNvSpPr txBox="1"/>
          <p:nvPr/>
        </p:nvSpPr>
        <p:spPr>
          <a:xfrm>
            <a:off x="609600" y="812800"/>
            <a:ext cx="3454400" cy="177800"/>
          </a:xfrm>
          <a:prstGeom prst="rect">
            <a:avLst/>
          </a:prstGeom>
          <a:noFill/>
        </p:spPr>
        <p:txBody>
          <a:bodyPr wrap="square" lIns="0" tIns="0" rIns="0" bIns="0" anchor="ctr"/>
          <a:lstStyle/>
          <a:p>
            <a:pPr algn="l">
              <a:buNone/>
            </a:pPr>
            <a:r>
              <a:rPr lang="en-US" sz="900" b="1" dirty="0">
                <a:solidFill>
                  <a:srgbClr val="1E2761"/>
                </a:solidFill>
                <a:latin typeface="Calibri"/>
              </a:rPr>
              <a:t>ONE MICROSERVICE — VERTICAL SLICES (1 SLICE = 1 .NET PROJECT)</a:t>
            </a:r>
          </a:p>
        </p:txBody>
      </p:sp>
      <p:grpSp>
        <p:nvGrpSpPr>
          <p:cNvPr id="900" name="Data &amp; Integrations Group">
            <a:extLst>
              <a:ext uri="{FF2B5EF4-FFF2-40B4-BE49-F238E27FC236}">
                <a16:creationId xmlns:a16="http://schemas.microsoft.com/office/drawing/2014/main" id="{8D77E740-F127-222E-5167-0DDBE4BEA338}"/>
              </a:ext>
            </a:extLst>
          </p:cNvPr>
          <p:cNvGrpSpPr/>
          <p:nvPr/>
        </p:nvGrpSpPr>
        <p:grpSpPr>
          <a:xfrm>
            <a:off x="7086600" y="1092200"/>
            <a:ext cx="1828800" cy="3472180"/>
            <a:chOff x="6858000" y="1143000"/>
            <a:chExt cx="1828800" cy="3327400"/>
          </a:xfrm>
        </p:grpSpPr>
        <p:sp>
          <p:nvSpPr>
            <p:cNvPr id="22" name="S4">
              <a:extLst>
                <a:ext uri="{FF2B5EF4-FFF2-40B4-BE49-F238E27FC236}">
                  <a16:creationId xmlns:a16="http://schemas.microsoft.com/office/drawing/2014/main" id="{E1F1EEB9-5C00-027B-41D6-DA8C3A6E980A}"/>
                </a:ext>
              </a:extLst>
            </p:cNvPr>
            <p:cNvSpPr/>
            <p:nvPr/>
          </p:nvSpPr>
          <p:spPr>
            <a:xfrm>
              <a:off x="6858000" y="1143000"/>
              <a:ext cx="1828800" cy="3327400"/>
            </a:xfrm>
            <a:prstGeom prst="roundRect">
              <a:avLst>
                <a:gd name="adj" fmla="val 8000"/>
              </a:avLst>
            </a:prstGeom>
            <a:solidFill>
              <a:srgbClr val="D6DEF5"/>
            </a:solidFill>
            <a:ln w="12700">
              <a:solidFill>
                <a:srgbClr val="5A6BA8"/>
              </a:solidFill>
            </a:ln>
          </p:spPr>
          <p:txBody>
            <a:bodyPr wrap="square" lIns="45720" tIns="45720" rIns="45720" bIns="27432" anchor="t"/>
            <a:lstStyle/>
            <a:p>
              <a:pPr algn="ctr">
                <a:buNone/>
              </a:pPr>
              <a:r>
                <a:rPr lang="en-US" sz="1000" b="1" dirty="0">
                  <a:solidFill>
                    <a:srgbClr val="1E2761"/>
                  </a:solidFill>
                  <a:latin typeface="Calibri"/>
                </a:rPr>
                <a:t>Data &amp; Integrations</a:t>
              </a:r>
            </a:p>
          </p:txBody>
        </p:sp>
        <p:sp>
          <p:nvSpPr>
            <p:cNvPr id="200" name="D0">
              <a:extLst>
                <a:ext uri="{FF2B5EF4-FFF2-40B4-BE49-F238E27FC236}">
                  <a16:creationId xmlns:a16="http://schemas.microsoft.com/office/drawing/2014/main" id="{A1C5D40D-C983-2E72-131A-4EE653B32D4E}"/>
                </a:ext>
              </a:extLst>
            </p:cNvPr>
            <p:cNvSpPr/>
            <p:nvPr/>
          </p:nvSpPr>
          <p:spPr>
            <a:xfrm>
              <a:off x="6985000" y="1473200"/>
              <a:ext cx="1574800" cy="457200"/>
            </a:xfrm>
            <a:prstGeom prst="roundRect">
              <a:avLst>
                <a:gd name="adj" fmla="val 10000"/>
              </a:avLst>
            </a:prstGeom>
            <a:solidFill>
              <a:srgbClr val="FFFFFF"/>
            </a:solidFill>
            <a:ln w="12700">
              <a:solidFill>
                <a:srgbClr val="C3D4F2"/>
              </a:solidFill>
            </a:ln>
          </p:spPr>
          <p:txBody>
            <a:bodyPr wrap="square" lIns="18288" tIns="18288" rIns="18288" bIns="18288" anchor="ctr" anchorCtr="0"/>
            <a:lstStyle/>
            <a:p>
              <a:pPr algn="ctr">
                <a:buNone/>
              </a:pPr>
              <a:r>
                <a:rPr lang="en-US" sz="1000" b="1" dirty="0">
                  <a:solidFill>
                    <a:srgbClr val="1E2761"/>
                  </a:solidFill>
                  <a:latin typeface="Calibri"/>
                </a:rPr>
                <a:t>Oracle Enterprise</a:t>
              </a:r>
            </a:p>
          </p:txBody>
        </p:sp>
        <p:sp>
          <p:nvSpPr>
            <p:cNvPr id="401" name="GOracle">
              <a:extLst>
                <a:ext uri="{FF2B5EF4-FFF2-40B4-BE49-F238E27FC236}">
                  <a16:creationId xmlns:a16="http://schemas.microsoft.com/office/drawing/2014/main" id="{9CA5CAE9-16BA-1A6E-C432-9FA378019457}"/>
                </a:ext>
              </a:extLst>
            </p:cNvPr>
            <p:cNvSpPr/>
            <p:nvPr/>
          </p:nvSpPr>
          <p:spPr>
            <a:xfrm>
              <a:off x="7086600" y="1600200"/>
              <a:ext cx="203200" cy="215900"/>
            </a:xfrm>
            <a:prstGeom prst="can">
              <a:avLst/>
            </a:prstGeom>
            <a:solidFill>
              <a:srgbClr val="1E2761"/>
            </a:solidFill>
            <a:ln>
              <a:noFill/>
            </a:ln>
          </p:spPr>
          <p:txBody>
            <a:bodyPr/>
            <a:lstStyle/>
            <a:p>
              <a:endParaRPr lang="en-US"/>
            </a:p>
          </p:txBody>
        </p:sp>
        <p:sp>
          <p:nvSpPr>
            <p:cNvPr id="201" name="D1">
              <a:extLst>
                <a:ext uri="{FF2B5EF4-FFF2-40B4-BE49-F238E27FC236}">
                  <a16:creationId xmlns:a16="http://schemas.microsoft.com/office/drawing/2014/main" id="{ABE17888-3A11-B19B-45E1-7341307FBC4D}"/>
                </a:ext>
              </a:extLst>
            </p:cNvPr>
            <p:cNvSpPr/>
            <p:nvPr/>
          </p:nvSpPr>
          <p:spPr>
            <a:xfrm>
              <a:off x="6985000" y="2095500"/>
              <a:ext cx="1574800" cy="457200"/>
            </a:xfrm>
            <a:prstGeom prst="roundRect">
              <a:avLst>
                <a:gd name="adj" fmla="val 10000"/>
              </a:avLst>
            </a:prstGeom>
            <a:solidFill>
              <a:srgbClr val="FFFFFF"/>
            </a:solidFill>
            <a:ln w="12700">
              <a:solidFill>
                <a:srgbClr val="C3D4F2"/>
              </a:solidFill>
            </a:ln>
          </p:spPr>
          <p:txBody>
            <a:bodyPr wrap="square" lIns="18288" tIns="18288" rIns="18288" bIns="18288" anchor="ctr" anchorCtr="0"/>
            <a:lstStyle/>
            <a:p>
              <a:pPr algn="ctr">
                <a:buNone/>
              </a:pPr>
              <a:r>
                <a:rPr lang="en-US" sz="1000" b="1" dirty="0">
                  <a:solidFill>
                    <a:srgbClr val="1E2761"/>
                  </a:solidFill>
                  <a:latin typeface="Calibri"/>
                </a:rPr>
                <a:t>MongoDB</a:t>
              </a:r>
            </a:p>
          </p:txBody>
        </p:sp>
        <p:sp>
          <p:nvSpPr>
            <p:cNvPr id="402" name="GMongo">
              <a:extLst>
                <a:ext uri="{FF2B5EF4-FFF2-40B4-BE49-F238E27FC236}">
                  <a16:creationId xmlns:a16="http://schemas.microsoft.com/office/drawing/2014/main" id="{A128B48E-265B-4C9D-57D7-C8728F74268F}"/>
                </a:ext>
              </a:extLst>
            </p:cNvPr>
            <p:cNvSpPr/>
            <p:nvPr/>
          </p:nvSpPr>
          <p:spPr>
            <a:xfrm>
              <a:off x="7086600" y="2222500"/>
              <a:ext cx="203200" cy="215900"/>
            </a:xfrm>
            <a:prstGeom prst="teardrop">
              <a:avLst/>
            </a:prstGeom>
            <a:solidFill>
              <a:srgbClr val="1E2761"/>
            </a:solidFill>
            <a:ln>
              <a:noFill/>
            </a:ln>
          </p:spPr>
          <p:txBody>
            <a:bodyPr/>
            <a:lstStyle/>
            <a:p>
              <a:endParaRPr lang="en-US"/>
            </a:p>
          </p:txBody>
        </p:sp>
        <p:sp>
          <p:nvSpPr>
            <p:cNvPr id="202" name="D2">
              <a:extLst>
                <a:ext uri="{FF2B5EF4-FFF2-40B4-BE49-F238E27FC236}">
                  <a16:creationId xmlns:a16="http://schemas.microsoft.com/office/drawing/2014/main" id="{DF1CDD38-440D-0E94-C28E-62702B19018F}"/>
                </a:ext>
              </a:extLst>
            </p:cNvPr>
            <p:cNvSpPr/>
            <p:nvPr/>
          </p:nvSpPr>
          <p:spPr>
            <a:xfrm>
              <a:off x="6985000" y="2717800"/>
              <a:ext cx="1574800" cy="457200"/>
            </a:xfrm>
            <a:prstGeom prst="roundRect">
              <a:avLst>
                <a:gd name="adj" fmla="val 10000"/>
              </a:avLst>
            </a:prstGeom>
            <a:solidFill>
              <a:srgbClr val="FFFFFF"/>
            </a:solidFill>
            <a:ln w="12700">
              <a:solidFill>
                <a:srgbClr val="C3D4F2"/>
              </a:solidFill>
            </a:ln>
          </p:spPr>
          <p:txBody>
            <a:bodyPr wrap="square" lIns="18288" tIns="18288" rIns="18288" bIns="18288" anchor="ctr" anchorCtr="0"/>
            <a:lstStyle/>
            <a:p>
              <a:pPr algn="ctr">
                <a:buNone/>
              </a:pPr>
              <a:r>
                <a:rPr lang="en-US" sz="1000" b="1" dirty="0">
                  <a:solidFill>
                    <a:srgbClr val="1E2761"/>
                  </a:solidFill>
                  <a:latin typeface="Calibri"/>
                </a:rPr>
                <a:t>Redis</a:t>
              </a:r>
            </a:p>
          </p:txBody>
        </p:sp>
        <p:sp>
          <p:nvSpPr>
            <p:cNvPr id="403" name="GRedis">
              <a:extLst>
                <a:ext uri="{FF2B5EF4-FFF2-40B4-BE49-F238E27FC236}">
                  <a16:creationId xmlns:a16="http://schemas.microsoft.com/office/drawing/2014/main" id="{59AD4ED3-738D-8F81-A37A-B730A328F090}"/>
                </a:ext>
              </a:extLst>
            </p:cNvPr>
            <p:cNvSpPr/>
            <p:nvPr/>
          </p:nvSpPr>
          <p:spPr>
            <a:xfrm>
              <a:off x="7086600" y="2844800"/>
              <a:ext cx="203200" cy="215900"/>
            </a:xfrm>
            <a:prstGeom prst="lightningBolt">
              <a:avLst/>
            </a:prstGeom>
            <a:solidFill>
              <a:srgbClr val="1E2761"/>
            </a:solidFill>
            <a:ln>
              <a:noFill/>
            </a:ln>
          </p:spPr>
          <p:txBody>
            <a:bodyPr/>
            <a:lstStyle/>
            <a:p>
              <a:endParaRPr lang="en-US"/>
            </a:p>
          </p:txBody>
        </p:sp>
        <p:sp>
          <p:nvSpPr>
            <p:cNvPr id="500" name="D4">
              <a:extLst>
                <a:ext uri="{FF2B5EF4-FFF2-40B4-BE49-F238E27FC236}">
                  <a16:creationId xmlns:a16="http://schemas.microsoft.com/office/drawing/2014/main" id="{E002A179-F879-9A65-8E62-BB0BF72DC063}"/>
                </a:ext>
              </a:extLst>
            </p:cNvPr>
            <p:cNvSpPr/>
            <p:nvPr/>
          </p:nvSpPr>
          <p:spPr>
            <a:xfrm>
              <a:off x="6985000" y="3303589"/>
              <a:ext cx="1574800" cy="457200"/>
            </a:xfrm>
            <a:prstGeom prst="roundRect">
              <a:avLst>
                <a:gd name="adj" fmla="val 10000"/>
              </a:avLst>
            </a:prstGeom>
            <a:solidFill>
              <a:srgbClr val="FFFFFF"/>
            </a:solidFill>
            <a:ln w="12700">
              <a:solidFill>
                <a:srgbClr val="C3D4F2"/>
              </a:solidFill>
            </a:ln>
          </p:spPr>
          <p:txBody>
            <a:bodyPr wrap="square" lIns="18288" tIns="9144" rIns="18288" bIns="9144" anchor="ctr" anchorCtr="0"/>
            <a:lstStyle/>
            <a:p>
              <a:pPr algn="ctr">
                <a:buNone/>
              </a:pPr>
              <a:r>
                <a:rPr lang="en-US" sz="1000" b="1" dirty="0">
                  <a:solidFill>
                    <a:srgbClr val="1E2761"/>
                  </a:solidFill>
                  <a:latin typeface="Calibri"/>
                </a:rPr>
                <a:t>Kafka</a:t>
              </a:r>
            </a:p>
          </p:txBody>
        </p:sp>
        <p:sp>
          <p:nvSpPr>
            <p:cNvPr id="501" name="GKafka">
              <a:extLst>
                <a:ext uri="{FF2B5EF4-FFF2-40B4-BE49-F238E27FC236}">
                  <a16:creationId xmlns:a16="http://schemas.microsoft.com/office/drawing/2014/main" id="{9612E871-D671-66C9-90CC-AB907B736070}"/>
                </a:ext>
              </a:extLst>
            </p:cNvPr>
            <p:cNvSpPr/>
            <p:nvPr/>
          </p:nvSpPr>
          <p:spPr>
            <a:xfrm>
              <a:off x="7086600" y="3430590"/>
              <a:ext cx="203200" cy="215900"/>
            </a:xfrm>
            <a:prstGeom prst="chevron">
              <a:avLst/>
            </a:prstGeom>
            <a:solidFill>
              <a:srgbClr val="1E2761"/>
            </a:solidFill>
            <a:ln>
              <a:noFill/>
            </a:ln>
          </p:spPr>
          <p:txBody>
            <a:bodyPr/>
            <a:lstStyle/>
            <a:p>
              <a:endParaRPr lang="en-US"/>
            </a:p>
          </p:txBody>
        </p:sp>
        <p:sp>
          <p:nvSpPr>
            <p:cNvPr id="203" name="D3">
              <a:extLst>
                <a:ext uri="{FF2B5EF4-FFF2-40B4-BE49-F238E27FC236}">
                  <a16:creationId xmlns:a16="http://schemas.microsoft.com/office/drawing/2014/main" id="{66A4A129-67BA-2EFE-A4EA-EF35EC8AFE4A}"/>
                </a:ext>
              </a:extLst>
            </p:cNvPr>
            <p:cNvSpPr/>
            <p:nvPr/>
          </p:nvSpPr>
          <p:spPr>
            <a:xfrm>
              <a:off x="6985000" y="3889786"/>
              <a:ext cx="1574800" cy="457200"/>
            </a:xfrm>
            <a:prstGeom prst="roundRect">
              <a:avLst>
                <a:gd name="adj" fmla="val 10000"/>
              </a:avLst>
            </a:prstGeom>
            <a:solidFill>
              <a:srgbClr val="FFFFFF"/>
            </a:solidFill>
            <a:ln w="12700">
              <a:solidFill>
                <a:srgbClr val="C3D4F2"/>
              </a:solidFill>
            </a:ln>
          </p:spPr>
          <p:txBody>
            <a:bodyPr wrap="square" lIns="18288" tIns="18288" rIns="18288" bIns="18288" anchor="ctr" anchorCtr="0"/>
            <a:lstStyle/>
            <a:p>
              <a:pPr algn="ctr">
                <a:buNone/>
              </a:pPr>
              <a:r>
                <a:rPr lang="en-US" sz="1000" b="1" dirty="0">
                  <a:solidFill>
                    <a:srgbClr val="1E2761"/>
                  </a:solidFill>
                  <a:latin typeface="Calibri"/>
                </a:rPr>
                <a:t>External Services</a:t>
              </a:r>
            </a:p>
          </p:txBody>
        </p:sp>
        <p:sp>
          <p:nvSpPr>
            <p:cNvPr id="404" name="GApi">
              <a:extLst>
                <a:ext uri="{FF2B5EF4-FFF2-40B4-BE49-F238E27FC236}">
                  <a16:creationId xmlns:a16="http://schemas.microsoft.com/office/drawing/2014/main" id="{073A3386-C12D-F25A-31B4-F7E4C337400E}"/>
                </a:ext>
              </a:extLst>
            </p:cNvPr>
            <p:cNvSpPr/>
            <p:nvPr/>
          </p:nvSpPr>
          <p:spPr>
            <a:xfrm>
              <a:off x="7086600" y="4056382"/>
              <a:ext cx="203200" cy="152400"/>
            </a:xfrm>
            <a:prstGeom prst="cloud">
              <a:avLst/>
            </a:prstGeom>
            <a:solidFill>
              <a:srgbClr val="1E2761"/>
            </a:solidFill>
            <a:ln>
              <a:noFill/>
            </a:ln>
          </p:spPr>
          <p:txBody>
            <a:bodyPr/>
            <a:lstStyle/>
            <a:p>
              <a:endParaRPr lang="en-US"/>
            </a:p>
          </p:txBody>
        </p:sp>
      </p:grpSp>
      <p:sp>
        <p:nvSpPr>
          <p:cNvPr id="31" name="L66">
            <a:extLst>
              <a:ext uri="{FF2B5EF4-FFF2-40B4-BE49-F238E27FC236}">
                <a16:creationId xmlns:a16="http://schemas.microsoft.com/office/drawing/2014/main" id="{F6D5596D-CAD0-684E-049C-A89EF649C5CB}"/>
              </a:ext>
            </a:extLst>
          </p:cNvPr>
          <p:cNvSpPr txBox="1"/>
          <p:nvPr/>
        </p:nvSpPr>
        <p:spPr>
          <a:xfrm>
            <a:off x="457200" y="4597400"/>
            <a:ext cx="8229600" cy="228600"/>
          </a:xfrm>
          <a:prstGeom prst="rect">
            <a:avLst/>
          </a:prstGeom>
          <a:noFill/>
        </p:spPr>
        <p:txBody>
          <a:bodyPr wrap="square" lIns="0" tIns="0" rIns="0" bIns="0" anchor="ctr"/>
          <a:lstStyle/>
          <a:p>
            <a:pPr algn="ctr">
              <a:buNone/>
            </a:pPr>
            <a:r>
              <a:rPr lang="en-US" sz="1000" b="0" dirty="0">
                <a:solidFill>
                  <a:srgbClr val="334155"/>
                </a:solidFill>
                <a:latin typeface="Calibri"/>
              </a:rPr>
              <a:t>Per slice: Endpoints → Application → Domain → Domain Kernel  ·  Infrastructure is DI-wired and owns all data access  ·  Slices never reference each other (✕)</a:t>
            </a:r>
          </a:p>
        </p:txBody>
      </p:sp>
      <p:sp>
        <p:nvSpPr>
          <p:cNvPr id="600" name="V600"/>
          <p:cNvSpPr/>
          <p:nvPr/>
        </p:nvSpPr>
        <p:spPr>
          <a:xfrm>
            <a:off x="457200" y="1676400"/>
            <a:ext cx="1879600" cy="2108200"/>
          </a:xfrm>
          <a:prstGeom prst="roundRect">
            <a:avLst>
              <a:gd name="adj" fmla="val 3000"/>
            </a:avLst>
          </a:prstGeom>
          <a:solidFill>
            <a:srgbClr val="F7FAFF"/>
          </a:solidFill>
          <a:ln w="12700">
            <a:solidFill>
              <a:srgbClr val="5A6BA8"/>
            </a:solidFill>
          </a:ln>
        </p:spPr>
        <p:txBody>
          <a:bodyPr wrap="square" lIns="36000" tIns="14400" rIns="36000" bIns="14400" anchor="ctr"/>
          <a:lstStyle/>
          <a:p>
            <a:pPr algn="ctr">
              <a:buNone/>
            </a:pPr>
            <a:endParaRPr lang="en-US"/>
          </a:p>
        </p:txBody>
      </p:sp>
      <p:sp>
        <p:nvSpPr>
          <p:cNvPr id="601" name="V601"/>
          <p:cNvSpPr/>
          <p:nvPr/>
        </p:nvSpPr>
        <p:spPr>
          <a:xfrm>
            <a:off x="533400" y="1701800"/>
            <a:ext cx="1727200" cy="228600"/>
          </a:xfrm>
          <a:prstGeom prst="rect">
            <a:avLst/>
          </a:prstGeom>
          <a:solidFill>
            <a:srgbClr val="F7FAFF"/>
          </a:solidFill>
          <a:ln>
            <a:noFill/>
          </a:ln>
        </p:spPr>
        <p:txBody>
          <a:bodyPr wrap="square" lIns="36000" tIns="14400" rIns="36000" bIns="14400" anchor="ctr"/>
          <a:lstStyle/>
          <a:p>
            <a:pPr algn="ctr">
              <a:buNone/>
            </a:pPr>
            <a:r>
              <a:rPr lang="en-US" sz="1100" b="1" dirty="0">
                <a:solidFill>
                  <a:srgbClr val="1E2761"/>
                </a:solidFill>
                <a:latin typeface="Calibri"/>
              </a:rPr>
              <a:t>Bounded Context 1</a:t>
            </a:r>
          </a:p>
        </p:txBody>
      </p:sp>
      <p:sp>
        <p:nvSpPr>
          <p:cNvPr id="602" name="V602"/>
          <p:cNvSpPr/>
          <p:nvPr/>
        </p:nvSpPr>
        <p:spPr>
          <a:xfrm>
            <a:off x="533400" y="1955800"/>
            <a:ext cx="838200" cy="355600"/>
          </a:xfrm>
          <a:prstGeom prst="roundRect">
            <a:avLst>
              <a:gd name="adj" fmla="val 10000"/>
            </a:avLst>
          </a:prstGeom>
          <a:solidFill>
            <a:srgbClr val="EEF4FE"/>
          </a:solidFill>
          <a:ln w="12700">
            <a:solidFill>
              <a:srgbClr val="5A6BA8"/>
            </a:solidFill>
          </a:ln>
        </p:spPr>
        <p:txBody>
          <a:bodyPr wrap="square" lIns="36000" tIns="14400" rIns="36000" bIns="14400" anchor="ctr"/>
          <a:lstStyle/>
          <a:p>
            <a:pPr algn="ctr">
              <a:buNone/>
            </a:pPr>
            <a:r>
              <a:rPr lang="en-US" sz="1000" b="1" dirty="0">
                <a:solidFill>
                  <a:srgbClr val="1E2761"/>
                </a:solidFill>
                <a:latin typeface="Calibri"/>
              </a:rPr>
              <a:t>Endpoints</a:t>
            </a:r>
          </a:p>
        </p:txBody>
      </p:sp>
      <p:sp>
        <p:nvSpPr>
          <p:cNvPr id="603" name="V603"/>
          <p:cNvSpPr/>
          <p:nvPr/>
        </p:nvSpPr>
        <p:spPr>
          <a:xfrm>
            <a:off x="1422400" y="1955800"/>
            <a:ext cx="838200" cy="355600"/>
          </a:xfrm>
          <a:prstGeom prst="roundRect">
            <a:avLst>
              <a:gd name="adj" fmla="val 10000"/>
            </a:avLst>
          </a:prstGeom>
          <a:solidFill>
            <a:srgbClr val="EEF4FE"/>
          </a:solidFill>
          <a:ln w="12700">
            <a:solidFill>
              <a:srgbClr val="5A6BA8"/>
            </a:solidFill>
          </a:ln>
        </p:spPr>
        <p:txBody>
          <a:bodyPr wrap="square" lIns="36000" tIns="14400" rIns="36000" bIns="14400" anchor="ctr"/>
          <a:lstStyle/>
          <a:p>
            <a:pPr algn="ctr">
              <a:buNone/>
            </a:pPr>
            <a:r>
              <a:rPr lang="en-US" sz="1000" b="1" dirty="0">
                <a:solidFill>
                  <a:srgbClr val="1E2761"/>
                </a:solidFill>
                <a:latin typeface="Calibri"/>
              </a:rPr>
              <a:t>Infrastructure</a:t>
            </a:r>
          </a:p>
        </p:txBody>
      </p:sp>
      <p:sp>
        <p:nvSpPr>
          <p:cNvPr id="604" name="V604"/>
          <p:cNvSpPr/>
          <p:nvPr/>
        </p:nvSpPr>
        <p:spPr>
          <a:xfrm>
            <a:off x="876300" y="2336800"/>
            <a:ext cx="177800" cy="101600"/>
          </a:xfrm>
          <a:prstGeom prst="downArrow">
            <a:avLst/>
          </a:prstGeom>
          <a:solidFill>
            <a:srgbClr val="1E2761"/>
          </a:solidFill>
          <a:ln>
            <a:noFill/>
          </a:ln>
        </p:spPr>
        <p:txBody>
          <a:bodyPr wrap="square" lIns="36000" tIns="14400" rIns="36000" bIns="14400" anchor="ctr"/>
          <a:lstStyle/>
          <a:p>
            <a:pPr algn="ctr">
              <a:buNone/>
            </a:pPr>
            <a:endParaRPr lang="en-US"/>
          </a:p>
        </p:txBody>
      </p:sp>
      <p:sp>
        <p:nvSpPr>
          <p:cNvPr id="605" name="V605"/>
          <p:cNvSpPr/>
          <p:nvPr/>
        </p:nvSpPr>
        <p:spPr>
          <a:xfrm>
            <a:off x="533400" y="2463800"/>
            <a:ext cx="1727200" cy="304800"/>
          </a:xfrm>
          <a:prstGeom prst="roundRect">
            <a:avLst>
              <a:gd name="adj" fmla="val 10000"/>
            </a:avLst>
          </a:prstGeom>
          <a:solidFill>
            <a:srgbClr val="EEF4FE"/>
          </a:solidFill>
          <a:ln w="12700">
            <a:solidFill>
              <a:srgbClr val="5A6BA8"/>
            </a:solidFill>
          </a:ln>
        </p:spPr>
        <p:txBody>
          <a:bodyPr wrap="square" lIns="36000" tIns="14400" rIns="36000" bIns="14400" anchor="ctr"/>
          <a:lstStyle/>
          <a:p>
            <a:pPr algn="ctr">
              <a:buNone/>
            </a:pPr>
            <a:r>
              <a:rPr lang="en-US" sz="1100" b="1" dirty="0">
                <a:solidFill>
                  <a:srgbClr val="1E2761"/>
                </a:solidFill>
                <a:latin typeface="Calibri"/>
              </a:rPr>
              <a:t>Application</a:t>
            </a:r>
          </a:p>
        </p:txBody>
      </p:sp>
      <p:sp>
        <p:nvSpPr>
          <p:cNvPr id="606" name="V606"/>
          <p:cNvSpPr/>
          <p:nvPr/>
        </p:nvSpPr>
        <p:spPr>
          <a:xfrm>
            <a:off x="1308100" y="2794000"/>
            <a:ext cx="177800" cy="101600"/>
          </a:xfrm>
          <a:prstGeom prst="downArrow">
            <a:avLst/>
          </a:prstGeom>
          <a:solidFill>
            <a:srgbClr val="1E2761"/>
          </a:solidFill>
          <a:ln>
            <a:noFill/>
          </a:ln>
        </p:spPr>
        <p:txBody>
          <a:bodyPr wrap="square" lIns="36000" tIns="14400" rIns="36000" bIns="14400" anchor="ctr"/>
          <a:lstStyle/>
          <a:p>
            <a:pPr algn="ctr">
              <a:buNone/>
            </a:pPr>
            <a:endParaRPr lang="en-US"/>
          </a:p>
        </p:txBody>
      </p:sp>
      <p:sp>
        <p:nvSpPr>
          <p:cNvPr id="607" name="V607"/>
          <p:cNvSpPr/>
          <p:nvPr/>
        </p:nvSpPr>
        <p:spPr>
          <a:xfrm>
            <a:off x="533400" y="2921000"/>
            <a:ext cx="1727200" cy="304800"/>
          </a:xfrm>
          <a:prstGeom prst="roundRect">
            <a:avLst>
              <a:gd name="adj" fmla="val 10000"/>
            </a:avLst>
          </a:prstGeom>
          <a:solidFill>
            <a:srgbClr val="EEF4FE"/>
          </a:solidFill>
          <a:ln w="12700">
            <a:solidFill>
              <a:srgbClr val="5A6BA8"/>
            </a:solidFill>
          </a:ln>
        </p:spPr>
        <p:txBody>
          <a:bodyPr wrap="square" lIns="36000" tIns="14400" rIns="36000" bIns="14400" anchor="ctr"/>
          <a:lstStyle/>
          <a:p>
            <a:pPr algn="ctr">
              <a:buNone/>
            </a:pPr>
            <a:r>
              <a:rPr lang="en-US" sz="1100" b="1" dirty="0">
                <a:solidFill>
                  <a:srgbClr val="1E2761"/>
                </a:solidFill>
                <a:latin typeface="Calibri"/>
              </a:rPr>
              <a:t>Domain</a:t>
            </a:r>
          </a:p>
        </p:txBody>
      </p:sp>
      <p:sp>
        <p:nvSpPr>
          <p:cNvPr id="608" name="V608"/>
          <p:cNvSpPr/>
          <p:nvPr/>
        </p:nvSpPr>
        <p:spPr>
          <a:xfrm>
            <a:off x="1308100" y="3251200"/>
            <a:ext cx="177800" cy="101600"/>
          </a:xfrm>
          <a:prstGeom prst="downArrow">
            <a:avLst/>
          </a:prstGeom>
          <a:solidFill>
            <a:srgbClr val="1E2761"/>
          </a:solidFill>
          <a:ln>
            <a:noFill/>
          </a:ln>
        </p:spPr>
        <p:txBody>
          <a:bodyPr wrap="square" lIns="36000" tIns="14400" rIns="36000" bIns="14400" anchor="ctr"/>
          <a:lstStyle/>
          <a:p>
            <a:pPr algn="ctr">
              <a:buNone/>
            </a:pPr>
            <a:endParaRPr lang="en-US"/>
          </a:p>
        </p:txBody>
      </p:sp>
      <p:sp>
        <p:nvSpPr>
          <p:cNvPr id="609" name="V609"/>
          <p:cNvSpPr/>
          <p:nvPr/>
        </p:nvSpPr>
        <p:spPr>
          <a:xfrm>
            <a:off x="533400" y="3378200"/>
            <a:ext cx="1727200" cy="304800"/>
          </a:xfrm>
          <a:prstGeom prst="roundRect">
            <a:avLst>
              <a:gd name="adj" fmla="val 10000"/>
            </a:avLst>
          </a:prstGeom>
          <a:solidFill>
            <a:srgbClr val="E4EAF7"/>
          </a:solidFill>
          <a:ln w="12700">
            <a:solidFill>
              <a:srgbClr val="5A6BA8"/>
            </a:solidFill>
          </a:ln>
        </p:spPr>
        <p:txBody>
          <a:bodyPr wrap="square" lIns="36000" tIns="14400" rIns="36000" bIns="14400" anchor="ctr"/>
          <a:lstStyle/>
          <a:p>
            <a:pPr algn="ctr">
              <a:buNone/>
            </a:pPr>
            <a:r>
              <a:rPr lang="en-US" sz="1100" b="1" dirty="0">
                <a:solidFill>
                  <a:srgbClr val="1E2761"/>
                </a:solidFill>
                <a:latin typeface="Calibri"/>
              </a:rPr>
              <a:t>Domain Kernel</a:t>
            </a:r>
          </a:p>
        </p:txBody>
      </p:sp>
      <p:sp>
        <p:nvSpPr>
          <p:cNvPr id="610" name="V610"/>
          <p:cNvSpPr/>
          <p:nvPr/>
        </p:nvSpPr>
        <p:spPr>
          <a:xfrm>
            <a:off x="1308100" y="3810000"/>
            <a:ext cx="177800" cy="152400"/>
          </a:xfrm>
          <a:prstGeom prst="downArrow">
            <a:avLst/>
          </a:prstGeom>
          <a:solidFill>
            <a:srgbClr val="1E2761"/>
          </a:solidFill>
          <a:ln>
            <a:noFill/>
          </a:ln>
        </p:spPr>
        <p:txBody>
          <a:bodyPr wrap="square" lIns="36000" tIns="14400" rIns="36000" bIns="14400" anchor="ctr"/>
          <a:lstStyle/>
          <a:p>
            <a:pPr algn="ctr">
              <a:buNone/>
            </a:pPr>
            <a:endParaRPr lang="en-US"/>
          </a:p>
        </p:txBody>
      </p:sp>
      <p:sp>
        <p:nvSpPr>
          <p:cNvPr id="611" name="V611"/>
          <p:cNvSpPr/>
          <p:nvPr/>
        </p:nvSpPr>
        <p:spPr>
          <a:xfrm>
            <a:off x="2717800" y="1676400"/>
            <a:ext cx="1879600" cy="2108200"/>
          </a:xfrm>
          <a:prstGeom prst="roundRect">
            <a:avLst>
              <a:gd name="adj" fmla="val 3000"/>
            </a:avLst>
          </a:prstGeom>
          <a:solidFill>
            <a:srgbClr val="F7FAFF"/>
          </a:solidFill>
          <a:ln w="12700">
            <a:solidFill>
              <a:srgbClr val="5A6BA8"/>
            </a:solidFill>
          </a:ln>
        </p:spPr>
        <p:txBody>
          <a:bodyPr wrap="square" lIns="36000" tIns="14400" rIns="36000" bIns="14400" anchor="ctr"/>
          <a:lstStyle/>
          <a:p>
            <a:pPr algn="ctr">
              <a:buNone/>
            </a:pPr>
            <a:endParaRPr lang="en-US"/>
          </a:p>
        </p:txBody>
      </p:sp>
      <p:sp>
        <p:nvSpPr>
          <p:cNvPr id="612" name="V612"/>
          <p:cNvSpPr/>
          <p:nvPr/>
        </p:nvSpPr>
        <p:spPr>
          <a:xfrm>
            <a:off x="2794000" y="1701800"/>
            <a:ext cx="1727200" cy="212060"/>
          </a:xfrm>
          <a:prstGeom prst="rect">
            <a:avLst/>
          </a:prstGeom>
          <a:solidFill>
            <a:srgbClr val="F7FAFF"/>
          </a:solidFill>
          <a:ln>
            <a:noFill/>
          </a:ln>
        </p:spPr>
        <p:txBody>
          <a:bodyPr wrap="square" lIns="36000" tIns="14400" rIns="36000" bIns="14400" anchor="ctr"/>
          <a:lstStyle/>
          <a:p>
            <a:pPr algn="ctr">
              <a:buNone/>
            </a:pPr>
            <a:r>
              <a:rPr lang="en-US" sz="1100" b="1" dirty="0">
                <a:solidFill>
                  <a:srgbClr val="1E2761"/>
                </a:solidFill>
                <a:latin typeface="Calibri"/>
              </a:rPr>
              <a:t>Bounded Context 2</a:t>
            </a:r>
          </a:p>
        </p:txBody>
      </p:sp>
      <p:sp>
        <p:nvSpPr>
          <p:cNvPr id="613" name="V613"/>
          <p:cNvSpPr/>
          <p:nvPr/>
        </p:nvSpPr>
        <p:spPr>
          <a:xfrm>
            <a:off x="2794000" y="1955800"/>
            <a:ext cx="838200" cy="355600"/>
          </a:xfrm>
          <a:prstGeom prst="roundRect">
            <a:avLst>
              <a:gd name="adj" fmla="val 10000"/>
            </a:avLst>
          </a:prstGeom>
          <a:solidFill>
            <a:srgbClr val="EEF4FE"/>
          </a:solidFill>
          <a:ln w="12700">
            <a:solidFill>
              <a:srgbClr val="5A6BA8"/>
            </a:solidFill>
          </a:ln>
        </p:spPr>
        <p:txBody>
          <a:bodyPr wrap="square" lIns="36000" tIns="14400" rIns="36000" bIns="14400" anchor="ctr"/>
          <a:lstStyle/>
          <a:p>
            <a:pPr algn="ctr">
              <a:buNone/>
            </a:pPr>
            <a:r>
              <a:rPr lang="en-US" sz="1000" b="1" dirty="0">
                <a:solidFill>
                  <a:srgbClr val="1E2761"/>
                </a:solidFill>
                <a:latin typeface="Calibri"/>
              </a:rPr>
              <a:t>Endpoints</a:t>
            </a:r>
          </a:p>
        </p:txBody>
      </p:sp>
      <p:sp>
        <p:nvSpPr>
          <p:cNvPr id="614" name="V614"/>
          <p:cNvSpPr/>
          <p:nvPr/>
        </p:nvSpPr>
        <p:spPr>
          <a:xfrm>
            <a:off x="3683000" y="1955800"/>
            <a:ext cx="838200" cy="355600"/>
          </a:xfrm>
          <a:prstGeom prst="roundRect">
            <a:avLst>
              <a:gd name="adj" fmla="val 10000"/>
            </a:avLst>
          </a:prstGeom>
          <a:solidFill>
            <a:srgbClr val="EEF4FE"/>
          </a:solidFill>
          <a:ln w="12700">
            <a:solidFill>
              <a:srgbClr val="5A6BA8"/>
            </a:solidFill>
          </a:ln>
        </p:spPr>
        <p:txBody>
          <a:bodyPr wrap="square" lIns="36000" tIns="14400" rIns="36000" bIns="14400" anchor="ctr"/>
          <a:lstStyle/>
          <a:p>
            <a:pPr algn="ctr">
              <a:buNone/>
            </a:pPr>
            <a:r>
              <a:rPr lang="en-US" sz="1000" b="1" dirty="0">
                <a:solidFill>
                  <a:srgbClr val="1E2761"/>
                </a:solidFill>
                <a:latin typeface="Calibri"/>
              </a:rPr>
              <a:t>Infrastructure</a:t>
            </a:r>
          </a:p>
        </p:txBody>
      </p:sp>
      <p:sp>
        <p:nvSpPr>
          <p:cNvPr id="615" name="V615"/>
          <p:cNvSpPr/>
          <p:nvPr/>
        </p:nvSpPr>
        <p:spPr>
          <a:xfrm>
            <a:off x="3136900" y="2336800"/>
            <a:ext cx="177800" cy="101600"/>
          </a:xfrm>
          <a:prstGeom prst="downArrow">
            <a:avLst/>
          </a:prstGeom>
          <a:solidFill>
            <a:srgbClr val="1E2761"/>
          </a:solidFill>
          <a:ln>
            <a:noFill/>
          </a:ln>
        </p:spPr>
        <p:txBody>
          <a:bodyPr wrap="square" lIns="36000" tIns="14400" rIns="36000" bIns="14400" anchor="ctr"/>
          <a:lstStyle/>
          <a:p>
            <a:pPr algn="ctr">
              <a:buNone/>
            </a:pPr>
            <a:endParaRPr lang="en-US"/>
          </a:p>
        </p:txBody>
      </p:sp>
      <p:sp>
        <p:nvSpPr>
          <p:cNvPr id="616" name="V616"/>
          <p:cNvSpPr/>
          <p:nvPr/>
        </p:nvSpPr>
        <p:spPr>
          <a:xfrm>
            <a:off x="2794000" y="2463800"/>
            <a:ext cx="1727200" cy="304800"/>
          </a:xfrm>
          <a:prstGeom prst="roundRect">
            <a:avLst>
              <a:gd name="adj" fmla="val 10000"/>
            </a:avLst>
          </a:prstGeom>
          <a:solidFill>
            <a:srgbClr val="EEF4FE"/>
          </a:solidFill>
          <a:ln w="12700">
            <a:solidFill>
              <a:srgbClr val="5A6BA8"/>
            </a:solidFill>
          </a:ln>
        </p:spPr>
        <p:txBody>
          <a:bodyPr wrap="square" lIns="36000" tIns="14400" rIns="36000" bIns="14400" anchor="ctr"/>
          <a:lstStyle/>
          <a:p>
            <a:pPr algn="ctr">
              <a:buNone/>
            </a:pPr>
            <a:r>
              <a:rPr lang="en-US" sz="1100" b="1" dirty="0">
                <a:solidFill>
                  <a:srgbClr val="1E2761"/>
                </a:solidFill>
                <a:latin typeface="Calibri"/>
              </a:rPr>
              <a:t>Application</a:t>
            </a:r>
          </a:p>
        </p:txBody>
      </p:sp>
      <p:sp>
        <p:nvSpPr>
          <p:cNvPr id="617" name="V617"/>
          <p:cNvSpPr/>
          <p:nvPr/>
        </p:nvSpPr>
        <p:spPr>
          <a:xfrm>
            <a:off x="3568700" y="2794000"/>
            <a:ext cx="177800" cy="101600"/>
          </a:xfrm>
          <a:prstGeom prst="downArrow">
            <a:avLst/>
          </a:prstGeom>
          <a:solidFill>
            <a:srgbClr val="1E2761"/>
          </a:solidFill>
          <a:ln>
            <a:noFill/>
          </a:ln>
        </p:spPr>
        <p:txBody>
          <a:bodyPr wrap="square" lIns="36000" tIns="14400" rIns="36000" bIns="14400" anchor="ctr"/>
          <a:lstStyle/>
          <a:p>
            <a:pPr algn="ctr">
              <a:buNone/>
            </a:pPr>
            <a:endParaRPr lang="en-US"/>
          </a:p>
        </p:txBody>
      </p:sp>
      <p:sp>
        <p:nvSpPr>
          <p:cNvPr id="618" name="V618"/>
          <p:cNvSpPr/>
          <p:nvPr/>
        </p:nvSpPr>
        <p:spPr>
          <a:xfrm>
            <a:off x="2794000" y="2921000"/>
            <a:ext cx="1727200" cy="304800"/>
          </a:xfrm>
          <a:prstGeom prst="roundRect">
            <a:avLst>
              <a:gd name="adj" fmla="val 10000"/>
            </a:avLst>
          </a:prstGeom>
          <a:solidFill>
            <a:srgbClr val="EEF4FE"/>
          </a:solidFill>
          <a:ln w="12700">
            <a:solidFill>
              <a:srgbClr val="5A6BA8"/>
            </a:solidFill>
          </a:ln>
        </p:spPr>
        <p:txBody>
          <a:bodyPr wrap="square" lIns="36000" tIns="14400" rIns="36000" bIns="14400" anchor="ctr"/>
          <a:lstStyle/>
          <a:p>
            <a:pPr algn="ctr">
              <a:buNone/>
            </a:pPr>
            <a:r>
              <a:rPr lang="en-US" sz="1100" b="1" dirty="0">
                <a:solidFill>
                  <a:srgbClr val="1E2761"/>
                </a:solidFill>
                <a:latin typeface="Calibri"/>
              </a:rPr>
              <a:t>Domain</a:t>
            </a:r>
          </a:p>
        </p:txBody>
      </p:sp>
      <p:sp>
        <p:nvSpPr>
          <p:cNvPr id="619" name="V619"/>
          <p:cNvSpPr/>
          <p:nvPr/>
        </p:nvSpPr>
        <p:spPr>
          <a:xfrm>
            <a:off x="3568700" y="3251200"/>
            <a:ext cx="177800" cy="101600"/>
          </a:xfrm>
          <a:prstGeom prst="downArrow">
            <a:avLst/>
          </a:prstGeom>
          <a:solidFill>
            <a:srgbClr val="1E2761"/>
          </a:solidFill>
          <a:ln>
            <a:noFill/>
          </a:ln>
        </p:spPr>
        <p:txBody>
          <a:bodyPr wrap="square" lIns="36000" tIns="14400" rIns="36000" bIns="14400" anchor="ctr"/>
          <a:lstStyle/>
          <a:p>
            <a:pPr algn="ctr">
              <a:buNone/>
            </a:pPr>
            <a:endParaRPr lang="en-US"/>
          </a:p>
        </p:txBody>
      </p:sp>
      <p:sp>
        <p:nvSpPr>
          <p:cNvPr id="620" name="V620"/>
          <p:cNvSpPr/>
          <p:nvPr/>
        </p:nvSpPr>
        <p:spPr>
          <a:xfrm>
            <a:off x="2794000" y="3378200"/>
            <a:ext cx="1727200" cy="304800"/>
          </a:xfrm>
          <a:prstGeom prst="roundRect">
            <a:avLst>
              <a:gd name="adj" fmla="val 10000"/>
            </a:avLst>
          </a:prstGeom>
          <a:solidFill>
            <a:srgbClr val="E4EAF7"/>
          </a:solidFill>
          <a:ln w="12700">
            <a:solidFill>
              <a:srgbClr val="5A6BA8"/>
            </a:solidFill>
          </a:ln>
        </p:spPr>
        <p:txBody>
          <a:bodyPr wrap="square" lIns="36000" tIns="14400" rIns="36000" bIns="14400" anchor="ctr"/>
          <a:lstStyle/>
          <a:p>
            <a:pPr algn="ctr">
              <a:buNone/>
            </a:pPr>
            <a:r>
              <a:rPr lang="en-US" sz="1100" b="1" dirty="0">
                <a:solidFill>
                  <a:srgbClr val="1E2761"/>
                </a:solidFill>
                <a:latin typeface="Calibri"/>
              </a:rPr>
              <a:t>Domain Kernel</a:t>
            </a:r>
          </a:p>
        </p:txBody>
      </p:sp>
      <p:sp>
        <p:nvSpPr>
          <p:cNvPr id="621" name="V621"/>
          <p:cNvSpPr/>
          <p:nvPr/>
        </p:nvSpPr>
        <p:spPr>
          <a:xfrm>
            <a:off x="3568700" y="3810000"/>
            <a:ext cx="177800" cy="152400"/>
          </a:xfrm>
          <a:prstGeom prst="downArrow">
            <a:avLst/>
          </a:prstGeom>
          <a:solidFill>
            <a:srgbClr val="1E2761"/>
          </a:solidFill>
          <a:ln>
            <a:noFill/>
          </a:ln>
        </p:spPr>
        <p:txBody>
          <a:bodyPr wrap="square" lIns="36000" tIns="14400" rIns="36000" bIns="14400" anchor="ctr"/>
          <a:lstStyle/>
          <a:p>
            <a:pPr algn="ctr">
              <a:buNone/>
            </a:pPr>
            <a:endParaRPr lang="en-US"/>
          </a:p>
        </p:txBody>
      </p:sp>
      <p:sp>
        <p:nvSpPr>
          <p:cNvPr id="622" name="V622"/>
          <p:cNvSpPr/>
          <p:nvPr/>
        </p:nvSpPr>
        <p:spPr>
          <a:xfrm>
            <a:off x="4978400" y="1676400"/>
            <a:ext cx="1879600" cy="2108200"/>
          </a:xfrm>
          <a:prstGeom prst="roundRect">
            <a:avLst>
              <a:gd name="adj" fmla="val 3000"/>
            </a:avLst>
          </a:prstGeom>
          <a:solidFill>
            <a:srgbClr val="F7FAFF"/>
          </a:solidFill>
          <a:ln w="12700">
            <a:solidFill>
              <a:srgbClr val="5A6BA8"/>
            </a:solidFill>
          </a:ln>
        </p:spPr>
        <p:txBody>
          <a:bodyPr wrap="square" lIns="36000" tIns="14400" rIns="36000" bIns="14400" anchor="ctr"/>
          <a:lstStyle/>
          <a:p>
            <a:pPr algn="ctr">
              <a:buNone/>
            </a:pPr>
            <a:endParaRPr lang="en-US"/>
          </a:p>
        </p:txBody>
      </p:sp>
      <p:sp>
        <p:nvSpPr>
          <p:cNvPr id="623" name="V623"/>
          <p:cNvSpPr/>
          <p:nvPr/>
        </p:nvSpPr>
        <p:spPr>
          <a:xfrm>
            <a:off x="5029200" y="1701800"/>
            <a:ext cx="1752600" cy="212060"/>
          </a:xfrm>
          <a:prstGeom prst="rect">
            <a:avLst/>
          </a:prstGeom>
          <a:solidFill>
            <a:srgbClr val="F7FAFF"/>
          </a:solidFill>
          <a:ln>
            <a:noFill/>
          </a:ln>
        </p:spPr>
        <p:txBody>
          <a:bodyPr wrap="square" lIns="36000" tIns="14400" rIns="36000" bIns="14400" anchor="ctr"/>
          <a:lstStyle/>
          <a:p>
            <a:pPr algn="ctr">
              <a:buNone/>
            </a:pPr>
            <a:r>
              <a:rPr lang="en-US" sz="1100" b="1" dirty="0">
                <a:solidFill>
                  <a:srgbClr val="1E2761"/>
                </a:solidFill>
                <a:latin typeface="Calibri"/>
              </a:rPr>
              <a:t>Bounded Context 3</a:t>
            </a:r>
          </a:p>
        </p:txBody>
      </p:sp>
      <p:sp>
        <p:nvSpPr>
          <p:cNvPr id="624" name="V624"/>
          <p:cNvSpPr/>
          <p:nvPr/>
        </p:nvSpPr>
        <p:spPr>
          <a:xfrm>
            <a:off x="5054600" y="1955800"/>
            <a:ext cx="838200" cy="355600"/>
          </a:xfrm>
          <a:prstGeom prst="roundRect">
            <a:avLst>
              <a:gd name="adj" fmla="val 10000"/>
            </a:avLst>
          </a:prstGeom>
          <a:solidFill>
            <a:srgbClr val="EEF4FE"/>
          </a:solidFill>
          <a:ln w="12700">
            <a:solidFill>
              <a:srgbClr val="5A6BA8"/>
            </a:solidFill>
          </a:ln>
        </p:spPr>
        <p:txBody>
          <a:bodyPr wrap="square" lIns="36000" tIns="14400" rIns="36000" bIns="14400" anchor="ctr"/>
          <a:lstStyle/>
          <a:p>
            <a:pPr algn="ctr">
              <a:buNone/>
            </a:pPr>
            <a:r>
              <a:rPr lang="en-US" sz="1000" b="1" dirty="0">
                <a:solidFill>
                  <a:srgbClr val="1E2761"/>
                </a:solidFill>
                <a:latin typeface="Calibri"/>
              </a:rPr>
              <a:t>Endpoints</a:t>
            </a:r>
          </a:p>
        </p:txBody>
      </p:sp>
      <p:sp>
        <p:nvSpPr>
          <p:cNvPr id="625" name="V625"/>
          <p:cNvSpPr/>
          <p:nvPr/>
        </p:nvSpPr>
        <p:spPr>
          <a:xfrm>
            <a:off x="5943600" y="1955800"/>
            <a:ext cx="838200" cy="355600"/>
          </a:xfrm>
          <a:prstGeom prst="roundRect">
            <a:avLst>
              <a:gd name="adj" fmla="val 10000"/>
            </a:avLst>
          </a:prstGeom>
          <a:solidFill>
            <a:srgbClr val="EEF4FE"/>
          </a:solidFill>
          <a:ln w="12700">
            <a:solidFill>
              <a:srgbClr val="5A6BA8"/>
            </a:solidFill>
          </a:ln>
        </p:spPr>
        <p:txBody>
          <a:bodyPr wrap="square" lIns="36000" tIns="14400" rIns="36000" bIns="14400" anchor="ctr"/>
          <a:lstStyle/>
          <a:p>
            <a:pPr algn="ctr">
              <a:buNone/>
            </a:pPr>
            <a:r>
              <a:rPr lang="en-US" sz="1000" b="1" dirty="0">
                <a:solidFill>
                  <a:srgbClr val="1E2761"/>
                </a:solidFill>
                <a:latin typeface="Calibri"/>
              </a:rPr>
              <a:t>Infrastructure</a:t>
            </a:r>
          </a:p>
        </p:txBody>
      </p:sp>
      <p:sp>
        <p:nvSpPr>
          <p:cNvPr id="626" name="V626"/>
          <p:cNvSpPr/>
          <p:nvPr/>
        </p:nvSpPr>
        <p:spPr>
          <a:xfrm>
            <a:off x="5397500" y="2336800"/>
            <a:ext cx="177800" cy="101600"/>
          </a:xfrm>
          <a:prstGeom prst="downArrow">
            <a:avLst/>
          </a:prstGeom>
          <a:solidFill>
            <a:srgbClr val="1E2761"/>
          </a:solidFill>
          <a:ln>
            <a:noFill/>
          </a:ln>
        </p:spPr>
        <p:txBody>
          <a:bodyPr wrap="square" lIns="36000" tIns="14400" rIns="36000" bIns="14400" anchor="ctr"/>
          <a:lstStyle/>
          <a:p>
            <a:pPr algn="ctr">
              <a:buNone/>
            </a:pPr>
            <a:endParaRPr lang="en-US"/>
          </a:p>
        </p:txBody>
      </p:sp>
      <p:sp>
        <p:nvSpPr>
          <p:cNvPr id="627" name="V627"/>
          <p:cNvSpPr/>
          <p:nvPr/>
        </p:nvSpPr>
        <p:spPr>
          <a:xfrm>
            <a:off x="5054600" y="2463800"/>
            <a:ext cx="1727200" cy="304800"/>
          </a:xfrm>
          <a:prstGeom prst="roundRect">
            <a:avLst>
              <a:gd name="adj" fmla="val 10000"/>
            </a:avLst>
          </a:prstGeom>
          <a:solidFill>
            <a:srgbClr val="EEF4FE"/>
          </a:solidFill>
          <a:ln w="12700">
            <a:solidFill>
              <a:srgbClr val="5A6BA8"/>
            </a:solidFill>
          </a:ln>
        </p:spPr>
        <p:txBody>
          <a:bodyPr wrap="square" lIns="36000" tIns="14400" rIns="36000" bIns="14400" anchor="ctr"/>
          <a:lstStyle/>
          <a:p>
            <a:pPr algn="ctr">
              <a:buNone/>
            </a:pPr>
            <a:r>
              <a:rPr lang="en-US" sz="1100" b="1" dirty="0">
                <a:solidFill>
                  <a:srgbClr val="1E2761"/>
                </a:solidFill>
                <a:latin typeface="Calibri"/>
              </a:rPr>
              <a:t>Application</a:t>
            </a:r>
          </a:p>
        </p:txBody>
      </p:sp>
      <p:sp>
        <p:nvSpPr>
          <p:cNvPr id="628" name="V628"/>
          <p:cNvSpPr/>
          <p:nvPr/>
        </p:nvSpPr>
        <p:spPr>
          <a:xfrm>
            <a:off x="5829300" y="2794000"/>
            <a:ext cx="177800" cy="101600"/>
          </a:xfrm>
          <a:prstGeom prst="downArrow">
            <a:avLst/>
          </a:prstGeom>
          <a:solidFill>
            <a:srgbClr val="1E2761"/>
          </a:solidFill>
          <a:ln>
            <a:noFill/>
          </a:ln>
        </p:spPr>
        <p:txBody>
          <a:bodyPr wrap="square" lIns="36000" tIns="14400" rIns="36000" bIns="14400" anchor="ctr"/>
          <a:lstStyle/>
          <a:p>
            <a:pPr algn="ctr">
              <a:buNone/>
            </a:pPr>
            <a:endParaRPr lang="en-US"/>
          </a:p>
        </p:txBody>
      </p:sp>
      <p:sp>
        <p:nvSpPr>
          <p:cNvPr id="629" name="V629"/>
          <p:cNvSpPr/>
          <p:nvPr/>
        </p:nvSpPr>
        <p:spPr>
          <a:xfrm>
            <a:off x="5054600" y="2921000"/>
            <a:ext cx="1727200" cy="304800"/>
          </a:xfrm>
          <a:prstGeom prst="roundRect">
            <a:avLst>
              <a:gd name="adj" fmla="val 10000"/>
            </a:avLst>
          </a:prstGeom>
          <a:solidFill>
            <a:srgbClr val="EEF4FE"/>
          </a:solidFill>
          <a:ln w="12700">
            <a:solidFill>
              <a:srgbClr val="5A6BA8"/>
            </a:solidFill>
          </a:ln>
        </p:spPr>
        <p:txBody>
          <a:bodyPr wrap="square" lIns="36000" tIns="14400" rIns="36000" bIns="14400" anchor="ctr"/>
          <a:lstStyle/>
          <a:p>
            <a:pPr algn="ctr">
              <a:buNone/>
            </a:pPr>
            <a:r>
              <a:rPr lang="en-US" sz="1100" b="1" dirty="0">
                <a:solidFill>
                  <a:srgbClr val="1E2761"/>
                </a:solidFill>
                <a:latin typeface="Calibri"/>
              </a:rPr>
              <a:t>Domain</a:t>
            </a:r>
          </a:p>
        </p:txBody>
      </p:sp>
      <p:sp>
        <p:nvSpPr>
          <p:cNvPr id="630" name="V630"/>
          <p:cNvSpPr/>
          <p:nvPr/>
        </p:nvSpPr>
        <p:spPr>
          <a:xfrm>
            <a:off x="5829300" y="3251200"/>
            <a:ext cx="177800" cy="101600"/>
          </a:xfrm>
          <a:prstGeom prst="downArrow">
            <a:avLst/>
          </a:prstGeom>
          <a:solidFill>
            <a:srgbClr val="1E2761"/>
          </a:solidFill>
          <a:ln>
            <a:noFill/>
          </a:ln>
        </p:spPr>
        <p:txBody>
          <a:bodyPr wrap="square" lIns="36000" tIns="14400" rIns="36000" bIns="14400" anchor="ctr"/>
          <a:lstStyle/>
          <a:p>
            <a:pPr algn="ctr">
              <a:buNone/>
            </a:pPr>
            <a:endParaRPr lang="en-US"/>
          </a:p>
        </p:txBody>
      </p:sp>
      <p:sp>
        <p:nvSpPr>
          <p:cNvPr id="631" name="V631"/>
          <p:cNvSpPr/>
          <p:nvPr/>
        </p:nvSpPr>
        <p:spPr>
          <a:xfrm>
            <a:off x="5054600" y="3378200"/>
            <a:ext cx="1727200" cy="304800"/>
          </a:xfrm>
          <a:prstGeom prst="roundRect">
            <a:avLst>
              <a:gd name="adj" fmla="val 10000"/>
            </a:avLst>
          </a:prstGeom>
          <a:solidFill>
            <a:srgbClr val="E4EAF7"/>
          </a:solidFill>
          <a:ln w="12700">
            <a:solidFill>
              <a:srgbClr val="5A6BA8"/>
            </a:solidFill>
          </a:ln>
        </p:spPr>
        <p:txBody>
          <a:bodyPr wrap="square" lIns="36000" tIns="14400" rIns="36000" bIns="14400" anchor="ctr"/>
          <a:lstStyle/>
          <a:p>
            <a:pPr algn="ctr">
              <a:buNone/>
            </a:pPr>
            <a:r>
              <a:rPr lang="en-US" sz="1100" b="1" dirty="0">
                <a:solidFill>
                  <a:srgbClr val="1E2761"/>
                </a:solidFill>
                <a:latin typeface="Calibri"/>
              </a:rPr>
              <a:t>Domain Kernel</a:t>
            </a:r>
          </a:p>
        </p:txBody>
      </p:sp>
      <p:sp>
        <p:nvSpPr>
          <p:cNvPr id="632" name="V632"/>
          <p:cNvSpPr/>
          <p:nvPr/>
        </p:nvSpPr>
        <p:spPr>
          <a:xfrm>
            <a:off x="5829300" y="3810000"/>
            <a:ext cx="177800" cy="152400"/>
          </a:xfrm>
          <a:prstGeom prst="downArrow">
            <a:avLst/>
          </a:prstGeom>
          <a:solidFill>
            <a:srgbClr val="1E2761"/>
          </a:solidFill>
          <a:ln>
            <a:noFill/>
          </a:ln>
        </p:spPr>
        <p:txBody>
          <a:bodyPr wrap="square" lIns="36000" tIns="14400" rIns="36000" bIns="14400" anchor="ctr"/>
          <a:lstStyle/>
          <a:p>
            <a:pPr algn="ctr">
              <a:buNone/>
            </a:pPr>
            <a:endParaRPr lang="en-US"/>
          </a:p>
        </p:txBody>
      </p:sp>
      <p:sp>
        <p:nvSpPr>
          <p:cNvPr id="633" name="V633"/>
          <p:cNvSpPr/>
          <p:nvPr/>
        </p:nvSpPr>
        <p:spPr>
          <a:xfrm>
            <a:off x="2425700" y="2628900"/>
            <a:ext cx="203200" cy="203200"/>
          </a:xfrm>
          <a:prstGeom prst="ellipse">
            <a:avLst/>
          </a:prstGeom>
          <a:solidFill>
            <a:srgbClr val="FFFFFF"/>
          </a:solidFill>
          <a:ln w="12700">
            <a:solidFill>
              <a:srgbClr val="B91C1C"/>
            </a:solidFill>
          </a:ln>
        </p:spPr>
        <p:txBody>
          <a:bodyPr wrap="square" lIns="36000" tIns="14400" rIns="36000" bIns="14400" anchor="ctr"/>
          <a:lstStyle/>
          <a:p>
            <a:pPr algn="ctr">
              <a:buNone/>
            </a:pPr>
            <a:r>
              <a:rPr lang="en-US" sz="1000" b="1" dirty="0">
                <a:solidFill>
                  <a:srgbClr val="B91C1C"/>
                </a:solidFill>
                <a:latin typeface="Calibri"/>
              </a:rPr>
              <a:t>✕</a:t>
            </a:r>
          </a:p>
        </p:txBody>
      </p:sp>
      <p:sp>
        <p:nvSpPr>
          <p:cNvPr id="634" name="V634"/>
          <p:cNvSpPr/>
          <p:nvPr/>
        </p:nvSpPr>
        <p:spPr>
          <a:xfrm>
            <a:off x="4686300" y="2628900"/>
            <a:ext cx="203200" cy="203200"/>
          </a:xfrm>
          <a:prstGeom prst="ellipse">
            <a:avLst/>
          </a:prstGeom>
          <a:solidFill>
            <a:srgbClr val="FFFFFF"/>
          </a:solidFill>
          <a:ln w="12700">
            <a:solidFill>
              <a:srgbClr val="B91C1C"/>
            </a:solidFill>
          </a:ln>
        </p:spPr>
        <p:txBody>
          <a:bodyPr wrap="square" lIns="36000" tIns="14400" rIns="36000" bIns="14400" anchor="ctr"/>
          <a:lstStyle/>
          <a:p>
            <a:pPr algn="ctr">
              <a:buNone/>
            </a:pPr>
            <a:r>
              <a:rPr lang="en-US" sz="1000" b="1" dirty="0">
                <a:solidFill>
                  <a:srgbClr val="B91C1C"/>
                </a:solidFill>
                <a:latin typeface="Calibri"/>
              </a:rPr>
              <a:t>✕</a:t>
            </a:r>
          </a:p>
        </p:txBody>
      </p:sp>
      <p:sp>
        <p:nvSpPr>
          <p:cNvPr id="635" name="V635"/>
          <p:cNvSpPr/>
          <p:nvPr/>
        </p:nvSpPr>
        <p:spPr>
          <a:xfrm>
            <a:off x="6883400" y="2044700"/>
            <a:ext cx="203200" cy="177800"/>
          </a:xfrm>
          <a:prstGeom prst="rightArrow">
            <a:avLst/>
          </a:prstGeom>
          <a:solidFill>
            <a:srgbClr val="1E2761"/>
          </a:solidFill>
          <a:ln>
            <a:noFill/>
          </a:ln>
        </p:spPr>
        <p:txBody>
          <a:bodyPr wrap="square" lIns="36000" tIns="14400" rIns="36000" bIns="14400" anchor="ctr"/>
          <a:lstStyle/>
          <a:p>
            <a:pPr algn="ctr">
              <a:buNone/>
            </a:pPr>
            <a:endParaRPr lang="en-US"/>
          </a:p>
        </p:txBody>
      </p:sp>
      <p:sp>
        <p:nvSpPr>
          <p:cNvPr id="636" name="V636"/>
          <p:cNvSpPr/>
          <p:nvPr/>
        </p:nvSpPr>
        <p:spPr>
          <a:xfrm>
            <a:off x="457200" y="4013200"/>
            <a:ext cx="6400800" cy="406400"/>
          </a:xfrm>
          <a:prstGeom prst="roundRect">
            <a:avLst>
              <a:gd name="adj" fmla="val 20000"/>
            </a:avLst>
          </a:prstGeom>
          <a:solidFill>
            <a:srgbClr val="E4EAF7"/>
          </a:solidFill>
          <a:ln w="12700">
            <a:solidFill>
              <a:srgbClr val="5A6BA8"/>
            </a:solidFill>
          </a:ln>
        </p:spPr>
        <p:txBody>
          <a:bodyPr wrap="square" lIns="36000" tIns="14400" rIns="36000" bIns="14400" anchor="ctr"/>
          <a:lstStyle/>
          <a:p>
            <a:pPr algn="ctr">
              <a:buNone/>
            </a:pPr>
            <a:r>
              <a:rPr lang="en-US" sz="1100" b="1" dirty="0">
                <a:solidFill>
                  <a:srgbClr val="1E2761"/>
                </a:solidFill>
                <a:latin typeface="Calibri"/>
              </a:rPr>
              <a:t>Shared Kernel (.csproj)</a:t>
            </a:r>
          </a:p>
          <a:p>
            <a:pPr algn="ctr">
              <a:buNone/>
            </a:pPr>
            <a:r>
              <a:rPr lang="en-US" sz="1000" b="0" dirty="0">
                <a:solidFill>
                  <a:srgbClr val="334155"/>
                </a:solidFill>
                <a:latin typeface="Calibri"/>
              </a:rPr>
              <a:t>Common abstractions · base types · DTOs · enums — referenced by every slice's Domain Kernel</a:t>
            </a:r>
          </a:p>
        </p:txBody>
      </p:sp>
      <p:sp>
        <p:nvSpPr>
          <p:cNvPr id="700" name="V700"/>
          <p:cNvSpPr/>
          <p:nvPr/>
        </p:nvSpPr>
        <p:spPr>
          <a:xfrm>
            <a:off x="1752600" y="2336800"/>
            <a:ext cx="177800" cy="101600"/>
          </a:xfrm>
          <a:prstGeom prst="downArrow">
            <a:avLst/>
          </a:prstGeom>
          <a:solidFill>
            <a:srgbClr val="1E2761"/>
          </a:solidFill>
          <a:ln>
            <a:noFill/>
          </a:ln>
        </p:spPr>
        <p:txBody>
          <a:bodyPr/>
          <a:lstStyle/>
          <a:p>
            <a:pPr algn="ctr">
              <a:buNone/>
            </a:pPr>
            <a:endParaRPr lang="en-US"/>
          </a:p>
        </p:txBody>
      </p:sp>
      <p:sp>
        <p:nvSpPr>
          <p:cNvPr id="701" name="V701"/>
          <p:cNvSpPr/>
          <p:nvPr/>
        </p:nvSpPr>
        <p:spPr>
          <a:xfrm>
            <a:off x="4013200" y="2336800"/>
            <a:ext cx="177800" cy="101600"/>
          </a:xfrm>
          <a:prstGeom prst="downArrow">
            <a:avLst/>
          </a:prstGeom>
          <a:solidFill>
            <a:srgbClr val="1E2761"/>
          </a:solidFill>
          <a:ln>
            <a:noFill/>
          </a:ln>
        </p:spPr>
        <p:txBody>
          <a:bodyPr/>
          <a:lstStyle/>
          <a:p>
            <a:pPr algn="ctr">
              <a:buNone/>
            </a:pPr>
            <a:endParaRPr lang="en-US"/>
          </a:p>
        </p:txBody>
      </p:sp>
      <p:sp>
        <p:nvSpPr>
          <p:cNvPr id="702" name="V702"/>
          <p:cNvSpPr/>
          <p:nvPr/>
        </p:nvSpPr>
        <p:spPr>
          <a:xfrm>
            <a:off x="6273800" y="2336800"/>
            <a:ext cx="177800" cy="101600"/>
          </a:xfrm>
          <a:prstGeom prst="downArrow">
            <a:avLst/>
          </a:prstGeom>
          <a:solidFill>
            <a:srgbClr val="1E2761"/>
          </a:solidFill>
          <a:ln>
            <a:noFill/>
          </a:ln>
        </p:spPr>
        <p:txBody>
          <a:bodyPr/>
          <a:lstStyle/>
          <a:p>
            <a:pPr algn="ctr">
              <a:buNone/>
            </a:pPr>
            <a:endParaRPr lang="en-US"/>
          </a:p>
        </p:txBody>
      </p:sp>
      <p:sp>
        <p:nvSpPr>
          <p:cNvPr id="800" name="V800"/>
          <p:cNvSpPr/>
          <p:nvPr/>
        </p:nvSpPr>
        <p:spPr>
          <a:xfrm>
            <a:off x="457200" y="1092200"/>
            <a:ext cx="6400800" cy="381000"/>
          </a:xfrm>
          <a:prstGeom prst="roundRect">
            <a:avLst>
              <a:gd name="adj" fmla="val 20000"/>
            </a:avLst>
          </a:prstGeom>
          <a:solidFill>
            <a:srgbClr val="EEF4FE"/>
          </a:solidFill>
          <a:ln w="12700">
            <a:solidFill>
              <a:srgbClr val="5A6BA8"/>
            </a:solidFill>
          </a:ln>
        </p:spPr>
        <p:txBody>
          <a:bodyPr wrap="square" lIns="36000" tIns="14400" rIns="36000" bIns="14400" anchor="ctr"/>
          <a:lstStyle/>
          <a:p>
            <a:pPr algn="ctr">
              <a:buNone/>
            </a:pPr>
            <a:r>
              <a:rPr lang="en-US" sz="1100" b="1" dirty="0">
                <a:solidFill>
                  <a:srgbClr val="1E2761"/>
                </a:solidFill>
                <a:latin typeface="Calibri"/>
              </a:rPr>
              <a:t>Presentation</a:t>
            </a:r>
          </a:p>
          <a:p>
            <a:pPr algn="ctr">
              <a:buNone/>
            </a:pPr>
            <a:r>
              <a:rPr lang="en-US" sz="1000" b="0" dirty="0">
                <a:solidFill>
                  <a:srgbClr val="334155"/>
                </a:solidFill>
                <a:latin typeface="Calibri"/>
              </a:rPr>
              <a:t>API Host · routes each request into one slice</a:t>
            </a:r>
          </a:p>
        </p:txBody>
      </p:sp>
      <p:sp>
        <p:nvSpPr>
          <p:cNvPr id="801" name="V801"/>
          <p:cNvSpPr/>
          <p:nvPr/>
        </p:nvSpPr>
        <p:spPr>
          <a:xfrm>
            <a:off x="1308100" y="1498600"/>
            <a:ext cx="177800" cy="152400"/>
          </a:xfrm>
          <a:prstGeom prst="downArrow">
            <a:avLst/>
          </a:prstGeom>
          <a:solidFill>
            <a:srgbClr val="1E2761"/>
          </a:solidFill>
          <a:ln>
            <a:noFill/>
          </a:ln>
        </p:spPr>
        <p:txBody>
          <a:bodyPr wrap="square" lIns="36000" tIns="14400" rIns="36000" bIns="14400" anchor="ctr"/>
          <a:lstStyle/>
          <a:p>
            <a:pPr algn="ctr">
              <a:buNone/>
            </a:pPr>
            <a:endParaRPr lang="en-US"/>
          </a:p>
        </p:txBody>
      </p:sp>
      <p:sp>
        <p:nvSpPr>
          <p:cNvPr id="802" name="V802"/>
          <p:cNvSpPr/>
          <p:nvPr/>
        </p:nvSpPr>
        <p:spPr>
          <a:xfrm>
            <a:off x="3568700" y="1498600"/>
            <a:ext cx="177800" cy="152400"/>
          </a:xfrm>
          <a:prstGeom prst="downArrow">
            <a:avLst/>
          </a:prstGeom>
          <a:solidFill>
            <a:srgbClr val="1E2761"/>
          </a:solidFill>
          <a:ln>
            <a:noFill/>
          </a:ln>
        </p:spPr>
        <p:txBody>
          <a:bodyPr wrap="square" lIns="36000" tIns="14400" rIns="36000" bIns="14400" anchor="ctr"/>
          <a:lstStyle/>
          <a:p>
            <a:pPr algn="ctr">
              <a:buNone/>
            </a:pPr>
            <a:endParaRPr lang="en-US"/>
          </a:p>
        </p:txBody>
      </p:sp>
      <p:sp>
        <p:nvSpPr>
          <p:cNvPr id="803" name="V803"/>
          <p:cNvSpPr/>
          <p:nvPr/>
        </p:nvSpPr>
        <p:spPr>
          <a:xfrm>
            <a:off x="5829300" y="1498600"/>
            <a:ext cx="177800" cy="152400"/>
          </a:xfrm>
          <a:prstGeom prst="downArrow">
            <a:avLst/>
          </a:prstGeom>
          <a:solidFill>
            <a:srgbClr val="1E2761"/>
          </a:solidFill>
          <a:ln>
            <a:noFill/>
          </a:ln>
        </p:spPr>
        <p:txBody>
          <a:bodyPr wrap="square" lIns="36000" tIns="14400" rIns="36000" bIns="14400" anchor="ctr"/>
          <a:lstStyle/>
          <a:p>
            <a:pPr algn="ctr">
              <a:buNone/>
            </a:pPr>
            <a:endParaRPr lang="en-US"/>
          </a:p>
        </p:txBody>
      </p:sp>
    </p:spTree>
    <p:extLst>
      <p:ext uri="{BB962C8B-B14F-4D97-AF65-F5344CB8AC3E}">
        <p14:creationId xmlns:p14="http://schemas.microsoft.com/office/powerpoint/2010/main" val="17454360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73D16-97E6-7A3E-A2CA-90F4FC10CBC0}"/>
            </a:ext>
          </a:extLst>
        </p:cNvPr>
        <p:cNvGrpSpPr/>
        <p:nvPr/>
      </p:nvGrpSpPr>
      <p:grpSpPr>
        <a:xfrm>
          <a:off x="0" y="0"/>
          <a:ext cx="0" cy="0"/>
          <a:chOff x="0" y="0"/>
          <a:chExt cx="0" cy="0"/>
        </a:xfrm>
      </p:grpSpPr>
      <p:sp>
        <p:nvSpPr>
          <p:cNvPr id="10" name="L11">
            <a:extLst>
              <a:ext uri="{FF2B5EF4-FFF2-40B4-BE49-F238E27FC236}">
                <a16:creationId xmlns:a16="http://schemas.microsoft.com/office/drawing/2014/main" id="{BD215F2D-A3E1-94E2-F2F4-3604136D9BB3}"/>
              </a:ext>
            </a:extLst>
          </p:cNvPr>
          <p:cNvSpPr txBox="1"/>
          <p:nvPr/>
        </p:nvSpPr>
        <p:spPr>
          <a:xfrm>
            <a:off x="457200" y="127000"/>
            <a:ext cx="8229600" cy="406400"/>
          </a:xfrm>
          <a:prstGeom prst="rect">
            <a:avLst/>
          </a:prstGeom>
          <a:noFill/>
        </p:spPr>
        <p:txBody>
          <a:bodyPr wrap="square" lIns="0" tIns="0" rIns="0" bIns="0" anchor="ctr"/>
          <a:lstStyle/>
          <a:p>
            <a:pPr algn="l">
              <a:buNone/>
            </a:pPr>
            <a:r>
              <a:rPr lang="en-US" sz="2600" b="1" dirty="0">
                <a:solidFill>
                  <a:srgbClr val="1E2761"/>
                </a:solidFill>
                <a:latin typeface="Cambria"/>
              </a:rPr>
              <a:t>Proposal 2: Modular Monolith with Clean Architecture</a:t>
            </a:r>
          </a:p>
        </p:txBody>
      </p:sp>
      <p:sp>
        <p:nvSpPr>
          <p:cNvPr id="11" name="L12">
            <a:extLst>
              <a:ext uri="{FF2B5EF4-FFF2-40B4-BE49-F238E27FC236}">
                <a16:creationId xmlns:a16="http://schemas.microsoft.com/office/drawing/2014/main" id="{1892285C-F479-C6B0-BE87-088C7B6D32F0}"/>
              </a:ext>
            </a:extLst>
          </p:cNvPr>
          <p:cNvSpPr txBox="1"/>
          <p:nvPr/>
        </p:nvSpPr>
        <p:spPr>
          <a:xfrm>
            <a:off x="457200" y="571500"/>
            <a:ext cx="8229600" cy="203200"/>
          </a:xfrm>
          <a:prstGeom prst="rect">
            <a:avLst/>
          </a:prstGeom>
          <a:noFill/>
        </p:spPr>
        <p:txBody>
          <a:bodyPr wrap="square" lIns="0" tIns="0" rIns="0" bIns="0" anchor="ctr"/>
          <a:lstStyle/>
          <a:p>
            <a:pPr algn="l">
              <a:buNone/>
            </a:pPr>
            <a:r>
              <a:rPr lang="en-US" sz="1100" b="0" dirty="0">
                <a:solidFill>
                  <a:srgbClr val="334155"/>
                </a:solidFill>
                <a:latin typeface="Calibri"/>
              </a:rPr>
              <a:t>Architecture for a single microservice</a:t>
            </a:r>
          </a:p>
        </p:txBody>
      </p:sp>
      <p:sp>
        <p:nvSpPr>
          <p:cNvPr id="12" name="L13">
            <a:extLst>
              <a:ext uri="{FF2B5EF4-FFF2-40B4-BE49-F238E27FC236}">
                <a16:creationId xmlns:a16="http://schemas.microsoft.com/office/drawing/2014/main" id="{1B770A57-562D-FCEB-492E-27C1803F8087}"/>
              </a:ext>
            </a:extLst>
          </p:cNvPr>
          <p:cNvSpPr txBox="1"/>
          <p:nvPr/>
        </p:nvSpPr>
        <p:spPr>
          <a:xfrm>
            <a:off x="609600" y="812800"/>
            <a:ext cx="3454400" cy="177800"/>
          </a:xfrm>
          <a:prstGeom prst="rect">
            <a:avLst/>
          </a:prstGeom>
          <a:noFill/>
        </p:spPr>
        <p:txBody>
          <a:bodyPr wrap="square" lIns="0" tIns="0" rIns="0" bIns="0" anchor="ctr"/>
          <a:lstStyle/>
          <a:p>
            <a:pPr>
              <a:buNone/>
            </a:pPr>
            <a:r>
              <a:rPr lang="en-US" sz="1000" b="1" dirty="0">
                <a:solidFill>
                  <a:srgbClr val="5A6BA8"/>
                </a:solidFill>
                <a:latin typeface="Calibri"/>
              </a:rPr>
              <a:t>ONE MICROSERVICE — CLEAN ARCHITECTURE LAYERS</a:t>
            </a:r>
          </a:p>
        </p:txBody>
      </p:sp>
      <p:sp>
        <p:nvSpPr>
          <p:cNvPr id="14" name="S0">
            <a:extLst>
              <a:ext uri="{FF2B5EF4-FFF2-40B4-BE49-F238E27FC236}">
                <a16:creationId xmlns:a16="http://schemas.microsoft.com/office/drawing/2014/main" id="{9394A723-27D2-2880-6597-E0BD56923A46}"/>
              </a:ext>
            </a:extLst>
          </p:cNvPr>
          <p:cNvSpPr/>
          <p:nvPr/>
        </p:nvSpPr>
        <p:spPr>
          <a:xfrm>
            <a:off x="609600" y="1092200"/>
            <a:ext cx="3556000" cy="609600"/>
          </a:xfrm>
          <a:prstGeom prst="roundRect">
            <a:avLst>
              <a:gd name="adj" fmla="val 8000"/>
            </a:avLst>
          </a:prstGeom>
          <a:solidFill>
            <a:srgbClr val="EEF4FE"/>
          </a:solidFill>
          <a:ln w="12700">
            <a:solidFill>
              <a:srgbClr val="5A6BA8"/>
            </a:solidFill>
          </a:ln>
        </p:spPr>
        <p:txBody>
          <a:bodyPr wrap="square" lIns="45720" tIns="27432" rIns="45720" bIns="27432" anchor="ctr"/>
          <a:lstStyle/>
          <a:p>
            <a:pPr algn="ctr">
              <a:buNone/>
            </a:pPr>
            <a:r>
              <a:rPr lang="en-US" sz="1400" b="1" dirty="0">
                <a:solidFill>
                  <a:srgbClr val="1E2761"/>
                </a:solidFill>
                <a:latin typeface="Calibri"/>
              </a:rPr>
              <a:t>Presentation</a:t>
            </a:r>
          </a:p>
          <a:p>
            <a:pPr algn="ctr">
              <a:buNone/>
            </a:pPr>
            <a:r>
              <a:rPr lang="en-US" sz="1000" b="0" dirty="0">
                <a:solidFill>
                  <a:srgbClr val="334155"/>
                </a:solidFill>
                <a:latin typeface="Calibri"/>
              </a:rPr>
              <a:t>API Controllers</a:t>
            </a:r>
            <a:r>
              <a:rPr lang="en-US" sz="1000" dirty="0">
                <a:solidFill>
                  <a:srgbClr val="334155"/>
                </a:solidFill>
              </a:rPr>
              <a:t> ·  DI</a:t>
            </a:r>
            <a:endParaRPr lang="en-US" sz="1000" b="0" dirty="0">
              <a:solidFill>
                <a:srgbClr val="334155"/>
              </a:solidFill>
              <a:latin typeface="Calibri"/>
            </a:endParaRPr>
          </a:p>
        </p:txBody>
      </p:sp>
      <p:sp>
        <p:nvSpPr>
          <p:cNvPr id="16" name="S1">
            <a:extLst>
              <a:ext uri="{FF2B5EF4-FFF2-40B4-BE49-F238E27FC236}">
                <a16:creationId xmlns:a16="http://schemas.microsoft.com/office/drawing/2014/main" id="{AECCB8CC-3863-87E3-39F9-9F34AC04DB55}"/>
              </a:ext>
            </a:extLst>
          </p:cNvPr>
          <p:cNvSpPr/>
          <p:nvPr/>
        </p:nvSpPr>
        <p:spPr>
          <a:xfrm>
            <a:off x="609600" y="1905000"/>
            <a:ext cx="6096000" cy="635000"/>
          </a:xfrm>
          <a:prstGeom prst="roundRect">
            <a:avLst>
              <a:gd name="adj" fmla="val 8000"/>
            </a:avLst>
          </a:prstGeom>
          <a:solidFill>
            <a:srgbClr val="EEF4FE"/>
          </a:solidFill>
          <a:ln w="12700">
            <a:solidFill>
              <a:srgbClr val="5A6BA8"/>
            </a:solidFill>
          </a:ln>
        </p:spPr>
        <p:txBody>
          <a:bodyPr wrap="square" lIns="45720" tIns="27432" rIns="45720" bIns="27432" anchor="ctr"/>
          <a:lstStyle/>
          <a:p>
            <a:pPr algn="ctr">
              <a:buNone/>
            </a:pPr>
            <a:r>
              <a:rPr lang="en-US" sz="1400" b="1" dirty="0">
                <a:solidFill>
                  <a:srgbClr val="1E2761"/>
                </a:solidFill>
                <a:latin typeface="Calibri"/>
              </a:rPr>
              <a:t>Application</a:t>
            </a:r>
          </a:p>
          <a:p>
            <a:pPr algn="ctr">
              <a:buNone/>
            </a:pPr>
            <a:r>
              <a:rPr lang="en-US" sz="1000" b="0" dirty="0">
                <a:solidFill>
                  <a:srgbClr val="334155"/>
                </a:solidFill>
                <a:latin typeface="Calibri"/>
              </a:rPr>
              <a:t>Handlers · Application Services · Use Cases</a:t>
            </a:r>
          </a:p>
        </p:txBody>
      </p:sp>
      <p:sp>
        <p:nvSpPr>
          <p:cNvPr id="18" name="S2">
            <a:extLst>
              <a:ext uri="{FF2B5EF4-FFF2-40B4-BE49-F238E27FC236}">
                <a16:creationId xmlns:a16="http://schemas.microsoft.com/office/drawing/2014/main" id="{8314B495-3280-130F-50F0-E1C23399425D}"/>
              </a:ext>
            </a:extLst>
          </p:cNvPr>
          <p:cNvSpPr/>
          <p:nvPr/>
        </p:nvSpPr>
        <p:spPr>
          <a:xfrm>
            <a:off x="609600" y="2743200"/>
            <a:ext cx="6096000" cy="787400"/>
          </a:xfrm>
          <a:prstGeom prst="roundRect">
            <a:avLst>
              <a:gd name="adj" fmla="val 8000"/>
            </a:avLst>
          </a:prstGeom>
          <a:solidFill>
            <a:srgbClr val="EEF4FE"/>
          </a:solidFill>
          <a:ln w="12700">
            <a:solidFill>
              <a:srgbClr val="5A6BA8"/>
            </a:solidFill>
          </a:ln>
        </p:spPr>
        <p:txBody>
          <a:bodyPr wrap="square" lIns="45720" tIns="27432" rIns="45720" bIns="27432" anchor="ctr"/>
          <a:lstStyle/>
          <a:p>
            <a:pPr algn="ctr">
              <a:buNone/>
            </a:pPr>
            <a:r>
              <a:rPr lang="en-US" sz="1400" b="1" dirty="0">
                <a:solidFill>
                  <a:srgbClr val="1E2761"/>
                </a:solidFill>
                <a:latin typeface="Calibri"/>
              </a:rPr>
              <a:t>Domain</a:t>
            </a:r>
          </a:p>
          <a:p>
            <a:pPr algn="ctr">
              <a:buNone/>
            </a:pPr>
            <a:r>
              <a:rPr lang="en-US" sz="1000" b="0" dirty="0">
                <a:solidFill>
                  <a:srgbClr val="334155"/>
                </a:solidFill>
                <a:latin typeface="Calibri"/>
              </a:rPr>
              <a:t>Entities</a:t>
            </a:r>
            <a:r>
              <a:rPr lang="en-US" sz="1000" dirty="0">
                <a:solidFill>
                  <a:srgbClr val="334155"/>
                </a:solidFill>
              </a:rPr>
              <a:t> · Aggregates</a:t>
            </a:r>
            <a:r>
              <a:rPr lang="en-US" sz="1000" b="0" dirty="0">
                <a:solidFill>
                  <a:srgbClr val="334155"/>
                </a:solidFill>
                <a:latin typeface="Calibri"/>
              </a:rPr>
              <a:t> · Domain Rules · Exceptions</a:t>
            </a:r>
            <a:r>
              <a:rPr lang="en-US" sz="1000" dirty="0">
                <a:solidFill>
                  <a:srgbClr val="334155"/>
                </a:solidFill>
              </a:rPr>
              <a:t> · Validators · Domain Services</a:t>
            </a:r>
            <a:endParaRPr lang="en-US" sz="1000" b="0" dirty="0">
              <a:solidFill>
                <a:srgbClr val="334155"/>
              </a:solidFill>
              <a:latin typeface="Calibri"/>
            </a:endParaRPr>
          </a:p>
        </p:txBody>
      </p:sp>
      <p:sp>
        <p:nvSpPr>
          <p:cNvPr id="20" name="S3">
            <a:extLst>
              <a:ext uri="{FF2B5EF4-FFF2-40B4-BE49-F238E27FC236}">
                <a16:creationId xmlns:a16="http://schemas.microsoft.com/office/drawing/2014/main" id="{090CD2BF-F528-F1A1-2AEF-6D4B503A11D0}"/>
              </a:ext>
            </a:extLst>
          </p:cNvPr>
          <p:cNvSpPr/>
          <p:nvPr/>
        </p:nvSpPr>
        <p:spPr>
          <a:xfrm>
            <a:off x="609600" y="3733800"/>
            <a:ext cx="6096000" cy="736600"/>
          </a:xfrm>
          <a:prstGeom prst="roundRect">
            <a:avLst>
              <a:gd name="adj" fmla="val 8000"/>
            </a:avLst>
          </a:prstGeom>
          <a:solidFill>
            <a:srgbClr val="EEF4FE"/>
          </a:solidFill>
          <a:ln w="12700">
            <a:solidFill>
              <a:srgbClr val="5A6BA8"/>
            </a:solidFill>
          </a:ln>
        </p:spPr>
        <p:txBody>
          <a:bodyPr wrap="square" lIns="45720" tIns="27432" rIns="45720" bIns="27432" anchor="ctr"/>
          <a:lstStyle/>
          <a:p>
            <a:pPr algn="ctr">
              <a:buNone/>
            </a:pPr>
            <a:r>
              <a:rPr lang="en-US" sz="1400" b="1" dirty="0">
                <a:solidFill>
                  <a:srgbClr val="1E2761"/>
                </a:solidFill>
                <a:latin typeface="Calibri"/>
              </a:rPr>
              <a:t>Domain Kernel</a:t>
            </a:r>
          </a:p>
          <a:p>
            <a:pPr algn="ctr">
              <a:buNone/>
            </a:pPr>
            <a:r>
              <a:rPr lang="en-US" sz="1000" b="0" dirty="0">
                <a:solidFill>
                  <a:srgbClr val="334155"/>
                </a:solidFill>
                <a:latin typeface="Calibri"/>
              </a:rPr>
              <a:t>Domain Abstractions · Shared Primitives · Base Types</a:t>
            </a:r>
          </a:p>
          <a:p>
            <a:pPr algn="ctr">
              <a:buNone/>
            </a:pPr>
            <a:r>
              <a:rPr lang="en-US" sz="1000" b="0" dirty="0">
                <a:solidFill>
                  <a:srgbClr val="334155"/>
                </a:solidFill>
                <a:latin typeface="Calibri"/>
              </a:rPr>
              <a:t>DTOs · Enums · Domain Exceptions</a:t>
            </a:r>
          </a:p>
        </p:txBody>
      </p:sp>
      <p:grpSp>
        <p:nvGrpSpPr>
          <p:cNvPr id="900" name="Data &amp; Integrations Group"/>
          <p:cNvGrpSpPr/>
          <p:nvPr/>
        </p:nvGrpSpPr>
        <p:grpSpPr>
          <a:xfrm>
            <a:off x="7086600" y="1092200"/>
            <a:ext cx="1828800" cy="3472180"/>
            <a:chOff x="6858000" y="1143000"/>
            <a:chExt cx="1828800" cy="3327400"/>
          </a:xfrm>
        </p:grpSpPr>
        <p:sp>
          <p:nvSpPr>
            <p:cNvPr id="22" name="S4">
              <a:extLst>
                <a:ext uri="{FF2B5EF4-FFF2-40B4-BE49-F238E27FC236}">
                  <a16:creationId xmlns:a16="http://schemas.microsoft.com/office/drawing/2014/main" id="{6AD9A575-7E26-1529-7553-00B611440111}"/>
                </a:ext>
              </a:extLst>
            </p:cNvPr>
            <p:cNvSpPr/>
            <p:nvPr/>
          </p:nvSpPr>
          <p:spPr>
            <a:xfrm>
              <a:off x="6858000" y="1143000"/>
              <a:ext cx="1828800" cy="3327400"/>
            </a:xfrm>
            <a:prstGeom prst="roundRect">
              <a:avLst>
                <a:gd name="adj" fmla="val 8000"/>
              </a:avLst>
            </a:prstGeom>
            <a:solidFill>
              <a:srgbClr val="D6DEF5"/>
            </a:solidFill>
            <a:ln w="12700">
              <a:solidFill>
                <a:srgbClr val="5A6BA8"/>
              </a:solidFill>
            </a:ln>
          </p:spPr>
          <p:txBody>
            <a:bodyPr wrap="square" lIns="45720" tIns="45720" rIns="45720" bIns="27432" anchor="t"/>
            <a:lstStyle/>
            <a:p>
              <a:pPr algn="ctr">
                <a:buNone/>
              </a:pPr>
              <a:r>
                <a:rPr lang="en-US" sz="1000" b="1" dirty="0">
                  <a:solidFill>
                    <a:srgbClr val="1E2761"/>
                  </a:solidFill>
                  <a:latin typeface="Calibri"/>
                </a:rPr>
                <a:t>Data &amp; Integrations</a:t>
              </a:r>
            </a:p>
          </p:txBody>
        </p:sp>
        <p:sp>
          <p:nvSpPr>
            <p:cNvPr id="200" name="D0">
              <a:extLst>
                <a:ext uri="{FF2B5EF4-FFF2-40B4-BE49-F238E27FC236}">
                  <a16:creationId xmlns:a16="http://schemas.microsoft.com/office/drawing/2014/main" id="{2686100E-ACEF-B623-6893-363865C77BD9}"/>
                </a:ext>
              </a:extLst>
            </p:cNvPr>
            <p:cNvSpPr/>
            <p:nvPr/>
          </p:nvSpPr>
          <p:spPr>
            <a:xfrm>
              <a:off x="6985000" y="1473200"/>
              <a:ext cx="1574800" cy="457200"/>
            </a:xfrm>
            <a:prstGeom prst="roundRect">
              <a:avLst>
                <a:gd name="adj" fmla="val 10000"/>
              </a:avLst>
            </a:prstGeom>
            <a:solidFill>
              <a:srgbClr val="FFFFFF"/>
            </a:solidFill>
            <a:ln w="12700">
              <a:solidFill>
                <a:srgbClr val="C3D4F2"/>
              </a:solidFill>
            </a:ln>
          </p:spPr>
          <p:txBody>
            <a:bodyPr wrap="square" lIns="18288" tIns="18288" rIns="18288" bIns="18288" anchor="ctr" anchorCtr="0"/>
            <a:lstStyle/>
            <a:p>
              <a:pPr algn="ctr">
                <a:buNone/>
              </a:pPr>
              <a:r>
                <a:rPr lang="en-US" sz="1000" b="1" dirty="0">
                  <a:solidFill>
                    <a:srgbClr val="1E2761"/>
                  </a:solidFill>
                  <a:latin typeface="Calibri"/>
                </a:rPr>
                <a:t>Oracle Enterprise</a:t>
              </a:r>
            </a:p>
          </p:txBody>
        </p:sp>
        <p:sp>
          <p:nvSpPr>
            <p:cNvPr id="401" name="GOracle">
              <a:extLst>
                <a:ext uri="{FF2B5EF4-FFF2-40B4-BE49-F238E27FC236}">
                  <a16:creationId xmlns:a16="http://schemas.microsoft.com/office/drawing/2014/main" id="{FCA1D433-7176-08FE-ADFA-2D55D72E7878}"/>
                </a:ext>
              </a:extLst>
            </p:cNvPr>
            <p:cNvSpPr/>
            <p:nvPr/>
          </p:nvSpPr>
          <p:spPr>
            <a:xfrm>
              <a:off x="7086600" y="1600200"/>
              <a:ext cx="203200" cy="215900"/>
            </a:xfrm>
            <a:prstGeom prst="can">
              <a:avLst/>
            </a:prstGeom>
            <a:solidFill>
              <a:srgbClr val="1E2761"/>
            </a:solidFill>
            <a:ln>
              <a:noFill/>
            </a:ln>
          </p:spPr>
          <p:txBody>
            <a:bodyPr/>
            <a:lstStyle/>
            <a:p>
              <a:endParaRPr lang="en-US"/>
            </a:p>
          </p:txBody>
        </p:sp>
        <p:sp>
          <p:nvSpPr>
            <p:cNvPr id="201" name="D1">
              <a:extLst>
                <a:ext uri="{FF2B5EF4-FFF2-40B4-BE49-F238E27FC236}">
                  <a16:creationId xmlns:a16="http://schemas.microsoft.com/office/drawing/2014/main" id="{36DF01C3-B494-BCF2-E823-376A269532A1}"/>
                </a:ext>
              </a:extLst>
            </p:cNvPr>
            <p:cNvSpPr/>
            <p:nvPr/>
          </p:nvSpPr>
          <p:spPr>
            <a:xfrm>
              <a:off x="6985000" y="2095500"/>
              <a:ext cx="1574800" cy="457200"/>
            </a:xfrm>
            <a:prstGeom prst="roundRect">
              <a:avLst>
                <a:gd name="adj" fmla="val 10000"/>
              </a:avLst>
            </a:prstGeom>
            <a:solidFill>
              <a:srgbClr val="FFFFFF"/>
            </a:solidFill>
            <a:ln w="12700">
              <a:solidFill>
                <a:srgbClr val="C3D4F2"/>
              </a:solidFill>
            </a:ln>
          </p:spPr>
          <p:txBody>
            <a:bodyPr wrap="square" lIns="18288" tIns="18288" rIns="18288" bIns="18288" anchor="ctr" anchorCtr="0"/>
            <a:lstStyle/>
            <a:p>
              <a:pPr algn="ctr">
                <a:buNone/>
              </a:pPr>
              <a:r>
                <a:rPr lang="en-US" sz="1000" b="1" dirty="0">
                  <a:solidFill>
                    <a:srgbClr val="1E2761"/>
                  </a:solidFill>
                  <a:latin typeface="Calibri"/>
                </a:rPr>
                <a:t>MongoDB</a:t>
              </a:r>
            </a:p>
          </p:txBody>
        </p:sp>
        <p:sp>
          <p:nvSpPr>
            <p:cNvPr id="402" name="GMongo">
              <a:extLst>
                <a:ext uri="{FF2B5EF4-FFF2-40B4-BE49-F238E27FC236}">
                  <a16:creationId xmlns:a16="http://schemas.microsoft.com/office/drawing/2014/main" id="{BCE714BB-C526-6F88-815F-D1CF511F271B}"/>
                </a:ext>
              </a:extLst>
            </p:cNvPr>
            <p:cNvSpPr/>
            <p:nvPr/>
          </p:nvSpPr>
          <p:spPr>
            <a:xfrm>
              <a:off x="7086600" y="2222500"/>
              <a:ext cx="203200" cy="215900"/>
            </a:xfrm>
            <a:prstGeom prst="teardrop">
              <a:avLst/>
            </a:prstGeom>
            <a:solidFill>
              <a:srgbClr val="1E2761"/>
            </a:solidFill>
            <a:ln>
              <a:noFill/>
            </a:ln>
          </p:spPr>
          <p:txBody>
            <a:bodyPr/>
            <a:lstStyle/>
            <a:p>
              <a:endParaRPr lang="en-US"/>
            </a:p>
          </p:txBody>
        </p:sp>
        <p:sp>
          <p:nvSpPr>
            <p:cNvPr id="202" name="D2">
              <a:extLst>
                <a:ext uri="{FF2B5EF4-FFF2-40B4-BE49-F238E27FC236}">
                  <a16:creationId xmlns:a16="http://schemas.microsoft.com/office/drawing/2014/main" id="{A135ED17-E7F8-F53F-F0D7-1D64B9F0F96E}"/>
                </a:ext>
              </a:extLst>
            </p:cNvPr>
            <p:cNvSpPr/>
            <p:nvPr/>
          </p:nvSpPr>
          <p:spPr>
            <a:xfrm>
              <a:off x="6985000" y="2717800"/>
              <a:ext cx="1574800" cy="457200"/>
            </a:xfrm>
            <a:prstGeom prst="roundRect">
              <a:avLst>
                <a:gd name="adj" fmla="val 10000"/>
              </a:avLst>
            </a:prstGeom>
            <a:solidFill>
              <a:srgbClr val="FFFFFF"/>
            </a:solidFill>
            <a:ln w="12700">
              <a:solidFill>
                <a:srgbClr val="C3D4F2"/>
              </a:solidFill>
            </a:ln>
          </p:spPr>
          <p:txBody>
            <a:bodyPr wrap="square" lIns="18288" tIns="18288" rIns="18288" bIns="18288" anchor="ctr" anchorCtr="0"/>
            <a:lstStyle/>
            <a:p>
              <a:pPr algn="ctr">
                <a:buNone/>
              </a:pPr>
              <a:r>
                <a:rPr lang="en-US" sz="1000" b="1" dirty="0">
                  <a:solidFill>
                    <a:srgbClr val="1E2761"/>
                  </a:solidFill>
                  <a:latin typeface="Calibri"/>
                </a:rPr>
                <a:t>Redis</a:t>
              </a:r>
            </a:p>
          </p:txBody>
        </p:sp>
        <p:sp>
          <p:nvSpPr>
            <p:cNvPr id="403" name="GRedis">
              <a:extLst>
                <a:ext uri="{FF2B5EF4-FFF2-40B4-BE49-F238E27FC236}">
                  <a16:creationId xmlns:a16="http://schemas.microsoft.com/office/drawing/2014/main" id="{E56A3080-CBC2-9AF3-CFF1-A30D14908189}"/>
                </a:ext>
              </a:extLst>
            </p:cNvPr>
            <p:cNvSpPr/>
            <p:nvPr/>
          </p:nvSpPr>
          <p:spPr>
            <a:xfrm>
              <a:off x="7086600" y="2844800"/>
              <a:ext cx="203200" cy="215900"/>
            </a:xfrm>
            <a:prstGeom prst="lightningBolt">
              <a:avLst/>
            </a:prstGeom>
            <a:solidFill>
              <a:srgbClr val="1E2761"/>
            </a:solidFill>
            <a:ln>
              <a:noFill/>
            </a:ln>
          </p:spPr>
          <p:txBody>
            <a:bodyPr/>
            <a:lstStyle/>
            <a:p>
              <a:endParaRPr lang="en-US"/>
            </a:p>
          </p:txBody>
        </p:sp>
        <p:sp>
          <p:nvSpPr>
            <p:cNvPr id="500" name="D4">
              <a:extLst>
                <a:ext uri="{FF2B5EF4-FFF2-40B4-BE49-F238E27FC236}">
                  <a16:creationId xmlns:a16="http://schemas.microsoft.com/office/drawing/2014/main" id="{FFDDCAC7-83C0-6413-4DFA-47DD135F38D2}"/>
                </a:ext>
              </a:extLst>
            </p:cNvPr>
            <p:cNvSpPr/>
            <p:nvPr/>
          </p:nvSpPr>
          <p:spPr>
            <a:xfrm>
              <a:off x="6985000" y="3303589"/>
              <a:ext cx="1574800" cy="457200"/>
            </a:xfrm>
            <a:prstGeom prst="roundRect">
              <a:avLst>
                <a:gd name="adj" fmla="val 10000"/>
              </a:avLst>
            </a:prstGeom>
            <a:solidFill>
              <a:srgbClr val="FFFFFF"/>
            </a:solidFill>
            <a:ln w="12700">
              <a:solidFill>
                <a:srgbClr val="C3D4F2"/>
              </a:solidFill>
            </a:ln>
          </p:spPr>
          <p:txBody>
            <a:bodyPr wrap="square" lIns="18288" tIns="9144" rIns="18288" bIns="9144" anchor="ctr" anchorCtr="0"/>
            <a:lstStyle/>
            <a:p>
              <a:pPr algn="ctr">
                <a:buNone/>
              </a:pPr>
              <a:r>
                <a:rPr lang="en-US" sz="1000" b="1" dirty="0">
                  <a:solidFill>
                    <a:srgbClr val="1E2761"/>
                  </a:solidFill>
                  <a:latin typeface="Calibri"/>
                </a:rPr>
                <a:t>Kafka</a:t>
              </a:r>
            </a:p>
          </p:txBody>
        </p:sp>
        <p:sp>
          <p:nvSpPr>
            <p:cNvPr id="501" name="GKafka">
              <a:extLst>
                <a:ext uri="{FF2B5EF4-FFF2-40B4-BE49-F238E27FC236}">
                  <a16:creationId xmlns:a16="http://schemas.microsoft.com/office/drawing/2014/main" id="{11B5C5C3-7275-B5E7-C012-FFC6E9B37A87}"/>
                </a:ext>
              </a:extLst>
            </p:cNvPr>
            <p:cNvSpPr/>
            <p:nvPr/>
          </p:nvSpPr>
          <p:spPr>
            <a:xfrm>
              <a:off x="7086600" y="3430590"/>
              <a:ext cx="203200" cy="215900"/>
            </a:xfrm>
            <a:prstGeom prst="chevron">
              <a:avLst/>
            </a:prstGeom>
            <a:solidFill>
              <a:srgbClr val="1E2761"/>
            </a:solidFill>
            <a:ln>
              <a:noFill/>
            </a:ln>
          </p:spPr>
          <p:txBody>
            <a:bodyPr/>
            <a:lstStyle/>
            <a:p>
              <a:endParaRPr lang="en-US"/>
            </a:p>
          </p:txBody>
        </p:sp>
        <p:sp>
          <p:nvSpPr>
            <p:cNvPr id="203" name="D3">
              <a:extLst>
                <a:ext uri="{FF2B5EF4-FFF2-40B4-BE49-F238E27FC236}">
                  <a16:creationId xmlns:a16="http://schemas.microsoft.com/office/drawing/2014/main" id="{73822DEE-A1A4-85D8-6639-8BA5B86CBF94}"/>
                </a:ext>
              </a:extLst>
            </p:cNvPr>
            <p:cNvSpPr/>
            <p:nvPr/>
          </p:nvSpPr>
          <p:spPr>
            <a:xfrm>
              <a:off x="6985000" y="3889786"/>
              <a:ext cx="1574800" cy="457200"/>
            </a:xfrm>
            <a:prstGeom prst="roundRect">
              <a:avLst>
                <a:gd name="adj" fmla="val 10000"/>
              </a:avLst>
            </a:prstGeom>
            <a:solidFill>
              <a:srgbClr val="FFFFFF"/>
            </a:solidFill>
            <a:ln w="12700">
              <a:solidFill>
                <a:srgbClr val="C3D4F2"/>
              </a:solidFill>
            </a:ln>
          </p:spPr>
          <p:txBody>
            <a:bodyPr wrap="square" lIns="18288" tIns="18288" rIns="18288" bIns="18288" anchor="ctr" anchorCtr="0"/>
            <a:lstStyle/>
            <a:p>
              <a:pPr algn="ctr">
                <a:buNone/>
              </a:pPr>
              <a:r>
                <a:rPr lang="en-US" sz="1000" b="1" dirty="0">
                  <a:solidFill>
                    <a:srgbClr val="1E2761"/>
                  </a:solidFill>
                  <a:latin typeface="Calibri"/>
                </a:rPr>
                <a:t>External Services</a:t>
              </a:r>
            </a:p>
          </p:txBody>
        </p:sp>
        <p:sp>
          <p:nvSpPr>
            <p:cNvPr id="404" name="GApi">
              <a:extLst>
                <a:ext uri="{FF2B5EF4-FFF2-40B4-BE49-F238E27FC236}">
                  <a16:creationId xmlns:a16="http://schemas.microsoft.com/office/drawing/2014/main" id="{C3E4CDEB-3141-2297-7F50-E6CD022D0AB4}"/>
                </a:ext>
              </a:extLst>
            </p:cNvPr>
            <p:cNvSpPr/>
            <p:nvPr/>
          </p:nvSpPr>
          <p:spPr>
            <a:xfrm>
              <a:off x="7086600" y="4056382"/>
              <a:ext cx="203200" cy="152400"/>
            </a:xfrm>
            <a:prstGeom prst="cloud">
              <a:avLst/>
            </a:prstGeom>
            <a:solidFill>
              <a:srgbClr val="1E2761"/>
            </a:solidFill>
            <a:ln>
              <a:noFill/>
            </a:ln>
          </p:spPr>
          <p:txBody>
            <a:bodyPr/>
            <a:lstStyle/>
            <a:p>
              <a:endParaRPr lang="en-US"/>
            </a:p>
          </p:txBody>
        </p:sp>
      </p:grpSp>
      <p:sp>
        <p:nvSpPr>
          <p:cNvPr id="31" name="L66">
            <a:extLst>
              <a:ext uri="{FF2B5EF4-FFF2-40B4-BE49-F238E27FC236}">
                <a16:creationId xmlns:a16="http://schemas.microsoft.com/office/drawing/2014/main" id="{D704288F-C2E3-4BFA-1ADA-00C34228D14C}"/>
              </a:ext>
            </a:extLst>
          </p:cNvPr>
          <p:cNvSpPr txBox="1"/>
          <p:nvPr/>
        </p:nvSpPr>
        <p:spPr>
          <a:xfrm>
            <a:off x="457200" y="4597400"/>
            <a:ext cx="8229600" cy="228600"/>
          </a:xfrm>
          <a:prstGeom prst="rect">
            <a:avLst/>
          </a:prstGeom>
          <a:noFill/>
        </p:spPr>
        <p:txBody>
          <a:bodyPr wrap="square" lIns="0" tIns="0" rIns="0" bIns="0" anchor="ctr"/>
          <a:lstStyle/>
          <a:p>
            <a:pPr algn="ctr">
              <a:buNone/>
            </a:pPr>
            <a:r>
              <a:rPr lang="en-US" sz="1000" dirty="0">
                <a:solidFill>
                  <a:srgbClr val="334155"/>
                </a:solidFill>
                <a:latin typeface="Calibri"/>
              </a:rPr>
              <a:t>Presentation → Application → Domain → Domain Kernel  ·  Infrastructure: DI-wired from Presentation, sole access to Data &amp; Integrations</a:t>
            </a:r>
          </a:p>
        </p:txBody>
      </p:sp>
      <p:sp>
        <p:nvSpPr>
          <p:cNvPr id="2" name="SINF">
            <a:extLst>
              <a:ext uri="{FF2B5EF4-FFF2-40B4-BE49-F238E27FC236}">
                <a16:creationId xmlns:a16="http://schemas.microsoft.com/office/drawing/2014/main" id="{A5051961-38B5-4AB1-9E08-B6A9CC930FDF}"/>
              </a:ext>
            </a:extLst>
          </p:cNvPr>
          <p:cNvSpPr/>
          <p:nvPr/>
        </p:nvSpPr>
        <p:spPr>
          <a:xfrm>
            <a:off x="4572000" y="1092200"/>
            <a:ext cx="2133600" cy="609600"/>
          </a:xfrm>
          <a:prstGeom prst="roundRect">
            <a:avLst/>
          </a:prstGeom>
          <a:solidFill>
            <a:srgbClr val="EEF4FE"/>
          </a:solidFill>
          <a:ln w="12700" cap="flat" cmpd="sng" algn="ctr">
            <a:solidFill>
              <a:srgbClr val="5A6BA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ctr">
              <a:buNone/>
            </a:pPr>
            <a:r>
              <a:rPr lang="en-US" sz="1400" b="1" dirty="0">
                <a:solidFill>
                  <a:srgbClr val="1E2761"/>
                </a:solidFill>
                <a:latin typeface="Calibri"/>
              </a:rPr>
              <a:t>Infrastructure</a:t>
            </a:r>
          </a:p>
          <a:p>
            <a:pPr algn="ctr">
              <a:buNone/>
            </a:pPr>
            <a:r>
              <a:rPr lang="en-US" sz="1000" b="0" dirty="0">
                <a:solidFill>
                  <a:srgbClr val="334155"/>
                </a:solidFill>
                <a:latin typeface="Calibri"/>
              </a:rPr>
              <a:t>Repositories · Adapters · Clients</a:t>
            </a:r>
          </a:p>
        </p:txBody>
      </p:sp>
      <p:sp>
        <p:nvSpPr>
          <p:cNvPr id="4" name="LDI">
            <a:extLst>
              <a:ext uri="{FF2B5EF4-FFF2-40B4-BE49-F238E27FC236}">
                <a16:creationId xmlns:a16="http://schemas.microsoft.com/office/drawing/2014/main" id="{449C0506-1F50-4B51-9607-998F5B4D6467}"/>
              </a:ext>
            </a:extLst>
          </p:cNvPr>
          <p:cNvSpPr txBox="1"/>
          <p:nvPr/>
        </p:nvSpPr>
        <p:spPr>
          <a:xfrm>
            <a:off x="4064000" y="838200"/>
            <a:ext cx="1143000" cy="177800"/>
          </a:xfrm>
          <a:prstGeom prst="rect">
            <a:avLst/>
          </a:prstGeom>
          <a:noFill/>
        </p:spPr>
        <p:txBody>
          <a:bodyPr vertOverflow="overflow" vert="horz" wrap="none" rtlCol="0" anchor="ctr" anchorCtr="0">
            <a:noAutofit/>
          </a:bodyPr>
          <a:lstStyle/>
          <a:p>
            <a:pPr algn="l">
              <a:buNone/>
            </a:pPr>
            <a:r>
              <a:rPr lang="en-US" sz="1000" b="1" dirty="0">
                <a:solidFill>
                  <a:srgbClr val="5A6BA8"/>
                </a:solidFill>
                <a:latin typeface="Calibri"/>
              </a:rPr>
              <a:t>DI ONLY</a:t>
            </a:r>
          </a:p>
        </p:txBody>
      </p:sp>
      <p:sp>
        <p:nvSpPr>
          <p:cNvPr id="15" name="A0">
            <a:extLst>
              <a:ext uri="{FF2B5EF4-FFF2-40B4-BE49-F238E27FC236}">
                <a16:creationId xmlns:a16="http://schemas.microsoft.com/office/drawing/2014/main" id="{38E1662A-A0EE-F5F3-C835-90F2562B6123}"/>
              </a:ext>
            </a:extLst>
          </p:cNvPr>
          <p:cNvSpPr/>
          <p:nvPr/>
        </p:nvSpPr>
        <p:spPr>
          <a:xfrm>
            <a:off x="2286000" y="1752600"/>
            <a:ext cx="203200" cy="127000"/>
          </a:xfrm>
          <a:prstGeom prst="downArrow">
            <a:avLst/>
          </a:prstGeom>
          <a:solidFill>
            <a:srgbClr val="1E2761"/>
          </a:solidFill>
          <a:ln>
            <a:noFill/>
          </a:ln>
        </p:spPr>
        <p:txBody>
          <a:bodyPr/>
          <a:lstStyle/>
          <a:p>
            <a:endParaRPr lang="en-US"/>
          </a:p>
        </p:txBody>
      </p:sp>
      <p:sp>
        <p:nvSpPr>
          <p:cNvPr id="17" name="A0">
            <a:extLst>
              <a:ext uri="{FF2B5EF4-FFF2-40B4-BE49-F238E27FC236}">
                <a16:creationId xmlns:a16="http://schemas.microsoft.com/office/drawing/2014/main" id="{6EAEBFEB-0CA7-3D89-FC2C-A781CDE796BE}"/>
              </a:ext>
            </a:extLst>
          </p:cNvPr>
          <p:cNvSpPr/>
          <p:nvPr/>
        </p:nvSpPr>
        <p:spPr>
          <a:xfrm>
            <a:off x="5537200" y="1752600"/>
            <a:ext cx="203200" cy="127000"/>
          </a:xfrm>
          <a:prstGeom prst="downArrow">
            <a:avLst/>
          </a:prstGeom>
          <a:solidFill>
            <a:srgbClr val="1E2761"/>
          </a:solidFill>
          <a:ln>
            <a:noFill/>
          </a:ln>
        </p:spPr>
        <p:txBody>
          <a:bodyPr/>
          <a:lstStyle/>
          <a:p>
            <a:endParaRPr lang="en-US"/>
          </a:p>
        </p:txBody>
      </p:sp>
      <p:sp>
        <p:nvSpPr>
          <p:cNvPr id="19" name="A2">
            <a:extLst>
              <a:ext uri="{FF2B5EF4-FFF2-40B4-BE49-F238E27FC236}">
                <a16:creationId xmlns:a16="http://schemas.microsoft.com/office/drawing/2014/main" id="{3DB52D46-9A2E-B63D-9811-7E13B29DEB46}"/>
              </a:ext>
            </a:extLst>
          </p:cNvPr>
          <p:cNvSpPr/>
          <p:nvPr/>
        </p:nvSpPr>
        <p:spPr>
          <a:xfrm>
            <a:off x="3556000" y="2590800"/>
            <a:ext cx="203200" cy="127000"/>
          </a:xfrm>
          <a:prstGeom prst="downArrow">
            <a:avLst/>
          </a:prstGeom>
          <a:solidFill>
            <a:srgbClr val="1E2761"/>
          </a:solidFill>
          <a:ln>
            <a:noFill/>
          </a:ln>
        </p:spPr>
        <p:txBody>
          <a:bodyPr/>
          <a:lstStyle/>
          <a:p>
            <a:endParaRPr lang="en-US"/>
          </a:p>
        </p:txBody>
      </p:sp>
      <p:sp>
        <p:nvSpPr>
          <p:cNvPr id="400" name="A3">
            <a:extLst>
              <a:ext uri="{FF2B5EF4-FFF2-40B4-BE49-F238E27FC236}">
                <a16:creationId xmlns:a16="http://schemas.microsoft.com/office/drawing/2014/main" id="{C056836D-E064-F725-E059-CF42A181C170}"/>
              </a:ext>
            </a:extLst>
          </p:cNvPr>
          <p:cNvSpPr/>
          <p:nvPr/>
        </p:nvSpPr>
        <p:spPr>
          <a:xfrm>
            <a:off x="3556000" y="3581400"/>
            <a:ext cx="203200" cy="127000"/>
          </a:xfrm>
          <a:prstGeom prst="downArrow">
            <a:avLst/>
          </a:prstGeom>
          <a:solidFill>
            <a:srgbClr val="1E2761"/>
          </a:solidFill>
          <a:ln>
            <a:noFill/>
          </a:ln>
        </p:spPr>
        <p:txBody>
          <a:bodyPr/>
          <a:lstStyle/>
          <a:p>
            <a:endParaRPr lang="en-US"/>
          </a:p>
        </p:txBody>
      </p:sp>
      <p:sp>
        <p:nvSpPr>
          <p:cNvPr id="6" name="A4">
            <a:extLst>
              <a:ext uri="{FF2B5EF4-FFF2-40B4-BE49-F238E27FC236}">
                <a16:creationId xmlns:a16="http://schemas.microsoft.com/office/drawing/2014/main" id="{D1691AE5-4F0E-4CAE-BD17-4FEEC0E29D52}"/>
              </a:ext>
            </a:extLst>
          </p:cNvPr>
          <p:cNvSpPr/>
          <p:nvPr/>
        </p:nvSpPr>
        <p:spPr>
          <a:xfrm>
            <a:off x="4241800" y="1308100"/>
            <a:ext cx="254000" cy="177800"/>
          </a:xfrm>
          <a:prstGeom prst="rightArrow">
            <a:avLst/>
          </a:prstGeom>
          <a:solidFill>
            <a:schemeClr val="bg1">
              <a:lumMod val="65000"/>
            </a:schemeClr>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AINFDATA">
            <a:extLst>
              <a:ext uri="{FF2B5EF4-FFF2-40B4-BE49-F238E27FC236}">
                <a16:creationId xmlns:a16="http://schemas.microsoft.com/office/drawing/2014/main" id="{90627A13-EACD-4F7B-A4E0-C0589AAF0E66}"/>
              </a:ext>
            </a:extLst>
          </p:cNvPr>
          <p:cNvSpPr/>
          <p:nvPr/>
        </p:nvSpPr>
        <p:spPr>
          <a:xfrm>
            <a:off x="6731000" y="1308100"/>
            <a:ext cx="330200" cy="177800"/>
          </a:xfrm>
          <a:prstGeom prst="rightArrow">
            <a:avLst/>
          </a:prstGeom>
          <a:solidFill>
            <a:srgbClr val="1E276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6001208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11"/>
          <p:cNvSpPr txBox="1"/>
          <p:nvPr/>
        </p:nvSpPr>
        <p:spPr>
          <a:xfrm>
            <a:off x="457200" y="127000"/>
            <a:ext cx="8229600" cy="406400"/>
          </a:xfrm>
          <a:prstGeom prst="rect">
            <a:avLst/>
          </a:prstGeom>
          <a:noFill/>
        </p:spPr>
        <p:txBody>
          <a:bodyPr wrap="square" lIns="0" tIns="0" rIns="0" bIns="0" anchor="ctr"/>
          <a:lstStyle/>
          <a:p>
            <a:pPr algn="l">
              <a:buNone/>
            </a:pPr>
            <a:r>
              <a:rPr lang="en-US" sz="2600" b="1" dirty="0">
                <a:solidFill>
                  <a:srgbClr val="1E2761"/>
                </a:solidFill>
                <a:latin typeface="Cambria"/>
              </a:rPr>
              <a:t>The Architecture Evolution — Step by Step</a:t>
            </a:r>
          </a:p>
        </p:txBody>
      </p:sp>
      <p:sp>
        <p:nvSpPr>
          <p:cNvPr id="11" name="L12"/>
          <p:cNvSpPr txBox="1"/>
          <p:nvPr/>
        </p:nvSpPr>
        <p:spPr>
          <a:xfrm>
            <a:off x="457200" y="571500"/>
            <a:ext cx="8229600" cy="203200"/>
          </a:xfrm>
          <a:prstGeom prst="rect">
            <a:avLst/>
          </a:prstGeom>
          <a:noFill/>
        </p:spPr>
        <p:txBody>
          <a:bodyPr wrap="square" lIns="0" tIns="0" rIns="0" bIns="0" anchor="ctr"/>
          <a:lstStyle/>
          <a:p>
            <a:pPr algn="l">
              <a:buNone/>
            </a:pPr>
            <a:r>
              <a:rPr lang="en-US" sz="1100" b="0" dirty="0">
                <a:solidFill>
                  <a:srgbClr val="334155"/>
                </a:solidFill>
                <a:latin typeface="Calibri"/>
              </a:rPr>
              <a:t>Guided, incremental change delivered via the </a:t>
            </a:r>
            <a:r>
              <a:rPr lang="en-US" sz="1100" b="1" dirty="0">
                <a:solidFill>
                  <a:srgbClr val="334155"/>
                </a:solidFill>
                <a:latin typeface="Calibri"/>
              </a:rPr>
              <a:t>Strangler-Fig pattern</a:t>
            </a:r>
          </a:p>
        </p:txBody>
      </p:sp>
      <p:sp>
        <p:nvSpPr>
          <p:cNvPr id="12" name="L13"/>
          <p:cNvSpPr txBox="1"/>
          <p:nvPr/>
        </p:nvSpPr>
        <p:spPr>
          <a:xfrm>
            <a:off x="0" y="746760"/>
            <a:ext cx="9144000" cy="228600"/>
          </a:xfrm>
          <a:prstGeom prst="rect">
            <a:avLst/>
          </a:prstGeom>
          <a:noFill/>
        </p:spPr>
        <p:txBody>
          <a:bodyPr wrap="square" lIns="0" tIns="0" rIns="0" bIns="0" rtlCol="0" anchor="ctr">
            <a:noAutofit/>
          </a:bodyPr>
          <a:lstStyle/>
          <a:p>
            <a:pPr algn="ctr">
              <a:buNone/>
            </a:pPr>
            <a:r>
              <a:rPr lang="en-US" sz="1000" b="1" dirty="0">
                <a:solidFill>
                  <a:srgbClr val="4A5578"/>
                </a:solidFill>
                <a:latin typeface="Calibri"/>
              </a:rPr>
              <a:t>THREE STRANGLER-FIG INCREMENTS  ·  GUARDED BY FITNESS FUNCTIONS</a:t>
            </a:r>
          </a:p>
        </p:txBody>
      </p:sp>
      <p:sp>
        <p:nvSpPr>
          <p:cNvPr id="13" name="L14"/>
          <p:cNvSpPr txBox="1"/>
          <p:nvPr/>
        </p:nvSpPr>
        <p:spPr>
          <a:xfrm>
            <a:off x="5969000" y="838200"/>
            <a:ext cx="2717800" cy="177800"/>
          </a:xfrm>
          <a:prstGeom prst="rect">
            <a:avLst/>
          </a:prstGeom>
          <a:noFill/>
        </p:spPr>
        <p:txBody>
          <a:bodyPr wrap="square" lIns="0" tIns="0" rIns="0" bIns="0" anchor="ctr"/>
          <a:lstStyle/>
          <a:p>
            <a:pPr algn="ctr">
              <a:buNone/>
            </a:pPr>
            <a:endParaRPr lang="en-US"/>
          </a:p>
        </p:txBody>
      </p:sp>
      <p:sp>
        <p:nvSpPr>
          <p:cNvPr id="31" name="L66"/>
          <p:cNvSpPr txBox="1"/>
          <p:nvPr/>
        </p:nvSpPr>
        <p:spPr>
          <a:xfrm>
            <a:off x="457200" y="4597400"/>
            <a:ext cx="8229600" cy="228600"/>
          </a:xfrm>
          <a:prstGeom prst="rect">
            <a:avLst/>
          </a:prstGeom>
          <a:noFill/>
        </p:spPr>
        <p:txBody>
          <a:bodyPr wrap="square" lIns="0" tIns="0" rIns="0" bIns="0" anchor="ctr"/>
          <a:lstStyle/>
          <a:p>
            <a:pPr algn="l">
              <a:buNone/>
            </a:pPr>
            <a:r>
              <a:rPr lang="en-US" sz="1100" b="0" dirty="0">
                <a:solidFill>
                  <a:srgbClr val="334155"/>
                </a:solidFill>
                <a:latin typeface="Calibri"/>
              </a:rPr>
              <a:t>Increment 1 adds VSA  ·  Increment 2 applies CA, keeps VSA  ·  Target: DDD + BDD  ·  fitness functions stay green, each step reversible</a:t>
            </a:r>
          </a:p>
        </p:txBody>
      </p:sp>
      <p:sp>
        <p:nvSpPr>
          <p:cNvPr id="600" name="Card0"/>
          <p:cNvSpPr/>
          <p:nvPr/>
        </p:nvSpPr>
        <p:spPr>
          <a:xfrm>
            <a:off x="457200" y="1168400"/>
            <a:ext cx="1828800" cy="3251200"/>
          </a:xfrm>
          <a:prstGeom prst="roundRect">
            <a:avLst>
              <a:gd name="adj" fmla="val 5000"/>
            </a:avLst>
          </a:prstGeom>
          <a:solidFill>
            <a:srgbClr val="FFFFFF"/>
          </a:solidFill>
          <a:ln w="12700">
            <a:solidFill>
              <a:srgbClr val="C7D2F0"/>
            </a:solidFill>
          </a:ln>
        </p:spPr>
        <p:txBody>
          <a:bodyPr rtlCol="0" anchor="ctr"/>
          <a:lstStyle/>
          <a:p>
            <a:pPr algn="ctr">
              <a:buNone/>
            </a:pPr>
            <a:endParaRPr lang="en-US"/>
          </a:p>
        </p:txBody>
      </p:sp>
      <p:sp>
        <p:nvSpPr>
          <p:cNvPr id="601" name="Name0"/>
          <p:cNvSpPr txBox="1"/>
          <p:nvPr/>
        </p:nvSpPr>
        <p:spPr>
          <a:xfrm>
            <a:off x="558800" y="1397000"/>
            <a:ext cx="1625600" cy="304800"/>
          </a:xfrm>
          <a:prstGeom prst="rect">
            <a:avLst/>
          </a:prstGeom>
          <a:noFill/>
        </p:spPr>
        <p:txBody>
          <a:bodyPr wrap="square" lIns="27432" tIns="9144" rIns="27432" bIns="9144" rtlCol="0" anchor="ctr"/>
          <a:lstStyle/>
          <a:p>
            <a:pPr algn="ctr">
              <a:buNone/>
            </a:pPr>
            <a:r>
              <a:rPr lang="en-US" sz="1400" b="1" dirty="0">
                <a:solidFill>
                  <a:srgbClr val="1E2761"/>
                </a:solidFill>
                <a:latin typeface="Calibri"/>
              </a:rPr>
              <a:t>Layered</a:t>
            </a:r>
          </a:p>
        </p:txBody>
      </p:sp>
      <p:sp>
        <p:nvSpPr>
          <p:cNvPr id="602" name="Sub0"/>
          <p:cNvSpPr txBox="1"/>
          <p:nvPr/>
        </p:nvSpPr>
        <p:spPr>
          <a:xfrm>
            <a:off x="558800" y="1701800"/>
            <a:ext cx="1625600" cy="190500"/>
          </a:xfrm>
          <a:prstGeom prst="rect">
            <a:avLst/>
          </a:prstGeom>
          <a:noFill/>
        </p:spPr>
        <p:txBody>
          <a:bodyPr wrap="square" lIns="27432" tIns="9144" rIns="27432" bIns="9144" rtlCol="0" anchor="ctr"/>
          <a:lstStyle/>
          <a:p>
            <a:pPr algn="ctr">
              <a:buNone/>
            </a:pPr>
            <a:r>
              <a:rPr lang="en-US" sz="900" b="0" i="1" dirty="0">
                <a:solidFill>
                  <a:srgbClr val="4A5578"/>
                </a:solidFill>
                <a:latin typeface="Calibri"/>
              </a:rPr>
              <a:t>Structural layers</a:t>
            </a:r>
          </a:p>
        </p:txBody>
      </p:sp>
      <p:sp>
        <p:nvSpPr>
          <p:cNvPr id="603" name="Trig0"/>
          <p:cNvSpPr txBox="1"/>
          <p:nvPr/>
        </p:nvSpPr>
        <p:spPr>
          <a:xfrm>
            <a:off x="558800" y="1943100"/>
            <a:ext cx="1625600" cy="889000"/>
          </a:xfrm>
          <a:prstGeom prst="rect">
            <a:avLst/>
          </a:prstGeom>
          <a:noFill/>
        </p:spPr>
        <p:txBody>
          <a:bodyPr wrap="square" lIns="27432" tIns="9144" rIns="27432" bIns="9144" rtlCol="0" anchor="t"/>
          <a:lstStyle/>
          <a:p>
            <a:pPr algn="ctr">
              <a:buNone/>
            </a:pPr>
            <a:r>
              <a:rPr lang="en-US" sz="800" b="1" spc="60" dirty="0">
                <a:solidFill>
                  <a:srgbClr val="4A5578"/>
                </a:solidFill>
                <a:latin typeface="Calibri"/>
              </a:rPr>
              <a:t>TRIGGER</a:t>
            </a:r>
          </a:p>
          <a:p>
            <a:pPr algn="ctr">
              <a:buNone/>
            </a:pPr>
            <a:r>
              <a:rPr lang="en-US" sz="900" b="0" dirty="0">
                <a:solidFill>
                  <a:srgbClr val="334155"/>
                </a:solidFill>
                <a:latin typeface="Calibri"/>
              </a:rPr>
              <a:t>Clear layer separation in one service — the starting point</a:t>
            </a:r>
          </a:p>
        </p:txBody>
      </p:sp>
      <p:sp>
        <p:nvSpPr>
          <p:cNvPr id="604" name="Fit0"/>
          <p:cNvSpPr txBox="1"/>
          <p:nvPr/>
        </p:nvSpPr>
        <p:spPr>
          <a:xfrm>
            <a:off x="558800" y="2857500"/>
            <a:ext cx="1625600" cy="939800"/>
          </a:xfrm>
          <a:prstGeom prst="rect">
            <a:avLst/>
          </a:prstGeom>
          <a:noFill/>
        </p:spPr>
        <p:txBody>
          <a:bodyPr wrap="square" lIns="27432" tIns="9144" rIns="27432" bIns="9144" rtlCol="0" anchor="t"/>
          <a:lstStyle/>
          <a:p>
            <a:pPr algn="ctr">
              <a:buNone/>
            </a:pPr>
            <a:r>
              <a:rPr lang="en-US" sz="800" b="1" spc="60" dirty="0">
                <a:solidFill>
                  <a:srgbClr val="0E7C86"/>
                </a:solidFill>
                <a:latin typeface="Calibri"/>
              </a:rPr>
              <a:t>FITNESS FUNCTION</a:t>
            </a:r>
          </a:p>
          <a:p>
            <a:pPr algn="ctr">
              <a:buNone/>
            </a:pPr>
            <a:r>
              <a:rPr lang="en-US" sz="900" b="0" dirty="0">
                <a:solidFill>
                  <a:srgbClr val="334155"/>
                </a:solidFill>
                <a:latin typeface="Calibri"/>
              </a:rPr>
              <a:t>Separation of concerns</a:t>
            </a:r>
          </a:p>
        </p:txBody>
      </p:sp>
      <p:sp>
        <p:nvSpPr>
          <p:cNvPr id="605" name="Pill0"/>
          <p:cNvSpPr/>
          <p:nvPr/>
        </p:nvSpPr>
        <p:spPr>
          <a:xfrm>
            <a:off x="749300" y="4089400"/>
            <a:ext cx="1244600" cy="254000"/>
          </a:xfrm>
          <a:prstGeom prst="roundRect">
            <a:avLst>
              <a:gd name="adj" fmla="val 50000"/>
            </a:avLst>
          </a:prstGeom>
          <a:solidFill>
            <a:srgbClr val="E2E8F0"/>
          </a:solidFill>
          <a:ln>
            <a:noFill/>
          </a:ln>
        </p:spPr>
        <p:txBody>
          <a:bodyPr lIns="0" tIns="0" rIns="0" bIns="0" rtlCol="0" anchor="ctr"/>
          <a:lstStyle/>
          <a:p>
            <a:pPr algn="ctr">
              <a:buNone/>
            </a:pPr>
            <a:r>
              <a:rPr lang="en-US" sz="850" b="1" dirty="0">
                <a:solidFill>
                  <a:srgbClr val="475569"/>
                </a:solidFill>
                <a:latin typeface="Calibri"/>
              </a:rPr>
              <a:t>BASELINE</a:t>
            </a:r>
          </a:p>
        </p:txBody>
      </p:sp>
      <p:sp>
        <p:nvSpPr>
          <p:cNvPr id="606" name="Chip0"/>
          <p:cNvSpPr/>
          <p:nvPr/>
        </p:nvSpPr>
        <p:spPr>
          <a:xfrm>
            <a:off x="1143000" y="939800"/>
            <a:ext cx="457200" cy="457200"/>
          </a:xfrm>
          <a:prstGeom prst="ellipse">
            <a:avLst/>
          </a:prstGeom>
          <a:solidFill>
            <a:srgbClr val="1E2761"/>
          </a:solidFill>
          <a:ln>
            <a:noFill/>
          </a:ln>
        </p:spPr>
        <p:txBody>
          <a:bodyPr lIns="0" tIns="0" rIns="0" bIns="0" rtlCol="0" anchor="ctr"/>
          <a:lstStyle/>
          <a:p>
            <a:pPr algn="ctr">
              <a:buNone/>
            </a:pPr>
            <a:r>
              <a:rPr lang="en-US" sz="1800" b="1" dirty="0">
                <a:solidFill>
                  <a:srgbClr val="FFFFFF"/>
                </a:solidFill>
                <a:latin typeface="Cambria"/>
              </a:rPr>
              <a:t>1</a:t>
            </a:r>
          </a:p>
        </p:txBody>
      </p:sp>
      <p:sp>
        <p:nvSpPr>
          <p:cNvPr id="607" name="Card1"/>
          <p:cNvSpPr/>
          <p:nvPr/>
        </p:nvSpPr>
        <p:spPr>
          <a:xfrm>
            <a:off x="2590800" y="1168400"/>
            <a:ext cx="1828800" cy="3251200"/>
          </a:xfrm>
          <a:prstGeom prst="roundRect">
            <a:avLst>
              <a:gd name="adj" fmla="val 5000"/>
            </a:avLst>
          </a:prstGeom>
          <a:solidFill>
            <a:srgbClr val="FFFFFF"/>
          </a:solidFill>
          <a:ln w="12700">
            <a:solidFill>
              <a:srgbClr val="C7D2F0"/>
            </a:solidFill>
          </a:ln>
        </p:spPr>
        <p:txBody>
          <a:bodyPr rtlCol="0" anchor="ctr"/>
          <a:lstStyle/>
          <a:p>
            <a:pPr algn="ctr">
              <a:buNone/>
            </a:pPr>
            <a:endParaRPr lang="en-US"/>
          </a:p>
        </p:txBody>
      </p:sp>
      <p:sp>
        <p:nvSpPr>
          <p:cNvPr id="608" name="Name1"/>
          <p:cNvSpPr txBox="1"/>
          <p:nvPr/>
        </p:nvSpPr>
        <p:spPr>
          <a:xfrm>
            <a:off x="2692400" y="1397000"/>
            <a:ext cx="1625600" cy="304800"/>
          </a:xfrm>
          <a:prstGeom prst="rect">
            <a:avLst/>
          </a:prstGeom>
          <a:noFill/>
        </p:spPr>
        <p:txBody>
          <a:bodyPr wrap="square" lIns="27432" tIns="9144" rIns="27432" bIns="9144" rtlCol="0" anchor="ctr"/>
          <a:lstStyle/>
          <a:p>
            <a:pPr algn="ctr">
              <a:buNone/>
            </a:pPr>
            <a:r>
              <a:rPr lang="en-US" sz="1400" b="1" dirty="0">
                <a:solidFill>
                  <a:srgbClr val="1E2761"/>
                </a:solidFill>
                <a:latin typeface="Calibri"/>
              </a:rPr>
              <a:t>Layered + VSA</a:t>
            </a:r>
          </a:p>
        </p:txBody>
      </p:sp>
      <p:sp>
        <p:nvSpPr>
          <p:cNvPr id="609" name="Sub1"/>
          <p:cNvSpPr txBox="1"/>
          <p:nvPr/>
        </p:nvSpPr>
        <p:spPr>
          <a:xfrm>
            <a:off x="2692400" y="1701800"/>
            <a:ext cx="1625600" cy="190500"/>
          </a:xfrm>
          <a:prstGeom prst="rect">
            <a:avLst/>
          </a:prstGeom>
          <a:noFill/>
        </p:spPr>
        <p:txBody>
          <a:bodyPr wrap="square" lIns="27432" tIns="9144" rIns="27432" bIns="9144" rtlCol="0" anchor="ctr"/>
          <a:lstStyle/>
          <a:p>
            <a:pPr algn="ctr">
              <a:buNone/>
            </a:pPr>
            <a:r>
              <a:rPr lang="en-US" sz="900" b="0" i="1" dirty="0">
                <a:solidFill>
                  <a:srgbClr val="4A5578"/>
                </a:solidFill>
                <a:latin typeface="Calibri"/>
              </a:rPr>
              <a:t>Sliced by capability</a:t>
            </a:r>
          </a:p>
        </p:txBody>
      </p:sp>
      <p:sp>
        <p:nvSpPr>
          <p:cNvPr id="610" name="Trig1"/>
          <p:cNvSpPr txBox="1"/>
          <p:nvPr/>
        </p:nvSpPr>
        <p:spPr>
          <a:xfrm>
            <a:off x="2692400" y="1943100"/>
            <a:ext cx="1625600" cy="889000"/>
          </a:xfrm>
          <a:prstGeom prst="rect">
            <a:avLst/>
          </a:prstGeom>
          <a:noFill/>
        </p:spPr>
        <p:txBody>
          <a:bodyPr wrap="square" lIns="27432" tIns="9144" rIns="27432" bIns="9144" rtlCol="0" anchor="t"/>
          <a:lstStyle/>
          <a:p>
            <a:pPr algn="ctr">
              <a:buNone/>
            </a:pPr>
            <a:r>
              <a:rPr lang="en-US" sz="800" b="1" spc="60" dirty="0">
                <a:solidFill>
                  <a:srgbClr val="4A5578"/>
                </a:solidFill>
                <a:latin typeface="Calibri"/>
              </a:rPr>
              <a:t>TRIGGER</a:t>
            </a:r>
          </a:p>
          <a:p>
            <a:pPr algn="ctr">
              <a:buNone/>
            </a:pPr>
            <a:r>
              <a:rPr lang="en-US" sz="900" b="0" dirty="0">
                <a:solidFill>
                  <a:srgbClr val="334155"/>
                </a:solidFill>
                <a:latin typeface="Calibri"/>
              </a:rPr>
              <a:t>Anemic Domain Models, Layers cut across features; changes ripple service-wide</a:t>
            </a:r>
          </a:p>
        </p:txBody>
      </p:sp>
      <p:sp>
        <p:nvSpPr>
          <p:cNvPr id="611" name="Fit1"/>
          <p:cNvSpPr txBox="1"/>
          <p:nvPr/>
        </p:nvSpPr>
        <p:spPr>
          <a:xfrm>
            <a:off x="2692400" y="2857500"/>
            <a:ext cx="1625600" cy="939800"/>
          </a:xfrm>
          <a:prstGeom prst="rect">
            <a:avLst/>
          </a:prstGeom>
          <a:noFill/>
        </p:spPr>
        <p:txBody>
          <a:bodyPr wrap="square" lIns="27432" tIns="9144" rIns="27432" bIns="9144" rtlCol="0" anchor="t"/>
          <a:lstStyle/>
          <a:p>
            <a:pPr algn="ctr">
              <a:buNone/>
            </a:pPr>
            <a:r>
              <a:rPr lang="en-US" sz="800" b="1" spc="60" dirty="0">
                <a:solidFill>
                  <a:srgbClr val="0E7C86"/>
                </a:solidFill>
                <a:latin typeface="Calibri"/>
              </a:rPr>
              <a:t>FITNESS FUNCTION</a:t>
            </a:r>
          </a:p>
          <a:p>
            <a:pPr algn="ctr">
              <a:buNone/>
            </a:pPr>
            <a:r>
              <a:rPr lang="en-US" sz="900" b="0" dirty="0">
                <a:solidFill>
                  <a:srgbClr val="334155"/>
                </a:solidFill>
                <a:latin typeface="Calibri"/>
              </a:rPr>
              <a:t>Feature modularity — one project per slice, changes stay local, Defined Domain Boundaries, High Cohesion</a:t>
            </a:r>
          </a:p>
        </p:txBody>
      </p:sp>
      <p:sp>
        <p:nvSpPr>
          <p:cNvPr id="612" name="Pill1"/>
          <p:cNvSpPr/>
          <p:nvPr/>
        </p:nvSpPr>
        <p:spPr>
          <a:xfrm>
            <a:off x="2806700" y="4089400"/>
            <a:ext cx="1397000" cy="254000"/>
          </a:xfrm>
          <a:prstGeom prst="roundRect">
            <a:avLst>
              <a:gd name="adj" fmla="val 50000"/>
            </a:avLst>
          </a:prstGeom>
          <a:solidFill>
            <a:srgbClr val="0E7C86"/>
          </a:solidFill>
          <a:ln>
            <a:noFill/>
          </a:ln>
        </p:spPr>
        <p:txBody>
          <a:bodyPr lIns="0" tIns="0" rIns="0" bIns="0" rtlCol="0" anchor="ctr"/>
          <a:lstStyle/>
          <a:p>
            <a:pPr algn="ctr">
              <a:buNone/>
            </a:pPr>
            <a:r>
              <a:rPr lang="en-US" sz="850" b="1" dirty="0">
                <a:solidFill>
                  <a:srgbClr val="FFFFFF"/>
                </a:solidFill>
                <a:latin typeface="Calibri"/>
              </a:rPr>
              <a:t>INCREMENT 1</a:t>
            </a:r>
          </a:p>
        </p:txBody>
      </p:sp>
      <p:sp>
        <p:nvSpPr>
          <p:cNvPr id="613" name="Chip1"/>
          <p:cNvSpPr/>
          <p:nvPr/>
        </p:nvSpPr>
        <p:spPr>
          <a:xfrm>
            <a:off x="3276600" y="939800"/>
            <a:ext cx="457200" cy="457200"/>
          </a:xfrm>
          <a:prstGeom prst="ellipse">
            <a:avLst/>
          </a:prstGeom>
          <a:solidFill>
            <a:srgbClr val="1E2761"/>
          </a:solidFill>
          <a:ln>
            <a:noFill/>
          </a:ln>
        </p:spPr>
        <p:txBody>
          <a:bodyPr lIns="0" tIns="0" rIns="0" bIns="0" rtlCol="0" anchor="ctr"/>
          <a:lstStyle/>
          <a:p>
            <a:pPr algn="ctr">
              <a:buNone/>
            </a:pPr>
            <a:r>
              <a:rPr lang="en-US" sz="1800" b="1" dirty="0">
                <a:solidFill>
                  <a:srgbClr val="FFFFFF"/>
                </a:solidFill>
                <a:latin typeface="Cambria"/>
              </a:rPr>
              <a:t>2</a:t>
            </a:r>
          </a:p>
        </p:txBody>
      </p:sp>
      <p:sp>
        <p:nvSpPr>
          <p:cNvPr id="614" name="Card2"/>
          <p:cNvSpPr/>
          <p:nvPr/>
        </p:nvSpPr>
        <p:spPr>
          <a:xfrm>
            <a:off x="4724400" y="1168400"/>
            <a:ext cx="1828800" cy="3251200"/>
          </a:xfrm>
          <a:prstGeom prst="roundRect">
            <a:avLst>
              <a:gd name="adj" fmla="val 5000"/>
            </a:avLst>
          </a:prstGeom>
          <a:solidFill>
            <a:srgbClr val="FFFFFF"/>
          </a:solidFill>
          <a:ln w="12700">
            <a:solidFill>
              <a:srgbClr val="C7D2F0"/>
            </a:solidFill>
          </a:ln>
        </p:spPr>
        <p:txBody>
          <a:bodyPr rtlCol="0" anchor="ctr"/>
          <a:lstStyle/>
          <a:p>
            <a:pPr algn="ctr">
              <a:buNone/>
            </a:pPr>
            <a:endParaRPr lang="en-US"/>
          </a:p>
        </p:txBody>
      </p:sp>
      <p:sp>
        <p:nvSpPr>
          <p:cNvPr id="615" name="Name2"/>
          <p:cNvSpPr txBox="1"/>
          <p:nvPr/>
        </p:nvSpPr>
        <p:spPr>
          <a:xfrm>
            <a:off x="4826000" y="1397000"/>
            <a:ext cx="1625600" cy="304800"/>
          </a:xfrm>
          <a:prstGeom prst="rect">
            <a:avLst/>
          </a:prstGeom>
          <a:noFill/>
        </p:spPr>
        <p:txBody>
          <a:bodyPr wrap="square" lIns="27432" tIns="9144" rIns="27432" bIns="9144" rtlCol="0" anchor="ctr"/>
          <a:lstStyle/>
          <a:p>
            <a:pPr algn="ctr">
              <a:buNone/>
            </a:pPr>
            <a:r>
              <a:rPr lang="en-US" sz="1400" b="1" dirty="0">
                <a:solidFill>
                  <a:srgbClr val="1E2761"/>
                </a:solidFill>
                <a:latin typeface="Calibri"/>
              </a:rPr>
              <a:t>CA + VSA</a:t>
            </a:r>
          </a:p>
        </p:txBody>
      </p:sp>
      <p:sp>
        <p:nvSpPr>
          <p:cNvPr id="616" name="Sub2"/>
          <p:cNvSpPr txBox="1"/>
          <p:nvPr/>
        </p:nvSpPr>
        <p:spPr>
          <a:xfrm>
            <a:off x="4826000" y="1701800"/>
            <a:ext cx="1625600" cy="190500"/>
          </a:xfrm>
          <a:prstGeom prst="rect">
            <a:avLst/>
          </a:prstGeom>
          <a:noFill/>
        </p:spPr>
        <p:txBody>
          <a:bodyPr wrap="square" lIns="27432" tIns="9144" rIns="27432" bIns="9144" rtlCol="0" anchor="ctr"/>
          <a:lstStyle/>
          <a:p>
            <a:pPr algn="ctr">
              <a:buNone/>
            </a:pPr>
            <a:r>
              <a:rPr lang="en-US" sz="900" b="0" i="1" dirty="0">
                <a:solidFill>
                  <a:srgbClr val="4A5578"/>
                </a:solidFill>
                <a:latin typeface="Calibri"/>
              </a:rPr>
              <a:t>Clean Architecture · keeps VSA</a:t>
            </a:r>
          </a:p>
        </p:txBody>
      </p:sp>
      <p:sp>
        <p:nvSpPr>
          <p:cNvPr id="617" name="Trig2"/>
          <p:cNvSpPr txBox="1"/>
          <p:nvPr/>
        </p:nvSpPr>
        <p:spPr>
          <a:xfrm>
            <a:off x="4826000" y="1943100"/>
            <a:ext cx="1625600" cy="889000"/>
          </a:xfrm>
          <a:prstGeom prst="rect">
            <a:avLst/>
          </a:prstGeom>
          <a:noFill/>
        </p:spPr>
        <p:txBody>
          <a:bodyPr wrap="square" lIns="27432" tIns="9144" rIns="27432" bIns="9144" rtlCol="0" anchor="t"/>
          <a:lstStyle/>
          <a:p>
            <a:pPr algn="ctr">
              <a:buNone/>
            </a:pPr>
            <a:r>
              <a:rPr lang="en-US" sz="800" b="1" spc="60" dirty="0">
                <a:solidFill>
                  <a:srgbClr val="4A5578"/>
                </a:solidFill>
                <a:latin typeface="Calibri"/>
              </a:rPr>
              <a:t>TRIGGER</a:t>
            </a:r>
          </a:p>
          <a:p>
            <a:pPr algn="ctr">
              <a:buNone/>
            </a:pPr>
            <a:r>
              <a:rPr lang="en-US" sz="900" b="0" dirty="0">
                <a:solidFill>
                  <a:srgbClr val="334155"/>
                </a:solidFill>
                <a:latin typeface="Calibri"/>
              </a:rPr>
              <a:t>Slices need a rich domain core, decoupled from infrastructure</a:t>
            </a:r>
          </a:p>
        </p:txBody>
      </p:sp>
      <p:sp>
        <p:nvSpPr>
          <p:cNvPr id="618" name="Fit2"/>
          <p:cNvSpPr txBox="1"/>
          <p:nvPr/>
        </p:nvSpPr>
        <p:spPr>
          <a:xfrm>
            <a:off x="4826000" y="2857500"/>
            <a:ext cx="1625600" cy="939800"/>
          </a:xfrm>
          <a:prstGeom prst="rect">
            <a:avLst/>
          </a:prstGeom>
          <a:noFill/>
        </p:spPr>
        <p:txBody>
          <a:bodyPr wrap="square" lIns="27432" tIns="9144" rIns="27432" bIns="9144" rtlCol="0" anchor="t"/>
          <a:lstStyle/>
          <a:p>
            <a:pPr algn="ctr">
              <a:buNone/>
            </a:pPr>
            <a:r>
              <a:rPr lang="en-US" sz="800" b="1" spc="60" dirty="0">
                <a:solidFill>
                  <a:srgbClr val="0E7C86"/>
                </a:solidFill>
                <a:latin typeface="Calibri"/>
              </a:rPr>
              <a:t>FITNESS FUNCTION</a:t>
            </a:r>
          </a:p>
          <a:p>
            <a:pPr algn="ctr">
              <a:buNone/>
            </a:pPr>
            <a:r>
              <a:rPr lang="en-US" sz="900" b="0" dirty="0">
                <a:solidFill>
                  <a:srgbClr val="334155"/>
                </a:solidFill>
                <a:latin typeface="Calibri"/>
              </a:rPr>
              <a:t>Domain centric design &amp; testability · bounded-context autonomy · low coupling (⊗)</a:t>
            </a:r>
          </a:p>
        </p:txBody>
      </p:sp>
      <p:sp>
        <p:nvSpPr>
          <p:cNvPr id="619" name="Pill2"/>
          <p:cNvSpPr/>
          <p:nvPr/>
        </p:nvSpPr>
        <p:spPr>
          <a:xfrm>
            <a:off x="4940300" y="4089400"/>
            <a:ext cx="1397000" cy="254000"/>
          </a:xfrm>
          <a:prstGeom prst="roundRect">
            <a:avLst>
              <a:gd name="adj" fmla="val 50000"/>
            </a:avLst>
          </a:prstGeom>
          <a:solidFill>
            <a:srgbClr val="1E2761"/>
          </a:solidFill>
          <a:ln>
            <a:noFill/>
          </a:ln>
        </p:spPr>
        <p:txBody>
          <a:bodyPr lIns="0" tIns="0" rIns="0" bIns="0" rtlCol="0" anchor="ctr"/>
          <a:lstStyle/>
          <a:p>
            <a:pPr algn="ctr">
              <a:buNone/>
            </a:pPr>
            <a:r>
              <a:rPr lang="en-US" sz="850" b="1" dirty="0">
                <a:solidFill>
                  <a:srgbClr val="FFFFFF"/>
                </a:solidFill>
                <a:latin typeface="Calibri"/>
              </a:rPr>
              <a:t>INCREMENT 2</a:t>
            </a:r>
          </a:p>
        </p:txBody>
      </p:sp>
      <p:sp>
        <p:nvSpPr>
          <p:cNvPr id="620" name="Chip2"/>
          <p:cNvSpPr/>
          <p:nvPr/>
        </p:nvSpPr>
        <p:spPr>
          <a:xfrm>
            <a:off x="5410200" y="939800"/>
            <a:ext cx="457200" cy="457200"/>
          </a:xfrm>
          <a:prstGeom prst="ellipse">
            <a:avLst/>
          </a:prstGeom>
          <a:solidFill>
            <a:srgbClr val="1E2761"/>
          </a:solidFill>
          <a:ln>
            <a:noFill/>
          </a:ln>
        </p:spPr>
        <p:txBody>
          <a:bodyPr lIns="0" tIns="0" rIns="0" bIns="0" rtlCol="0" anchor="ctr"/>
          <a:lstStyle/>
          <a:p>
            <a:pPr algn="ctr">
              <a:buNone/>
            </a:pPr>
            <a:r>
              <a:rPr lang="en-US" sz="1800" b="1" dirty="0">
                <a:solidFill>
                  <a:srgbClr val="FFFFFF"/>
                </a:solidFill>
                <a:latin typeface="Cambria"/>
              </a:rPr>
              <a:t>3</a:t>
            </a:r>
          </a:p>
        </p:txBody>
      </p:sp>
      <p:sp>
        <p:nvSpPr>
          <p:cNvPr id="621" name="Arr0"/>
          <p:cNvSpPr/>
          <p:nvPr/>
        </p:nvSpPr>
        <p:spPr>
          <a:xfrm>
            <a:off x="2311400" y="2628900"/>
            <a:ext cx="254000" cy="330200"/>
          </a:xfrm>
          <a:prstGeom prst="rightArrow">
            <a:avLst/>
          </a:prstGeom>
          <a:solidFill>
            <a:srgbClr val="1E2761"/>
          </a:solidFill>
          <a:ln>
            <a:noFill/>
          </a:ln>
        </p:spPr>
        <p:txBody>
          <a:bodyPr rtlCol="0" anchor="ctr"/>
          <a:lstStyle/>
          <a:p>
            <a:pPr algn="ctr">
              <a:buNone/>
            </a:pPr>
            <a:endParaRPr lang="en-US"/>
          </a:p>
        </p:txBody>
      </p:sp>
      <p:sp>
        <p:nvSpPr>
          <p:cNvPr id="622" name="Arr1"/>
          <p:cNvSpPr/>
          <p:nvPr/>
        </p:nvSpPr>
        <p:spPr>
          <a:xfrm>
            <a:off x="4445000" y="2628900"/>
            <a:ext cx="254000" cy="330200"/>
          </a:xfrm>
          <a:prstGeom prst="rightArrow">
            <a:avLst/>
          </a:prstGeom>
          <a:solidFill>
            <a:srgbClr val="1E2761"/>
          </a:solidFill>
          <a:ln>
            <a:noFill/>
          </a:ln>
        </p:spPr>
        <p:txBody>
          <a:bodyPr rtlCol="0" anchor="ctr"/>
          <a:lstStyle/>
          <a:p>
            <a:pPr algn="ctr">
              <a:buNone/>
            </a:pPr>
            <a:endParaRPr lang="en-US"/>
          </a:p>
        </p:txBody>
      </p:sp>
      <p:sp>
        <p:nvSpPr>
          <p:cNvPr id="700" name="Card3"/>
          <p:cNvSpPr/>
          <p:nvPr/>
        </p:nvSpPr>
        <p:spPr>
          <a:xfrm>
            <a:off x="6858000" y="1168400"/>
            <a:ext cx="1828800" cy="3251200"/>
          </a:xfrm>
          <a:prstGeom prst="roundRect">
            <a:avLst>
              <a:gd name="adj" fmla="val 5000"/>
            </a:avLst>
          </a:prstGeom>
          <a:solidFill>
            <a:srgbClr val="FFFFFF"/>
          </a:solidFill>
          <a:ln w="12700">
            <a:solidFill>
              <a:srgbClr val="C7D2F0"/>
            </a:solidFill>
          </a:ln>
        </p:spPr>
        <p:txBody>
          <a:bodyPr rtlCol="0" anchor="ctr"/>
          <a:lstStyle/>
          <a:p>
            <a:pPr algn="ctr">
              <a:buNone/>
            </a:pPr>
            <a:endParaRPr lang="en-US"/>
          </a:p>
        </p:txBody>
      </p:sp>
      <p:sp>
        <p:nvSpPr>
          <p:cNvPr id="701" name="Name3"/>
          <p:cNvSpPr txBox="1"/>
          <p:nvPr/>
        </p:nvSpPr>
        <p:spPr>
          <a:xfrm>
            <a:off x="6959600" y="1397000"/>
            <a:ext cx="1625600" cy="304800"/>
          </a:xfrm>
          <a:prstGeom prst="rect">
            <a:avLst/>
          </a:prstGeom>
          <a:noFill/>
        </p:spPr>
        <p:txBody>
          <a:bodyPr wrap="square" lIns="27432" tIns="9144" rIns="27432" bIns="9144" rtlCol="0" anchor="ctr"/>
          <a:lstStyle/>
          <a:p>
            <a:pPr algn="ctr">
              <a:buNone/>
            </a:pPr>
            <a:r>
              <a:rPr lang="en-US" sz="1400" b="1" dirty="0">
                <a:solidFill>
                  <a:srgbClr val="1E2761"/>
                </a:solidFill>
                <a:latin typeface="Calibri"/>
              </a:rPr>
              <a:t>DDD + BDD</a:t>
            </a:r>
          </a:p>
        </p:txBody>
      </p:sp>
      <p:sp>
        <p:nvSpPr>
          <p:cNvPr id="702" name="Sub3"/>
          <p:cNvSpPr txBox="1"/>
          <p:nvPr/>
        </p:nvSpPr>
        <p:spPr>
          <a:xfrm>
            <a:off x="6959600" y="1701800"/>
            <a:ext cx="1625600" cy="190500"/>
          </a:xfrm>
          <a:prstGeom prst="rect">
            <a:avLst/>
          </a:prstGeom>
          <a:noFill/>
        </p:spPr>
        <p:txBody>
          <a:bodyPr wrap="square" lIns="27432" tIns="9144" rIns="27432" bIns="9144" rtlCol="0" anchor="ctr"/>
          <a:lstStyle/>
          <a:p>
            <a:pPr algn="ctr">
              <a:buNone/>
            </a:pPr>
            <a:r>
              <a:rPr lang="en-US" sz="900" b="0" i="1" dirty="0">
                <a:solidFill>
                  <a:srgbClr val="4A5578"/>
                </a:solidFill>
                <a:latin typeface="Calibri"/>
              </a:rPr>
              <a:t>Modeled domain · BDD</a:t>
            </a:r>
          </a:p>
        </p:txBody>
      </p:sp>
      <p:sp>
        <p:nvSpPr>
          <p:cNvPr id="703" name="Trig3"/>
          <p:cNvSpPr txBox="1"/>
          <p:nvPr/>
        </p:nvSpPr>
        <p:spPr>
          <a:xfrm>
            <a:off x="6959600" y="1943100"/>
            <a:ext cx="1625600" cy="889000"/>
          </a:xfrm>
          <a:prstGeom prst="rect">
            <a:avLst/>
          </a:prstGeom>
          <a:noFill/>
        </p:spPr>
        <p:txBody>
          <a:bodyPr wrap="square" lIns="27432" tIns="9144" rIns="27432" bIns="9144" rtlCol="0" anchor="t"/>
          <a:lstStyle/>
          <a:p>
            <a:pPr algn="ctr">
              <a:buNone/>
            </a:pPr>
            <a:r>
              <a:rPr lang="en-US" sz="800" b="1" spc="60" dirty="0">
                <a:solidFill>
                  <a:srgbClr val="4A5578"/>
                </a:solidFill>
                <a:latin typeface="Calibri"/>
              </a:rPr>
              <a:t>TRIGGER</a:t>
            </a:r>
          </a:p>
          <a:p>
            <a:pPr algn="ctr">
              <a:buNone/>
            </a:pPr>
            <a:r>
              <a:rPr lang="en-US" sz="900" b="0" dirty="0">
                <a:solidFill>
                  <a:srgbClr val="334155"/>
                </a:solidFill>
                <a:latin typeface="Calibri"/>
              </a:rPr>
              <a:t>Rich Domain Models, Domain rules need a shared language and executable, verified behavior</a:t>
            </a:r>
          </a:p>
        </p:txBody>
      </p:sp>
      <p:sp>
        <p:nvSpPr>
          <p:cNvPr id="704" name="Fit3"/>
          <p:cNvSpPr txBox="1"/>
          <p:nvPr/>
        </p:nvSpPr>
        <p:spPr>
          <a:xfrm>
            <a:off x="6959600" y="2857500"/>
            <a:ext cx="1625600" cy="939800"/>
          </a:xfrm>
          <a:prstGeom prst="rect">
            <a:avLst/>
          </a:prstGeom>
          <a:noFill/>
        </p:spPr>
        <p:txBody>
          <a:bodyPr wrap="square" lIns="27432" tIns="9144" rIns="27432" bIns="9144" rtlCol="0" anchor="t"/>
          <a:lstStyle/>
          <a:p>
            <a:pPr algn="ctr">
              <a:buNone/>
            </a:pPr>
            <a:r>
              <a:rPr lang="en-US" sz="800" b="1" spc="60" dirty="0">
                <a:solidFill>
                  <a:srgbClr val="0E7C86"/>
                </a:solidFill>
                <a:latin typeface="Calibri"/>
              </a:rPr>
              <a:t>FITNESS FUNCTION</a:t>
            </a:r>
          </a:p>
          <a:p>
            <a:pPr algn="ctr">
              <a:buNone/>
            </a:pPr>
            <a:r>
              <a:rPr lang="en-US" sz="900" b="0" dirty="0">
                <a:solidFill>
                  <a:srgbClr val="334155"/>
                </a:solidFill>
                <a:latin typeface="Calibri"/>
              </a:rPr>
              <a:t>Ubiquitous language · behavior verified by BDD · living documentation</a:t>
            </a:r>
          </a:p>
        </p:txBody>
      </p:sp>
      <p:sp>
        <p:nvSpPr>
          <p:cNvPr id="705" name="Pill3"/>
          <p:cNvSpPr/>
          <p:nvPr/>
        </p:nvSpPr>
        <p:spPr>
          <a:xfrm>
            <a:off x="7200900" y="4089400"/>
            <a:ext cx="1143000" cy="254000"/>
          </a:xfrm>
          <a:prstGeom prst="roundRect">
            <a:avLst>
              <a:gd name="adj" fmla="val 50000"/>
            </a:avLst>
          </a:prstGeom>
          <a:solidFill>
            <a:srgbClr val="1E2761"/>
          </a:solidFill>
          <a:ln>
            <a:noFill/>
          </a:ln>
        </p:spPr>
        <p:txBody>
          <a:bodyPr lIns="0" tIns="0" rIns="0" bIns="0" rtlCol="0" anchor="ctr"/>
          <a:lstStyle/>
          <a:p>
            <a:pPr algn="ctr">
              <a:buNone/>
            </a:pPr>
            <a:r>
              <a:rPr lang="en-US" sz="850" b="1" dirty="0">
                <a:solidFill>
                  <a:srgbClr val="FFFFFF"/>
                </a:solidFill>
                <a:latin typeface="Calibri"/>
              </a:rPr>
              <a:t>TARGET</a:t>
            </a:r>
          </a:p>
        </p:txBody>
      </p:sp>
      <p:sp>
        <p:nvSpPr>
          <p:cNvPr id="706" name="Chip3"/>
          <p:cNvSpPr/>
          <p:nvPr/>
        </p:nvSpPr>
        <p:spPr>
          <a:xfrm>
            <a:off x="7543800" y="939800"/>
            <a:ext cx="457200" cy="457200"/>
          </a:xfrm>
          <a:prstGeom prst="ellipse">
            <a:avLst/>
          </a:prstGeom>
          <a:solidFill>
            <a:srgbClr val="1E2761"/>
          </a:solidFill>
          <a:ln>
            <a:noFill/>
          </a:ln>
        </p:spPr>
        <p:txBody>
          <a:bodyPr lIns="0" tIns="0" rIns="0" bIns="0" rtlCol="0" anchor="ctr"/>
          <a:lstStyle/>
          <a:p>
            <a:pPr algn="ctr">
              <a:buNone/>
            </a:pPr>
            <a:r>
              <a:rPr lang="en-US" sz="1800" b="1" dirty="0">
                <a:solidFill>
                  <a:srgbClr val="FFFFFF"/>
                </a:solidFill>
                <a:latin typeface="Cambria"/>
              </a:rPr>
              <a:t>4</a:t>
            </a:r>
          </a:p>
        </p:txBody>
      </p:sp>
      <p:sp>
        <p:nvSpPr>
          <p:cNvPr id="707" name="Arr2"/>
          <p:cNvSpPr/>
          <p:nvPr/>
        </p:nvSpPr>
        <p:spPr>
          <a:xfrm>
            <a:off x="6578600" y="2628900"/>
            <a:ext cx="254000" cy="330200"/>
          </a:xfrm>
          <a:prstGeom prst="rightArrow">
            <a:avLst/>
          </a:prstGeom>
          <a:solidFill>
            <a:srgbClr val="1E2761"/>
          </a:solidFill>
          <a:ln>
            <a:noFill/>
          </a:ln>
        </p:spPr>
        <p:txBody>
          <a:bodyPr rtlCol="0" anchor="ctr"/>
          <a:lstStyle/>
          <a:p>
            <a:pPr algn="ctr">
              <a:buNone/>
            </a:pPr>
            <a:endParaRPr lang="en-US"/>
          </a:p>
        </p:txBody>
      </p:sp>
    </p:spTree>
    <p:extLst>
      <p:ext uri="{BB962C8B-B14F-4D97-AF65-F5344CB8AC3E}">
        <p14:creationId xmlns:p14="http://schemas.microsoft.com/office/powerpoint/2010/main" val="26967866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L11"/>
          <p:cNvSpPr txBox="1"/>
          <p:nvPr/>
        </p:nvSpPr>
        <p:spPr>
          <a:xfrm>
            <a:off x="457200" y="127000"/>
            <a:ext cx="8229600" cy="406400"/>
          </a:xfrm>
          <a:prstGeom prst="rect">
            <a:avLst/>
          </a:prstGeom>
          <a:noFill/>
        </p:spPr>
        <p:txBody>
          <a:bodyPr wrap="square" lIns="0" tIns="0" rIns="0" bIns="0" anchor="t">
            <a:spAutoFit/>
          </a:bodyPr>
          <a:lstStyle/>
          <a:p>
            <a:pPr algn="l">
              <a:buNone/>
            </a:pPr>
            <a:r>
              <a:rPr lang="en-US" sz="2600" b="1" dirty="0">
                <a:solidFill>
                  <a:srgbClr val="1E2761"/>
                </a:solidFill>
                <a:latin typeface="Cambria"/>
              </a:rPr>
              <a:t>Why the Proposed Architecture Is Better</a:t>
            </a:r>
          </a:p>
        </p:txBody>
      </p:sp>
      <p:sp>
        <p:nvSpPr>
          <p:cNvPr id="101" name="L12"/>
          <p:cNvSpPr txBox="1"/>
          <p:nvPr/>
        </p:nvSpPr>
        <p:spPr>
          <a:xfrm>
            <a:off x="457200" y="571500"/>
            <a:ext cx="8229600" cy="169277"/>
          </a:xfrm>
          <a:prstGeom prst="rect">
            <a:avLst/>
          </a:prstGeom>
          <a:noFill/>
        </p:spPr>
        <p:txBody>
          <a:bodyPr wrap="square" lIns="0" tIns="0" rIns="0" bIns="0" anchor="t">
            <a:spAutoFit/>
          </a:bodyPr>
          <a:lstStyle/>
          <a:p>
            <a:pPr algn="l">
              <a:buNone/>
            </a:pPr>
            <a:r>
              <a:rPr lang="en-US" sz="1100" b="0" dirty="0">
                <a:solidFill>
                  <a:srgbClr val="334155"/>
                </a:solidFill>
                <a:latin typeface="Calibri"/>
              </a:rPr>
              <a:t>Modular monolith with CA + VSA vs. the N-Tiered Layered Architecture </a:t>
            </a:r>
          </a:p>
        </p:txBody>
      </p:sp>
      <p:sp>
        <p:nvSpPr>
          <p:cNvPr id="102" name="CARD0"/>
          <p:cNvSpPr/>
          <p:nvPr/>
        </p:nvSpPr>
        <p:spPr>
          <a:xfrm>
            <a:off x="457200" y="914400"/>
            <a:ext cx="3962400" cy="1549400"/>
          </a:xfrm>
          <a:prstGeom prst="roundRect">
            <a:avLst>
              <a:gd name="adj" fmla="val 6000"/>
            </a:avLst>
          </a:prstGeom>
          <a:solidFill>
            <a:srgbClr val="F8FAFC"/>
          </a:solidFill>
          <a:ln w="9525">
            <a:solidFill>
              <a:srgbClr val="CBD5E1"/>
            </a:solidFill>
          </a:ln>
        </p:spPr>
        <p:txBody>
          <a:bodyPr/>
          <a:lstStyle/>
          <a:p>
            <a:pPr>
              <a:buNone/>
            </a:pPr>
            <a:endParaRPr lang="en-US"/>
          </a:p>
        </p:txBody>
      </p:sp>
      <p:sp>
        <p:nvSpPr>
          <p:cNvPr id="103" name="CH0"/>
          <p:cNvSpPr/>
          <p:nvPr/>
        </p:nvSpPr>
        <p:spPr>
          <a:xfrm>
            <a:off x="457200" y="914400"/>
            <a:ext cx="3962400" cy="279400"/>
          </a:xfrm>
          <a:prstGeom prst="rect">
            <a:avLst/>
          </a:prstGeom>
          <a:solidFill>
            <a:srgbClr val="1E2761"/>
          </a:solidFill>
          <a:ln>
            <a:noFill/>
          </a:ln>
        </p:spPr>
        <p:txBody>
          <a:bodyPr/>
          <a:lstStyle/>
          <a:p>
            <a:pPr>
              <a:buNone/>
            </a:pPr>
            <a:endParaRPr lang="en-US"/>
          </a:p>
        </p:txBody>
      </p:sp>
      <p:sp>
        <p:nvSpPr>
          <p:cNvPr id="104" name="CT0"/>
          <p:cNvSpPr txBox="1"/>
          <p:nvPr/>
        </p:nvSpPr>
        <p:spPr>
          <a:xfrm>
            <a:off x="584200" y="977900"/>
            <a:ext cx="3708400" cy="177800"/>
          </a:xfrm>
          <a:prstGeom prst="rect">
            <a:avLst/>
          </a:prstGeom>
          <a:noFill/>
        </p:spPr>
        <p:txBody>
          <a:bodyPr wrap="square" lIns="0" tIns="0" rIns="0" bIns="0" anchor="t">
            <a:spAutoFit/>
          </a:bodyPr>
          <a:lstStyle/>
          <a:p>
            <a:pPr algn="l">
              <a:buNone/>
            </a:pPr>
            <a:r>
              <a:rPr lang="en-US" sz="1100" b="1" dirty="0">
                <a:solidFill>
                  <a:srgbClr val="FFFFFF"/>
                </a:solidFill>
                <a:latin typeface="Calibri"/>
              </a:rPr>
              <a:t>Domain Boundaries, Not Technical Concerns</a:t>
            </a:r>
          </a:p>
        </p:txBody>
      </p:sp>
      <p:sp>
        <p:nvSpPr>
          <p:cNvPr id="105" name="CB0"/>
          <p:cNvSpPr txBox="1"/>
          <p:nvPr/>
        </p:nvSpPr>
        <p:spPr>
          <a:xfrm>
            <a:off x="584200" y="1295400"/>
            <a:ext cx="3708400" cy="1092200"/>
          </a:xfrm>
          <a:prstGeom prst="rect">
            <a:avLst/>
          </a:prstGeom>
          <a:noFill/>
        </p:spPr>
        <p:txBody>
          <a:bodyPr wrap="square" lIns="0" tIns="0" rIns="0" bIns="0" anchor="t">
            <a:spAutoFit/>
          </a:bodyPr>
          <a:lstStyle/>
          <a:p>
            <a:pPr marL="127000" indent="-127000" algn="l">
              <a:lnSpc>
                <a:spcPct val="100000"/>
              </a:lnSpc>
              <a:spcBef>
                <a:spcPts val="400"/>
              </a:spcBef>
              <a:buFont typeface="Arial"/>
              <a:buChar char="•"/>
            </a:pPr>
            <a:r>
              <a:rPr lang="en-US" sz="1000" dirty="0">
                <a:solidFill>
                  <a:srgbClr val="334155"/>
                </a:solidFill>
                <a:latin typeface="Calibri"/>
              </a:rPr>
              <a:t>Today: layers split by technology - one feature edits every layer (low cohesion, high coupling)</a:t>
            </a:r>
          </a:p>
          <a:p>
            <a:pPr marL="127000" indent="-127000" algn="l">
              <a:lnSpc>
                <a:spcPct val="100000"/>
              </a:lnSpc>
              <a:spcBef>
                <a:spcPts val="400"/>
              </a:spcBef>
              <a:buFont typeface="Arial"/>
              <a:buChar char="•"/>
            </a:pPr>
            <a:r>
              <a:rPr lang="en-US" sz="1000" dirty="0">
                <a:solidFill>
                  <a:srgbClr val="334155"/>
                </a:solidFill>
                <a:latin typeface="Calibri"/>
              </a:rPr>
              <a:t>Proposed: a vertical slice per business capability - the change stays in one place</a:t>
            </a:r>
          </a:p>
          <a:p>
            <a:pPr marL="127000" indent="-127000" algn="l">
              <a:lnSpc>
                <a:spcPct val="100000"/>
              </a:lnSpc>
              <a:spcBef>
                <a:spcPts val="400"/>
              </a:spcBef>
              <a:buFont typeface="Arial"/>
              <a:buChar char="•"/>
            </a:pPr>
            <a:r>
              <a:rPr lang="en-US" sz="1000" dirty="0">
                <a:solidFill>
                  <a:srgbClr val="334155"/>
                </a:solidFill>
                <a:latin typeface="Calibri"/>
              </a:rPr>
              <a:t>Cohesion follows the domain; coupling is pushed to explicit, reviewable seams</a:t>
            </a:r>
          </a:p>
        </p:txBody>
      </p:sp>
      <p:sp>
        <p:nvSpPr>
          <p:cNvPr id="106" name="CARD1"/>
          <p:cNvSpPr/>
          <p:nvPr/>
        </p:nvSpPr>
        <p:spPr>
          <a:xfrm>
            <a:off x="4724400" y="914400"/>
            <a:ext cx="3962400" cy="1549400"/>
          </a:xfrm>
          <a:prstGeom prst="roundRect">
            <a:avLst>
              <a:gd name="adj" fmla="val 6000"/>
            </a:avLst>
          </a:prstGeom>
          <a:solidFill>
            <a:srgbClr val="F8FAFC"/>
          </a:solidFill>
          <a:ln w="9525">
            <a:solidFill>
              <a:srgbClr val="CBD5E1"/>
            </a:solidFill>
          </a:ln>
        </p:spPr>
        <p:txBody>
          <a:bodyPr/>
          <a:lstStyle/>
          <a:p>
            <a:pPr>
              <a:buNone/>
            </a:pPr>
            <a:endParaRPr lang="en-US"/>
          </a:p>
        </p:txBody>
      </p:sp>
      <p:sp>
        <p:nvSpPr>
          <p:cNvPr id="107" name="CH1"/>
          <p:cNvSpPr/>
          <p:nvPr/>
        </p:nvSpPr>
        <p:spPr>
          <a:xfrm>
            <a:off x="4724400" y="914400"/>
            <a:ext cx="3962400" cy="279400"/>
          </a:xfrm>
          <a:prstGeom prst="rect">
            <a:avLst/>
          </a:prstGeom>
          <a:solidFill>
            <a:srgbClr val="1E2761"/>
          </a:solidFill>
          <a:ln>
            <a:noFill/>
          </a:ln>
        </p:spPr>
        <p:txBody>
          <a:bodyPr/>
          <a:lstStyle/>
          <a:p>
            <a:pPr>
              <a:buNone/>
            </a:pPr>
            <a:endParaRPr lang="en-US"/>
          </a:p>
        </p:txBody>
      </p:sp>
      <p:sp>
        <p:nvSpPr>
          <p:cNvPr id="108" name="CT1"/>
          <p:cNvSpPr txBox="1"/>
          <p:nvPr/>
        </p:nvSpPr>
        <p:spPr>
          <a:xfrm>
            <a:off x="4851400" y="977900"/>
            <a:ext cx="3708400" cy="177800"/>
          </a:xfrm>
          <a:prstGeom prst="rect">
            <a:avLst/>
          </a:prstGeom>
          <a:noFill/>
        </p:spPr>
        <p:txBody>
          <a:bodyPr wrap="square" lIns="0" tIns="0" rIns="0" bIns="0" anchor="t">
            <a:spAutoFit/>
          </a:bodyPr>
          <a:lstStyle/>
          <a:p>
            <a:pPr algn="l">
              <a:buNone/>
            </a:pPr>
            <a:r>
              <a:rPr lang="en-US" sz="1100" b="1" dirty="0">
                <a:solidFill>
                  <a:srgbClr val="FFFFFF"/>
                </a:solidFill>
                <a:latin typeface="Calibri"/>
              </a:rPr>
              <a:t>DDD &amp; Ubiquitous Language</a:t>
            </a:r>
          </a:p>
        </p:txBody>
      </p:sp>
      <p:sp>
        <p:nvSpPr>
          <p:cNvPr id="109" name="CB1"/>
          <p:cNvSpPr txBox="1"/>
          <p:nvPr/>
        </p:nvSpPr>
        <p:spPr>
          <a:xfrm>
            <a:off x="4851400" y="1295400"/>
            <a:ext cx="3708400" cy="1092200"/>
          </a:xfrm>
          <a:prstGeom prst="rect">
            <a:avLst/>
          </a:prstGeom>
          <a:noFill/>
        </p:spPr>
        <p:txBody>
          <a:bodyPr wrap="square" lIns="0" tIns="0" rIns="0" bIns="0" anchor="t">
            <a:spAutoFit/>
          </a:bodyPr>
          <a:lstStyle/>
          <a:p>
            <a:pPr marL="127000" indent="-127000" algn="l">
              <a:lnSpc>
                <a:spcPct val="100000"/>
              </a:lnSpc>
              <a:spcBef>
                <a:spcPts val="400"/>
              </a:spcBef>
              <a:buFont typeface="Arial"/>
              <a:buChar char="•"/>
            </a:pPr>
            <a:r>
              <a:rPr lang="en-US" sz="1000" dirty="0">
                <a:solidFill>
                  <a:srgbClr val="334155"/>
                </a:solidFill>
                <a:latin typeface="Calibri"/>
              </a:rPr>
              <a:t>Bounded contexts mirror real banking domains: Payments, Cards, Ledger, KYC/AML, Onboarding</a:t>
            </a:r>
          </a:p>
          <a:p>
            <a:pPr marL="127000" indent="-127000" algn="l">
              <a:lnSpc>
                <a:spcPct val="100000"/>
              </a:lnSpc>
              <a:spcBef>
                <a:spcPts val="400"/>
              </a:spcBef>
              <a:buFont typeface="Arial"/>
              <a:buChar char="•"/>
            </a:pPr>
            <a:r>
              <a:rPr lang="en-US" sz="1000" dirty="0">
                <a:solidFill>
                  <a:srgbClr val="334155"/>
                </a:solidFill>
                <a:latin typeface="Calibri"/>
              </a:rPr>
              <a:t>Domain Kernel carries money, limits and settlement invariants - not the framework</a:t>
            </a:r>
          </a:p>
          <a:p>
            <a:pPr marL="127000" indent="-127000" algn="l">
              <a:lnSpc>
                <a:spcPct val="100000"/>
              </a:lnSpc>
              <a:spcBef>
                <a:spcPts val="400"/>
              </a:spcBef>
              <a:buFont typeface="Arial"/>
              <a:buChar char="•"/>
            </a:pPr>
            <a:r>
              <a:rPr lang="en-US" sz="1000" dirty="0">
                <a:solidFill>
                  <a:srgbClr val="334155"/>
                </a:solidFill>
                <a:latin typeface="Calibri"/>
              </a:rPr>
              <a:t>Risk, compliance and engineering use the same words in code, tests and conversations</a:t>
            </a:r>
          </a:p>
        </p:txBody>
      </p:sp>
      <p:sp>
        <p:nvSpPr>
          <p:cNvPr id="110" name="CARD2"/>
          <p:cNvSpPr/>
          <p:nvPr/>
        </p:nvSpPr>
        <p:spPr>
          <a:xfrm>
            <a:off x="457200" y="2565400"/>
            <a:ext cx="3962400" cy="1549400"/>
          </a:xfrm>
          <a:prstGeom prst="roundRect">
            <a:avLst>
              <a:gd name="adj" fmla="val 6000"/>
            </a:avLst>
          </a:prstGeom>
          <a:solidFill>
            <a:srgbClr val="F8FAFC"/>
          </a:solidFill>
          <a:ln w="9525">
            <a:solidFill>
              <a:srgbClr val="CBD5E1"/>
            </a:solidFill>
          </a:ln>
        </p:spPr>
        <p:txBody>
          <a:bodyPr/>
          <a:lstStyle/>
          <a:p>
            <a:pPr>
              <a:buNone/>
            </a:pPr>
            <a:endParaRPr lang="en-US"/>
          </a:p>
        </p:txBody>
      </p:sp>
      <p:sp>
        <p:nvSpPr>
          <p:cNvPr id="111" name="CH2"/>
          <p:cNvSpPr/>
          <p:nvPr/>
        </p:nvSpPr>
        <p:spPr>
          <a:xfrm>
            <a:off x="457200" y="2565400"/>
            <a:ext cx="3962400" cy="279400"/>
          </a:xfrm>
          <a:prstGeom prst="rect">
            <a:avLst/>
          </a:prstGeom>
          <a:solidFill>
            <a:srgbClr val="1E2761"/>
          </a:solidFill>
          <a:ln>
            <a:noFill/>
          </a:ln>
        </p:spPr>
        <p:txBody>
          <a:bodyPr/>
          <a:lstStyle/>
          <a:p>
            <a:pPr>
              <a:buNone/>
            </a:pPr>
            <a:endParaRPr lang="en-US"/>
          </a:p>
        </p:txBody>
      </p:sp>
      <p:sp>
        <p:nvSpPr>
          <p:cNvPr id="112" name="CT2"/>
          <p:cNvSpPr txBox="1"/>
          <p:nvPr/>
        </p:nvSpPr>
        <p:spPr>
          <a:xfrm>
            <a:off x="584200" y="2628900"/>
            <a:ext cx="3708400" cy="177800"/>
          </a:xfrm>
          <a:prstGeom prst="rect">
            <a:avLst/>
          </a:prstGeom>
          <a:noFill/>
        </p:spPr>
        <p:txBody>
          <a:bodyPr wrap="square" lIns="0" tIns="0" rIns="0" bIns="0" anchor="t">
            <a:spAutoFit/>
          </a:bodyPr>
          <a:lstStyle/>
          <a:p>
            <a:pPr algn="l">
              <a:buNone/>
            </a:pPr>
            <a:r>
              <a:rPr lang="en-US" sz="1100" b="1" dirty="0">
                <a:solidFill>
                  <a:srgbClr val="FFFFFF"/>
                </a:solidFill>
                <a:latin typeface="Calibri"/>
              </a:rPr>
              <a:t>Architecture Tests Become Enforceable</a:t>
            </a:r>
          </a:p>
        </p:txBody>
      </p:sp>
      <p:sp>
        <p:nvSpPr>
          <p:cNvPr id="113" name="CB2"/>
          <p:cNvSpPr txBox="1"/>
          <p:nvPr/>
        </p:nvSpPr>
        <p:spPr>
          <a:xfrm>
            <a:off x="584200" y="2946400"/>
            <a:ext cx="3708400" cy="1092200"/>
          </a:xfrm>
          <a:prstGeom prst="rect">
            <a:avLst/>
          </a:prstGeom>
          <a:noFill/>
        </p:spPr>
        <p:txBody>
          <a:bodyPr wrap="square" lIns="0" tIns="0" rIns="0" bIns="0" anchor="t">
            <a:spAutoFit/>
          </a:bodyPr>
          <a:lstStyle/>
          <a:p>
            <a:pPr marL="127000" indent="-127000" algn="l">
              <a:lnSpc>
                <a:spcPct val="100000"/>
              </a:lnSpc>
              <a:spcBef>
                <a:spcPts val="400"/>
              </a:spcBef>
              <a:buFont typeface="Arial"/>
              <a:buChar char="•"/>
            </a:pPr>
            <a:r>
              <a:rPr lang="en-US" sz="1000" dirty="0">
                <a:solidFill>
                  <a:srgbClr val="334155"/>
                </a:solidFill>
                <a:latin typeface="Calibri"/>
              </a:rPr>
              <a:t>ArchUnit / NetArchTest rules: no slice-to-slice references, Domain has zero infra dependencies</a:t>
            </a:r>
          </a:p>
          <a:p>
            <a:pPr marL="127000" indent="-127000" algn="l">
              <a:lnSpc>
                <a:spcPct val="100000"/>
              </a:lnSpc>
              <a:spcBef>
                <a:spcPts val="400"/>
              </a:spcBef>
              <a:buFont typeface="Arial"/>
              <a:buChar char="•"/>
            </a:pPr>
            <a:r>
              <a:rPr lang="en-US" sz="1000" dirty="0">
                <a:solidFill>
                  <a:srgbClr val="334155"/>
                </a:solidFill>
                <a:latin typeface="Calibri"/>
              </a:rPr>
              <a:t>Dependency direction Endpoints - Application - Domain is machine-checkable in CI</a:t>
            </a:r>
          </a:p>
          <a:p>
            <a:pPr marL="127000" indent="-127000" algn="l">
              <a:lnSpc>
                <a:spcPct val="100000"/>
              </a:lnSpc>
              <a:spcBef>
                <a:spcPts val="400"/>
              </a:spcBef>
              <a:buFont typeface="Arial"/>
              <a:buChar char="•"/>
            </a:pPr>
            <a:r>
              <a:rPr lang="en-US" sz="1000" dirty="0">
                <a:solidFill>
                  <a:srgbClr val="334155"/>
                </a:solidFill>
                <a:latin typeface="Calibri"/>
              </a:rPr>
              <a:t>Violations fail the build instead of slipping through code review</a:t>
            </a:r>
          </a:p>
        </p:txBody>
      </p:sp>
      <p:sp>
        <p:nvSpPr>
          <p:cNvPr id="114" name="CARD3"/>
          <p:cNvSpPr/>
          <p:nvPr/>
        </p:nvSpPr>
        <p:spPr>
          <a:xfrm>
            <a:off x="4724400" y="2565400"/>
            <a:ext cx="3962400" cy="1549400"/>
          </a:xfrm>
          <a:prstGeom prst="roundRect">
            <a:avLst>
              <a:gd name="adj" fmla="val 6000"/>
            </a:avLst>
          </a:prstGeom>
          <a:solidFill>
            <a:srgbClr val="F8FAFC"/>
          </a:solidFill>
          <a:ln w="9525">
            <a:solidFill>
              <a:srgbClr val="CBD5E1"/>
            </a:solidFill>
          </a:ln>
        </p:spPr>
        <p:txBody>
          <a:bodyPr/>
          <a:lstStyle/>
          <a:p>
            <a:pPr>
              <a:buNone/>
            </a:pPr>
            <a:endParaRPr lang="en-US"/>
          </a:p>
        </p:txBody>
      </p:sp>
      <p:sp>
        <p:nvSpPr>
          <p:cNvPr id="115" name="CH3"/>
          <p:cNvSpPr/>
          <p:nvPr/>
        </p:nvSpPr>
        <p:spPr>
          <a:xfrm>
            <a:off x="4724400" y="2565400"/>
            <a:ext cx="3962400" cy="279400"/>
          </a:xfrm>
          <a:prstGeom prst="rect">
            <a:avLst/>
          </a:prstGeom>
          <a:solidFill>
            <a:srgbClr val="1E2761"/>
          </a:solidFill>
          <a:ln>
            <a:noFill/>
          </a:ln>
        </p:spPr>
        <p:txBody>
          <a:bodyPr/>
          <a:lstStyle/>
          <a:p>
            <a:pPr>
              <a:buNone/>
            </a:pPr>
            <a:endParaRPr lang="en-US"/>
          </a:p>
        </p:txBody>
      </p:sp>
      <p:sp>
        <p:nvSpPr>
          <p:cNvPr id="116" name="CT3"/>
          <p:cNvSpPr txBox="1"/>
          <p:nvPr/>
        </p:nvSpPr>
        <p:spPr>
          <a:xfrm>
            <a:off x="4851400" y="2628900"/>
            <a:ext cx="3708400" cy="177800"/>
          </a:xfrm>
          <a:prstGeom prst="rect">
            <a:avLst/>
          </a:prstGeom>
          <a:noFill/>
        </p:spPr>
        <p:txBody>
          <a:bodyPr wrap="square" lIns="0" tIns="0" rIns="0" bIns="0" anchor="t">
            <a:spAutoFit/>
          </a:bodyPr>
          <a:lstStyle/>
          <a:p>
            <a:pPr algn="l">
              <a:buNone/>
            </a:pPr>
            <a:r>
              <a:rPr lang="en-US" sz="1100" b="1" dirty="0">
                <a:solidFill>
                  <a:srgbClr val="FFFFFF"/>
                </a:solidFill>
                <a:latin typeface="Calibri"/>
              </a:rPr>
              <a:t>What This Buys in Banking &amp; Fintech</a:t>
            </a:r>
          </a:p>
        </p:txBody>
      </p:sp>
      <p:sp>
        <p:nvSpPr>
          <p:cNvPr id="117" name="CB3"/>
          <p:cNvSpPr txBox="1"/>
          <p:nvPr/>
        </p:nvSpPr>
        <p:spPr>
          <a:xfrm>
            <a:off x="4851400" y="2946400"/>
            <a:ext cx="3708400" cy="1092200"/>
          </a:xfrm>
          <a:prstGeom prst="rect">
            <a:avLst/>
          </a:prstGeom>
          <a:noFill/>
        </p:spPr>
        <p:txBody>
          <a:bodyPr wrap="square" lIns="0" tIns="0" rIns="0" bIns="0" anchor="t">
            <a:spAutoFit/>
          </a:bodyPr>
          <a:lstStyle/>
          <a:p>
            <a:pPr marL="127000" indent="-127000" algn="l">
              <a:lnSpc>
                <a:spcPct val="100000"/>
              </a:lnSpc>
              <a:spcBef>
                <a:spcPts val="400"/>
              </a:spcBef>
              <a:buFont typeface="Arial"/>
              <a:buChar char="•"/>
            </a:pPr>
            <a:r>
              <a:rPr lang="en-US" sz="1000" dirty="0">
                <a:solidFill>
                  <a:srgbClr val="334155"/>
                </a:solidFill>
                <a:latin typeface="Calibri"/>
              </a:rPr>
              <a:t>Smaller blast radius: a regulatory or audit change touches one slice, not the whole service</a:t>
            </a:r>
          </a:p>
          <a:p>
            <a:pPr marL="127000" indent="-127000" algn="l">
              <a:lnSpc>
                <a:spcPct val="100000"/>
              </a:lnSpc>
              <a:spcBef>
                <a:spcPts val="400"/>
              </a:spcBef>
              <a:buFont typeface="Arial"/>
              <a:buChar char="•"/>
            </a:pPr>
            <a:r>
              <a:rPr lang="en-US" sz="1000" dirty="0">
                <a:solidFill>
                  <a:srgbClr val="334155"/>
                </a:solidFill>
                <a:latin typeface="Calibri"/>
              </a:rPr>
              <a:t>Faster onboarding and clearer ownership - a team can reason about one slice end to end</a:t>
            </a:r>
          </a:p>
          <a:p>
            <a:pPr marL="127000" indent="-127000" algn="l">
              <a:lnSpc>
                <a:spcPct val="100000"/>
              </a:lnSpc>
              <a:spcBef>
                <a:spcPts val="400"/>
              </a:spcBef>
              <a:buFont typeface="Arial"/>
              <a:buChar char="•"/>
            </a:pPr>
            <a:r>
              <a:rPr lang="en-US" sz="1000" dirty="0">
                <a:solidFill>
                  <a:srgbClr val="334155"/>
                </a:solidFill>
                <a:latin typeface="Calibri"/>
              </a:rPr>
              <a:t>Clean seams if a slice must later be extracted into its own service</a:t>
            </a:r>
          </a:p>
        </p:txBody>
      </p:sp>
      <p:sp>
        <p:nvSpPr>
          <p:cNvPr id="118" name="TAKE"/>
          <p:cNvSpPr/>
          <p:nvPr/>
        </p:nvSpPr>
        <p:spPr>
          <a:xfrm>
            <a:off x="457200" y="4241800"/>
            <a:ext cx="8229600" cy="355600"/>
          </a:xfrm>
          <a:prstGeom prst="rect">
            <a:avLst/>
          </a:prstGeom>
          <a:solidFill>
            <a:srgbClr val="E8ECF7"/>
          </a:solidFill>
          <a:ln w="9525">
            <a:solidFill>
              <a:srgbClr val="1E2761"/>
            </a:solidFill>
          </a:ln>
        </p:spPr>
        <p:txBody>
          <a:bodyPr/>
          <a:lstStyle/>
          <a:p>
            <a:pPr>
              <a:buNone/>
            </a:pPr>
            <a:endParaRPr lang="en-US"/>
          </a:p>
        </p:txBody>
      </p:sp>
      <p:sp>
        <p:nvSpPr>
          <p:cNvPr id="119" name="TAKET"/>
          <p:cNvSpPr txBox="1"/>
          <p:nvPr/>
        </p:nvSpPr>
        <p:spPr>
          <a:xfrm>
            <a:off x="584200" y="4330700"/>
            <a:ext cx="7975600" cy="203200"/>
          </a:xfrm>
          <a:prstGeom prst="rect">
            <a:avLst/>
          </a:prstGeom>
          <a:noFill/>
        </p:spPr>
        <p:txBody>
          <a:bodyPr wrap="square" lIns="0" tIns="0" rIns="0" bIns="0" anchor="ctr">
            <a:spAutoFit/>
          </a:bodyPr>
          <a:lstStyle/>
          <a:p>
            <a:pPr algn="ctr">
              <a:buNone/>
            </a:pPr>
            <a:r>
              <a:rPr lang="en-US" sz="1050" b="1" dirty="0">
                <a:solidFill>
                  <a:srgbClr val="1E2761"/>
                </a:solidFill>
                <a:latin typeface="Calibri"/>
              </a:rPr>
              <a:t>Same runtime footprint - the gain is boundaries the compiler, the tests and the business all agree on.</a:t>
            </a:r>
          </a:p>
        </p:txBody>
      </p:sp>
      <p:sp>
        <p:nvSpPr>
          <p:cNvPr id="120" name="L66"/>
          <p:cNvSpPr txBox="1"/>
          <p:nvPr/>
        </p:nvSpPr>
        <p:spPr>
          <a:xfrm>
            <a:off x="457200" y="4724400"/>
            <a:ext cx="8229600" cy="203200"/>
          </a:xfrm>
          <a:prstGeom prst="rect">
            <a:avLst/>
          </a:prstGeom>
          <a:noFill/>
        </p:spPr>
        <p:txBody>
          <a:bodyPr wrap="square" lIns="0" tIns="0" rIns="0" bIns="0" anchor="t">
            <a:spAutoFit/>
          </a:bodyPr>
          <a:lstStyle/>
          <a:p>
            <a:pPr algn="ctr">
              <a:buNone/>
            </a:pPr>
            <a:r>
              <a:rPr lang="en-US" sz="1000" b="0" dirty="0">
                <a:solidFill>
                  <a:srgbClr val="334155"/>
                </a:solidFill>
                <a:latin typeface="Calibri"/>
              </a:rPr>
              <a:t>Coupling and cohesion are outcomes of where you draw the boundary, not of how many layers you add.</a:t>
            </a:r>
          </a:p>
        </p:txBody>
      </p:sp>
    </p:spTree>
    <p:extLst>
      <p:ext uri="{BB962C8B-B14F-4D97-AF65-F5344CB8AC3E}">
        <p14:creationId xmlns:p14="http://schemas.microsoft.com/office/powerpoint/2010/main" val="29519224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10" name="Accent Bar"/>
          <p:cNvSpPr/>
          <p:nvPr/>
        </p:nvSpPr>
        <p:spPr>
          <a:xfrm>
            <a:off x="457200" y="2057400"/>
            <a:ext cx="914400" cy="76200"/>
          </a:xfrm>
          <a:prstGeom prst="rect">
            <a:avLst/>
          </a:prstGeom>
          <a:solidFill>
            <a:srgbClr val="F7B32B"/>
          </a:solidFill>
          <a:ln/>
        </p:spPr>
        <p:txBody>
          <a:bodyPr/>
          <a:lstStyle/>
          <a:p>
            <a:endParaRPr lang="en-US"/>
          </a:p>
        </p:txBody>
      </p:sp>
      <p:sp>
        <p:nvSpPr>
          <p:cNvPr id="11" name="Eyebrow"/>
          <p:cNvSpPr/>
          <p:nvPr/>
        </p:nvSpPr>
        <p:spPr>
          <a:xfrm>
            <a:off x="457200" y="1651000"/>
            <a:ext cx="8229600" cy="320040"/>
          </a:xfrm>
          <a:prstGeom prst="rect">
            <a:avLst/>
          </a:prstGeom>
          <a:noFill/>
          <a:ln/>
        </p:spPr>
        <p:txBody>
          <a:bodyPr wrap="square" lIns="0" tIns="0" rIns="0" bIns="0" anchor="ctr"/>
          <a:lstStyle/>
          <a:p>
            <a:pPr marL="0" indent="0" algn="l">
              <a:buNone/>
            </a:pPr>
            <a:r>
              <a:rPr lang="en-US" sz="1800" b="1" spc="600" dirty="0">
                <a:solidFill>
                  <a:srgbClr val="F7B32B"/>
                </a:solidFill>
                <a:latin typeface="Calibri"/>
              </a:rPr>
              <a:t>PART </a:t>
            </a:r>
            <a:r>
              <a:rPr lang="en-US" b="1" spc="600" dirty="0">
                <a:solidFill>
                  <a:srgbClr val="F7B32B"/>
                </a:solidFill>
                <a:latin typeface="Calibri"/>
              </a:rPr>
              <a:t>2</a:t>
            </a:r>
            <a:endParaRPr lang="en-US" sz="1800" b="1" spc="600" dirty="0">
              <a:solidFill>
                <a:srgbClr val="F7B32B"/>
              </a:solidFill>
              <a:latin typeface="Calibri"/>
            </a:endParaRPr>
          </a:p>
        </p:txBody>
      </p:sp>
      <p:sp>
        <p:nvSpPr>
          <p:cNvPr id="12" name="Section Title"/>
          <p:cNvSpPr/>
          <p:nvPr/>
        </p:nvSpPr>
        <p:spPr>
          <a:xfrm>
            <a:off x="457200" y="2311400"/>
            <a:ext cx="8229600" cy="914400"/>
          </a:xfrm>
          <a:prstGeom prst="rect">
            <a:avLst/>
          </a:prstGeom>
          <a:noFill/>
          <a:ln/>
        </p:spPr>
        <p:txBody>
          <a:bodyPr wrap="square" lIns="0" tIns="0" rIns="0" bIns="0" anchor="ctr"/>
          <a:lstStyle/>
          <a:p>
            <a:pPr marL="0" indent="0" algn="l">
              <a:buNone/>
            </a:pPr>
            <a:r>
              <a:rPr lang="en-US" sz="5400" b="1" dirty="0">
                <a:solidFill>
                  <a:srgbClr val="FFFFFF"/>
                </a:solidFill>
                <a:latin typeface="Cambria" pitchFamily="34" charset="0"/>
              </a:rPr>
              <a:t>AI-DLC</a:t>
            </a:r>
          </a:p>
        </p:txBody>
      </p:sp>
      <p:sp>
        <p:nvSpPr>
          <p:cNvPr id="13" name="Section Sub"/>
          <p:cNvSpPr/>
          <p:nvPr/>
        </p:nvSpPr>
        <p:spPr>
          <a:xfrm>
            <a:off x="457200" y="3403600"/>
            <a:ext cx="8229600" cy="406400"/>
          </a:xfrm>
          <a:prstGeom prst="rect">
            <a:avLst/>
          </a:prstGeom>
          <a:noFill/>
          <a:ln/>
        </p:spPr>
        <p:txBody>
          <a:bodyPr wrap="square" lIns="0" tIns="0" rIns="0" bIns="0" anchor="ctr"/>
          <a:lstStyle/>
          <a:p>
            <a:pPr marL="0" indent="0" algn="l">
              <a:buNone/>
            </a:pPr>
            <a:r>
              <a:rPr lang="en-US" sz="1600" dirty="0">
                <a:solidFill>
                  <a:srgbClr val="9FB0E8"/>
                </a:solidFill>
                <a:latin typeface="Calibri"/>
              </a:rPr>
              <a:t>Agentic Architecture · Multi-Agent Orchestration · Context Engineering · Loop Engineering</a:t>
            </a:r>
          </a:p>
        </p:txBody>
      </p:sp>
    </p:spTree>
    <p:extLst>
      <p:ext uri="{BB962C8B-B14F-4D97-AF65-F5344CB8AC3E}">
        <p14:creationId xmlns:p14="http://schemas.microsoft.com/office/powerpoint/2010/main" val="30519409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From Autocomplete to Autonomy</a:t>
            </a:r>
            <a:endParaRPr lang="en-US" sz="3000" dirty="0"/>
          </a:p>
        </p:txBody>
      </p:sp>
      <p:sp>
        <p:nvSpPr>
          <p:cNvPr id="3" name="Shape 1"/>
          <p:cNvSpPr/>
          <p:nvPr/>
        </p:nvSpPr>
        <p:spPr>
          <a:xfrm>
            <a:off x="457200" y="1234440"/>
            <a:ext cx="2487168" cy="2331720"/>
          </a:xfrm>
          <a:prstGeom prst="roundRect">
            <a:avLst>
              <a:gd name="adj" fmla="val 3137"/>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4" name="Shape 2"/>
          <p:cNvSpPr/>
          <p:nvPr/>
        </p:nvSpPr>
        <p:spPr>
          <a:xfrm>
            <a:off x="1399032" y="1490472"/>
            <a:ext cx="603504" cy="603504"/>
          </a:xfrm>
          <a:prstGeom prst="ellipse">
            <a:avLst/>
          </a:prstGeom>
          <a:solidFill>
            <a:srgbClr val="1E2761"/>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1555943" y="1647383"/>
            <a:ext cx="289682" cy="289682"/>
          </a:xfrm>
          <a:prstGeom prst="rect">
            <a:avLst/>
          </a:prstGeom>
        </p:spPr>
      </p:pic>
      <p:sp>
        <p:nvSpPr>
          <p:cNvPr id="6" name="Text 3"/>
          <p:cNvSpPr/>
          <p:nvPr/>
        </p:nvSpPr>
        <p:spPr>
          <a:xfrm>
            <a:off x="594360" y="2194560"/>
            <a:ext cx="2212848" cy="365760"/>
          </a:xfrm>
          <a:prstGeom prst="rect">
            <a:avLst/>
          </a:prstGeom>
          <a:noFill/>
          <a:ln/>
        </p:spPr>
        <p:txBody>
          <a:bodyPr wrap="square" lIns="0" tIns="0" rIns="0" bIns="0"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AI-Assisted</a:t>
            </a:r>
            <a:endParaRPr lang="en-US" sz="1700" dirty="0"/>
          </a:p>
        </p:txBody>
      </p:sp>
      <p:sp>
        <p:nvSpPr>
          <p:cNvPr id="7" name="Text 4"/>
          <p:cNvSpPr/>
          <p:nvPr/>
        </p:nvSpPr>
        <p:spPr>
          <a:xfrm>
            <a:off x="685800" y="2606040"/>
            <a:ext cx="2029968" cy="868680"/>
          </a:xfrm>
          <a:prstGeom prst="rect">
            <a:avLst/>
          </a:prstGeom>
          <a:noFill/>
          <a:ln/>
        </p:spPr>
        <p:txBody>
          <a:bodyPr wrap="square" lIns="0" tIns="0" rIns="0" bIns="0" rtlCol="0" anchor="t"/>
          <a:lstStyle/>
          <a:p>
            <a:pPr marL="0" indent="0" algn="l">
              <a:buNone/>
            </a:pPr>
            <a:r>
              <a:rPr lang="en-US" sz="1150" dirty="0">
                <a:solidFill>
                  <a:srgbClr val="334155"/>
                </a:solidFill>
                <a:latin typeface="Calibri" pitchFamily="34" charset="0"/>
                <a:ea typeface="Calibri" pitchFamily="34" charset="-122"/>
                <a:cs typeface="Calibri" pitchFamily="34" charset="-120"/>
              </a:rPr>
              <a:t>Copilot-style completion and chat. Human drives every step; AI suggests lines.</a:t>
            </a:r>
            <a:endParaRPr lang="en-US" sz="1150" dirty="0"/>
          </a:p>
        </p:txBody>
      </p:sp>
      <p:pic>
        <p:nvPicPr>
          <p:cNvPr id="8" name="Image 1" descr="preencoded.png"/>
          <p:cNvPicPr>
            <a:picLocks noChangeAspect="1"/>
          </p:cNvPicPr>
          <p:nvPr/>
        </p:nvPicPr>
        <p:blipFill>
          <a:blip r:embed="rId4"/>
          <a:stretch>
            <a:fillRect/>
          </a:stretch>
        </p:blipFill>
        <p:spPr>
          <a:xfrm>
            <a:off x="3200400" y="2244852"/>
            <a:ext cx="310896" cy="310896"/>
          </a:xfrm>
          <a:prstGeom prst="rect">
            <a:avLst/>
          </a:prstGeom>
        </p:spPr>
      </p:pic>
      <p:sp>
        <p:nvSpPr>
          <p:cNvPr id="9" name="Shape 5"/>
          <p:cNvSpPr/>
          <p:nvPr/>
        </p:nvSpPr>
        <p:spPr>
          <a:xfrm>
            <a:off x="3328416" y="1234440"/>
            <a:ext cx="2487168" cy="2331720"/>
          </a:xfrm>
          <a:prstGeom prst="roundRect">
            <a:avLst>
              <a:gd name="adj" fmla="val 3137"/>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10" name="Shape 6"/>
          <p:cNvSpPr/>
          <p:nvPr/>
        </p:nvSpPr>
        <p:spPr>
          <a:xfrm>
            <a:off x="4270248" y="1490472"/>
            <a:ext cx="603504" cy="603504"/>
          </a:xfrm>
          <a:prstGeom prst="ellipse">
            <a:avLst/>
          </a:prstGeom>
          <a:solidFill>
            <a:srgbClr val="1E2761"/>
          </a:solidFill>
          <a:ln/>
        </p:spPr>
        <p:txBody>
          <a:bodyPr/>
          <a:lstStyle/>
          <a:p>
            <a:endParaRPr lang="en-US"/>
          </a:p>
        </p:txBody>
      </p:sp>
      <p:pic>
        <p:nvPicPr>
          <p:cNvPr id="11" name="Image 2" descr="preencoded.png"/>
          <p:cNvPicPr>
            <a:picLocks noChangeAspect="1"/>
          </p:cNvPicPr>
          <p:nvPr/>
        </p:nvPicPr>
        <p:blipFill>
          <a:blip r:embed="rId5"/>
          <a:stretch>
            <a:fillRect/>
          </a:stretch>
        </p:blipFill>
        <p:spPr>
          <a:xfrm>
            <a:off x="4427159" y="1647383"/>
            <a:ext cx="289682" cy="289682"/>
          </a:xfrm>
          <a:prstGeom prst="rect">
            <a:avLst/>
          </a:prstGeom>
        </p:spPr>
      </p:pic>
      <p:sp>
        <p:nvSpPr>
          <p:cNvPr id="12" name="Text 7"/>
          <p:cNvSpPr/>
          <p:nvPr/>
        </p:nvSpPr>
        <p:spPr>
          <a:xfrm>
            <a:off x="3465576" y="2194560"/>
            <a:ext cx="2212848" cy="365760"/>
          </a:xfrm>
          <a:prstGeom prst="rect">
            <a:avLst/>
          </a:prstGeom>
          <a:noFill/>
          <a:ln/>
        </p:spPr>
        <p:txBody>
          <a:bodyPr wrap="square" lIns="0" tIns="0" rIns="0" bIns="0"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AI Agents</a:t>
            </a:r>
            <a:endParaRPr lang="en-US" sz="1700" dirty="0"/>
          </a:p>
        </p:txBody>
      </p:sp>
      <p:sp>
        <p:nvSpPr>
          <p:cNvPr id="13" name="Text 8"/>
          <p:cNvSpPr/>
          <p:nvPr/>
        </p:nvSpPr>
        <p:spPr>
          <a:xfrm>
            <a:off x="3557016" y="2606040"/>
            <a:ext cx="2029968" cy="868680"/>
          </a:xfrm>
          <a:prstGeom prst="rect">
            <a:avLst/>
          </a:prstGeom>
          <a:noFill/>
          <a:ln/>
        </p:spPr>
        <p:txBody>
          <a:bodyPr wrap="square" lIns="0" tIns="0" rIns="0" bIns="0" rtlCol="0" anchor="t"/>
          <a:lstStyle/>
          <a:p>
            <a:pPr marL="0" indent="0" algn="l">
              <a:buNone/>
            </a:pPr>
            <a:r>
              <a:rPr lang="en-US" sz="1150" dirty="0">
                <a:solidFill>
                  <a:srgbClr val="334155"/>
                </a:solidFill>
                <a:latin typeface="Calibri" pitchFamily="34" charset="0"/>
                <a:ea typeface="Calibri" pitchFamily="34" charset="-122"/>
                <a:cs typeface="Calibri" pitchFamily="34" charset="-120"/>
              </a:rPr>
              <a:t>One agent takes a whole task — reads the codebase, edits, runs tests. Human reviews the result.</a:t>
            </a:r>
            <a:endParaRPr lang="en-US" sz="1150" dirty="0"/>
          </a:p>
        </p:txBody>
      </p:sp>
      <p:pic>
        <p:nvPicPr>
          <p:cNvPr id="14" name="Image 3" descr="preencoded.png"/>
          <p:cNvPicPr>
            <a:picLocks noChangeAspect="1"/>
          </p:cNvPicPr>
          <p:nvPr/>
        </p:nvPicPr>
        <p:blipFill>
          <a:blip r:embed="rId4"/>
          <a:stretch>
            <a:fillRect/>
          </a:stretch>
        </p:blipFill>
        <p:spPr>
          <a:xfrm>
            <a:off x="6071616" y="2244852"/>
            <a:ext cx="310896" cy="310896"/>
          </a:xfrm>
          <a:prstGeom prst="rect">
            <a:avLst/>
          </a:prstGeom>
        </p:spPr>
      </p:pic>
      <p:sp>
        <p:nvSpPr>
          <p:cNvPr id="15" name="Shape 9"/>
          <p:cNvSpPr/>
          <p:nvPr/>
        </p:nvSpPr>
        <p:spPr>
          <a:xfrm>
            <a:off x="6199632" y="1234440"/>
            <a:ext cx="2487168" cy="2331720"/>
          </a:xfrm>
          <a:prstGeom prst="roundRect">
            <a:avLst>
              <a:gd name="adj" fmla="val 3137"/>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16" name="Shape 10"/>
          <p:cNvSpPr/>
          <p:nvPr/>
        </p:nvSpPr>
        <p:spPr>
          <a:xfrm>
            <a:off x="7141464" y="1490472"/>
            <a:ext cx="603504" cy="603504"/>
          </a:xfrm>
          <a:prstGeom prst="ellipse">
            <a:avLst/>
          </a:prstGeom>
          <a:solidFill>
            <a:srgbClr val="1E2761"/>
          </a:solidFill>
          <a:ln/>
        </p:spPr>
        <p:txBody>
          <a:bodyPr/>
          <a:lstStyle/>
          <a:p>
            <a:endParaRPr lang="en-US"/>
          </a:p>
        </p:txBody>
      </p:sp>
      <p:pic>
        <p:nvPicPr>
          <p:cNvPr id="17" name="Image 4" descr="preencoded.png"/>
          <p:cNvPicPr>
            <a:picLocks noChangeAspect="1"/>
          </p:cNvPicPr>
          <p:nvPr/>
        </p:nvPicPr>
        <p:blipFill>
          <a:blip r:embed="rId6"/>
          <a:stretch>
            <a:fillRect/>
          </a:stretch>
        </p:blipFill>
        <p:spPr>
          <a:xfrm>
            <a:off x="7298375" y="1647383"/>
            <a:ext cx="289682" cy="289682"/>
          </a:xfrm>
          <a:prstGeom prst="rect">
            <a:avLst/>
          </a:prstGeom>
        </p:spPr>
      </p:pic>
      <p:sp>
        <p:nvSpPr>
          <p:cNvPr id="18" name="Text 11"/>
          <p:cNvSpPr/>
          <p:nvPr/>
        </p:nvSpPr>
        <p:spPr>
          <a:xfrm>
            <a:off x="6336792" y="2194560"/>
            <a:ext cx="2212848" cy="365760"/>
          </a:xfrm>
          <a:prstGeom prst="rect">
            <a:avLst/>
          </a:prstGeom>
          <a:noFill/>
          <a:ln/>
        </p:spPr>
        <p:txBody>
          <a:bodyPr wrap="square" lIns="0" tIns="0" rIns="0" bIns="0"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AI-DLC</a:t>
            </a:r>
            <a:endParaRPr lang="en-US" sz="1700" dirty="0"/>
          </a:p>
        </p:txBody>
      </p:sp>
      <p:sp>
        <p:nvSpPr>
          <p:cNvPr id="19" name="Text 12"/>
          <p:cNvSpPr/>
          <p:nvPr/>
        </p:nvSpPr>
        <p:spPr>
          <a:xfrm>
            <a:off x="6428232" y="2606040"/>
            <a:ext cx="2029968" cy="868680"/>
          </a:xfrm>
          <a:prstGeom prst="rect">
            <a:avLst/>
          </a:prstGeom>
          <a:noFill/>
          <a:ln/>
        </p:spPr>
        <p:txBody>
          <a:bodyPr wrap="square" lIns="0" tIns="0" rIns="0" bIns="0" rtlCol="0" anchor="t"/>
          <a:lstStyle/>
          <a:p>
            <a:pPr marL="0" indent="0" algn="l">
              <a:buNone/>
            </a:pPr>
            <a:r>
              <a:rPr lang="en-US" sz="1150" dirty="0">
                <a:solidFill>
                  <a:srgbClr val="334155"/>
                </a:solidFill>
                <a:latin typeface="Calibri" pitchFamily="34" charset="0"/>
                <a:ea typeface="Calibri" pitchFamily="34" charset="-122"/>
                <a:cs typeface="Calibri" pitchFamily="34" charset="-120"/>
              </a:rPr>
              <a:t>A team of agents owns the lifecycle end to end. Human sets intent and guards the gates.</a:t>
            </a:r>
            <a:endParaRPr lang="en-US" sz="1150" dirty="0"/>
          </a:p>
        </p:txBody>
      </p:sp>
      <p:sp>
        <p:nvSpPr>
          <p:cNvPr id="20" name="Text 13"/>
          <p:cNvSpPr/>
          <p:nvPr/>
        </p:nvSpPr>
        <p:spPr>
          <a:xfrm>
            <a:off x="457200" y="3977640"/>
            <a:ext cx="8229600" cy="365760"/>
          </a:xfrm>
          <a:prstGeom prst="rect">
            <a:avLst/>
          </a:prstGeom>
          <a:noFill/>
          <a:ln/>
        </p:spPr>
        <p:txBody>
          <a:bodyPr wrap="square" rtlCol="0" anchor="ctr"/>
          <a:lstStyle/>
          <a:p>
            <a:pPr marL="0" indent="0" algn="ctr">
              <a:buNone/>
            </a:pPr>
            <a:r>
              <a:rPr lang="en-US" sz="1400" i="1" dirty="0">
                <a:solidFill>
                  <a:srgbClr val="64748B"/>
                </a:solidFill>
                <a:latin typeface="Calibri" pitchFamily="34" charset="0"/>
                <a:ea typeface="Calibri" pitchFamily="34" charset="-122"/>
                <a:cs typeface="Calibri" pitchFamily="34" charset="-120"/>
              </a:rPr>
              <a:t>The unit of delegation moves from a line of code to a phase of the lifecycle.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AI-DLC: Every Phase Has an Agent Owner</a:t>
            </a:r>
            <a:endParaRPr lang="en-US" sz="3000" dirty="0"/>
          </a:p>
        </p:txBody>
      </p:sp>
      <p:sp>
        <p:nvSpPr>
          <p:cNvPr id="3" name="Shape 1"/>
          <p:cNvSpPr/>
          <p:nvPr/>
        </p:nvSpPr>
        <p:spPr>
          <a:xfrm>
            <a:off x="402336" y="1188720"/>
            <a:ext cx="1069848" cy="658368"/>
          </a:xfrm>
          <a:prstGeom prst="roundRect">
            <a:avLst>
              <a:gd name="adj" fmla="val 9722"/>
            </a:avLst>
          </a:prstGeom>
          <a:solidFill>
            <a:srgbClr val="1E2761"/>
          </a:solidFill>
          <a:ln/>
        </p:spPr>
        <p:txBody>
          <a:bodyPr/>
          <a:lstStyle/>
          <a:p>
            <a:endParaRPr lang="en-US"/>
          </a:p>
        </p:txBody>
      </p:sp>
      <p:sp>
        <p:nvSpPr>
          <p:cNvPr id="4" name="Text 2"/>
          <p:cNvSpPr/>
          <p:nvPr/>
        </p:nvSpPr>
        <p:spPr>
          <a:xfrm>
            <a:off x="402336" y="1188720"/>
            <a:ext cx="1069848" cy="658368"/>
          </a:xfrm>
          <a:prstGeom prst="rect">
            <a:avLst/>
          </a:prstGeom>
          <a:noFill/>
          <a:ln/>
        </p:spPr>
        <p:txBody>
          <a:bodyPr wrap="square" lIns="254" tIns="254" rIns="254" bIns="254"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Plan</a:t>
            </a:r>
            <a:endParaRPr lang="en-US" sz="1150" dirty="0"/>
          </a:p>
        </p:txBody>
      </p:sp>
      <p:sp>
        <p:nvSpPr>
          <p:cNvPr id="5" name="Text 3"/>
          <p:cNvSpPr/>
          <p:nvPr/>
        </p:nvSpPr>
        <p:spPr>
          <a:xfrm>
            <a:off x="320040" y="1920240"/>
            <a:ext cx="1234440" cy="384048"/>
          </a:xfrm>
          <a:prstGeom prst="rect">
            <a:avLst/>
          </a:prstGeom>
          <a:noFill/>
          <a:ln/>
        </p:spPr>
        <p:txBody>
          <a:bodyPr wrap="square" lIns="0" tIns="0" rIns="0" bIns="0"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product-owner</a:t>
            </a:r>
            <a:endParaRPr lang="en-US" sz="900" dirty="0"/>
          </a:p>
        </p:txBody>
      </p:sp>
      <p:pic>
        <p:nvPicPr>
          <p:cNvPr id="6" name="Image 0" descr="preencoded.png"/>
          <p:cNvPicPr>
            <a:picLocks noChangeAspect="1"/>
          </p:cNvPicPr>
          <p:nvPr/>
        </p:nvPicPr>
        <p:blipFill>
          <a:blip r:embed="rId3"/>
          <a:stretch>
            <a:fillRect/>
          </a:stretch>
        </p:blipFill>
        <p:spPr>
          <a:xfrm>
            <a:off x="1484071" y="1458468"/>
            <a:ext cx="118872" cy="118872"/>
          </a:xfrm>
          <a:prstGeom prst="rect">
            <a:avLst/>
          </a:prstGeom>
        </p:spPr>
      </p:pic>
      <p:sp>
        <p:nvSpPr>
          <p:cNvPr id="7" name="Shape 4"/>
          <p:cNvSpPr/>
          <p:nvPr/>
        </p:nvSpPr>
        <p:spPr>
          <a:xfrm>
            <a:off x="1613916" y="1188720"/>
            <a:ext cx="1069848" cy="658368"/>
          </a:xfrm>
          <a:prstGeom prst="roundRect">
            <a:avLst>
              <a:gd name="adj" fmla="val 9722"/>
            </a:avLst>
          </a:prstGeom>
          <a:solidFill>
            <a:srgbClr val="1E2761"/>
          </a:solidFill>
          <a:ln/>
        </p:spPr>
        <p:txBody>
          <a:bodyPr/>
          <a:lstStyle/>
          <a:p>
            <a:endParaRPr lang="en-US"/>
          </a:p>
        </p:txBody>
      </p:sp>
      <p:sp>
        <p:nvSpPr>
          <p:cNvPr id="8" name="Text 5"/>
          <p:cNvSpPr/>
          <p:nvPr/>
        </p:nvSpPr>
        <p:spPr>
          <a:xfrm>
            <a:off x="1613916" y="1188720"/>
            <a:ext cx="1069848" cy="658368"/>
          </a:xfrm>
          <a:prstGeom prst="rect">
            <a:avLst/>
          </a:prstGeom>
          <a:noFill/>
          <a:ln/>
        </p:spPr>
        <p:txBody>
          <a:bodyPr wrap="square" lIns="254" tIns="254" rIns="254" bIns="254"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Architect</a:t>
            </a:r>
            <a:endParaRPr lang="en-US" sz="1150" dirty="0"/>
          </a:p>
        </p:txBody>
      </p:sp>
      <p:sp>
        <p:nvSpPr>
          <p:cNvPr id="9" name="Text 6"/>
          <p:cNvSpPr/>
          <p:nvPr/>
        </p:nvSpPr>
        <p:spPr>
          <a:xfrm>
            <a:off x="1531620" y="1920240"/>
            <a:ext cx="1234440" cy="384048"/>
          </a:xfrm>
          <a:prstGeom prst="rect">
            <a:avLst/>
          </a:prstGeom>
          <a:noFill/>
          <a:ln/>
        </p:spPr>
        <p:txBody>
          <a:bodyPr wrap="square" lIns="0" tIns="0" rIns="0" bIns="0"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software-architect</a:t>
            </a:r>
            <a:endParaRPr lang="en-US" sz="900" dirty="0"/>
          </a:p>
        </p:txBody>
      </p:sp>
      <p:pic>
        <p:nvPicPr>
          <p:cNvPr id="10" name="Image 1" descr="preencoded.png"/>
          <p:cNvPicPr>
            <a:picLocks noChangeAspect="1"/>
          </p:cNvPicPr>
          <p:nvPr/>
        </p:nvPicPr>
        <p:blipFill>
          <a:blip r:embed="rId3"/>
          <a:stretch>
            <a:fillRect/>
          </a:stretch>
        </p:blipFill>
        <p:spPr>
          <a:xfrm>
            <a:off x="2695651" y="1458468"/>
            <a:ext cx="118872" cy="118872"/>
          </a:xfrm>
          <a:prstGeom prst="rect">
            <a:avLst/>
          </a:prstGeom>
        </p:spPr>
      </p:pic>
      <p:sp>
        <p:nvSpPr>
          <p:cNvPr id="11" name="Shape 7"/>
          <p:cNvSpPr/>
          <p:nvPr/>
        </p:nvSpPr>
        <p:spPr>
          <a:xfrm>
            <a:off x="2825496" y="1188720"/>
            <a:ext cx="1069848" cy="658368"/>
          </a:xfrm>
          <a:prstGeom prst="roundRect">
            <a:avLst>
              <a:gd name="adj" fmla="val 9722"/>
            </a:avLst>
          </a:prstGeom>
          <a:solidFill>
            <a:srgbClr val="1E2761"/>
          </a:solidFill>
          <a:ln/>
        </p:spPr>
        <p:txBody>
          <a:bodyPr/>
          <a:lstStyle/>
          <a:p>
            <a:endParaRPr lang="en-US"/>
          </a:p>
        </p:txBody>
      </p:sp>
      <p:sp>
        <p:nvSpPr>
          <p:cNvPr id="12" name="Text 8"/>
          <p:cNvSpPr/>
          <p:nvPr/>
        </p:nvSpPr>
        <p:spPr>
          <a:xfrm>
            <a:off x="2825496" y="1188720"/>
            <a:ext cx="1069848" cy="658368"/>
          </a:xfrm>
          <a:prstGeom prst="rect">
            <a:avLst/>
          </a:prstGeom>
          <a:noFill/>
          <a:ln/>
        </p:spPr>
        <p:txBody>
          <a:bodyPr wrap="square" lIns="254" tIns="254" rIns="254" bIns="254"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Design</a:t>
            </a:r>
            <a:endParaRPr lang="en-US" sz="1150" dirty="0"/>
          </a:p>
        </p:txBody>
      </p:sp>
      <p:sp>
        <p:nvSpPr>
          <p:cNvPr id="13" name="Text 9"/>
          <p:cNvSpPr/>
          <p:nvPr/>
        </p:nvSpPr>
        <p:spPr>
          <a:xfrm>
            <a:off x="2743200" y="1920240"/>
            <a:ext cx="1234440" cy="384048"/>
          </a:xfrm>
          <a:prstGeom prst="rect">
            <a:avLst/>
          </a:prstGeom>
          <a:noFill/>
          <a:ln/>
        </p:spPr>
        <p:txBody>
          <a:bodyPr wrap="square" lIns="0" tIns="0" rIns="0" bIns="0"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system-engineer</a:t>
            </a:r>
            <a:endParaRPr lang="en-US" sz="900" dirty="0"/>
          </a:p>
        </p:txBody>
      </p:sp>
      <p:pic>
        <p:nvPicPr>
          <p:cNvPr id="14" name="Image 2" descr="preencoded.png"/>
          <p:cNvPicPr>
            <a:picLocks noChangeAspect="1"/>
          </p:cNvPicPr>
          <p:nvPr/>
        </p:nvPicPr>
        <p:blipFill>
          <a:blip r:embed="rId3"/>
          <a:stretch>
            <a:fillRect/>
          </a:stretch>
        </p:blipFill>
        <p:spPr>
          <a:xfrm>
            <a:off x="3907231" y="1458468"/>
            <a:ext cx="118872" cy="118872"/>
          </a:xfrm>
          <a:prstGeom prst="rect">
            <a:avLst/>
          </a:prstGeom>
        </p:spPr>
      </p:pic>
      <p:sp>
        <p:nvSpPr>
          <p:cNvPr id="15" name="Shape 10"/>
          <p:cNvSpPr/>
          <p:nvPr/>
        </p:nvSpPr>
        <p:spPr>
          <a:xfrm>
            <a:off x="4037076" y="1188720"/>
            <a:ext cx="1069848" cy="658368"/>
          </a:xfrm>
          <a:prstGeom prst="roundRect">
            <a:avLst>
              <a:gd name="adj" fmla="val 9722"/>
            </a:avLst>
          </a:prstGeom>
          <a:solidFill>
            <a:srgbClr val="1E2761"/>
          </a:solidFill>
          <a:ln/>
        </p:spPr>
        <p:txBody>
          <a:bodyPr/>
          <a:lstStyle/>
          <a:p>
            <a:endParaRPr lang="en-US"/>
          </a:p>
        </p:txBody>
      </p:sp>
      <p:sp>
        <p:nvSpPr>
          <p:cNvPr id="16" name="Text 11"/>
          <p:cNvSpPr/>
          <p:nvPr/>
        </p:nvSpPr>
        <p:spPr>
          <a:xfrm>
            <a:off x="4037076" y="1188720"/>
            <a:ext cx="1069848" cy="658368"/>
          </a:xfrm>
          <a:prstGeom prst="rect">
            <a:avLst/>
          </a:prstGeom>
          <a:noFill/>
          <a:ln/>
        </p:spPr>
        <p:txBody>
          <a:bodyPr wrap="square" lIns="254" tIns="254" rIns="254" bIns="254"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Build</a:t>
            </a:r>
            <a:endParaRPr lang="en-US" sz="1150" dirty="0"/>
          </a:p>
        </p:txBody>
      </p:sp>
      <p:sp>
        <p:nvSpPr>
          <p:cNvPr id="17" name="Text 12"/>
          <p:cNvSpPr/>
          <p:nvPr/>
        </p:nvSpPr>
        <p:spPr>
          <a:xfrm>
            <a:off x="3954780" y="1920240"/>
            <a:ext cx="1234440" cy="384048"/>
          </a:xfrm>
          <a:prstGeom prst="rect">
            <a:avLst/>
          </a:prstGeom>
          <a:noFill/>
          <a:ln/>
        </p:spPr>
        <p:txBody>
          <a:bodyPr wrap="square" lIns="0" tIns="0" rIns="0" bIns="0"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software-engineer</a:t>
            </a:r>
            <a:endParaRPr lang="en-US" sz="900" dirty="0"/>
          </a:p>
        </p:txBody>
      </p:sp>
      <p:pic>
        <p:nvPicPr>
          <p:cNvPr id="18" name="Image 3" descr="preencoded.png"/>
          <p:cNvPicPr>
            <a:picLocks noChangeAspect="1"/>
          </p:cNvPicPr>
          <p:nvPr/>
        </p:nvPicPr>
        <p:blipFill>
          <a:blip r:embed="rId3"/>
          <a:stretch>
            <a:fillRect/>
          </a:stretch>
        </p:blipFill>
        <p:spPr>
          <a:xfrm>
            <a:off x="5118811" y="1458468"/>
            <a:ext cx="118872" cy="118872"/>
          </a:xfrm>
          <a:prstGeom prst="rect">
            <a:avLst/>
          </a:prstGeom>
        </p:spPr>
      </p:pic>
      <p:sp>
        <p:nvSpPr>
          <p:cNvPr id="19" name="Shape 13"/>
          <p:cNvSpPr/>
          <p:nvPr/>
        </p:nvSpPr>
        <p:spPr>
          <a:xfrm>
            <a:off x="5248656" y="1188720"/>
            <a:ext cx="1069848" cy="658368"/>
          </a:xfrm>
          <a:prstGeom prst="roundRect">
            <a:avLst>
              <a:gd name="adj" fmla="val 9722"/>
            </a:avLst>
          </a:prstGeom>
          <a:solidFill>
            <a:srgbClr val="1E2761"/>
          </a:solidFill>
          <a:ln/>
        </p:spPr>
        <p:txBody>
          <a:bodyPr/>
          <a:lstStyle/>
          <a:p>
            <a:endParaRPr lang="en-US"/>
          </a:p>
        </p:txBody>
      </p:sp>
      <p:sp>
        <p:nvSpPr>
          <p:cNvPr id="20" name="Text 14"/>
          <p:cNvSpPr/>
          <p:nvPr/>
        </p:nvSpPr>
        <p:spPr>
          <a:xfrm>
            <a:off x="5248656" y="1188720"/>
            <a:ext cx="1069848" cy="658368"/>
          </a:xfrm>
          <a:prstGeom prst="rect">
            <a:avLst/>
          </a:prstGeom>
          <a:noFill/>
          <a:ln/>
        </p:spPr>
        <p:txBody>
          <a:bodyPr wrap="square" lIns="254" tIns="254" rIns="254" bIns="254"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Test</a:t>
            </a:r>
            <a:endParaRPr lang="en-US" sz="1150" dirty="0"/>
          </a:p>
        </p:txBody>
      </p:sp>
      <p:sp>
        <p:nvSpPr>
          <p:cNvPr id="21" name="Text 15"/>
          <p:cNvSpPr/>
          <p:nvPr/>
        </p:nvSpPr>
        <p:spPr>
          <a:xfrm>
            <a:off x="5166360" y="1920240"/>
            <a:ext cx="1234440" cy="384048"/>
          </a:xfrm>
          <a:prstGeom prst="rect">
            <a:avLst/>
          </a:prstGeom>
          <a:noFill/>
          <a:ln/>
        </p:spPr>
        <p:txBody>
          <a:bodyPr wrap="square" lIns="0" tIns="0" rIns="0" bIns="0"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sqa-engineer</a:t>
            </a:r>
            <a:endParaRPr lang="en-US" sz="900" dirty="0"/>
          </a:p>
        </p:txBody>
      </p:sp>
      <p:pic>
        <p:nvPicPr>
          <p:cNvPr id="22" name="Image 4" descr="preencoded.png"/>
          <p:cNvPicPr>
            <a:picLocks noChangeAspect="1"/>
          </p:cNvPicPr>
          <p:nvPr/>
        </p:nvPicPr>
        <p:blipFill>
          <a:blip r:embed="rId3"/>
          <a:stretch>
            <a:fillRect/>
          </a:stretch>
        </p:blipFill>
        <p:spPr>
          <a:xfrm>
            <a:off x="6330391" y="1458468"/>
            <a:ext cx="118872" cy="118872"/>
          </a:xfrm>
          <a:prstGeom prst="rect">
            <a:avLst/>
          </a:prstGeom>
        </p:spPr>
      </p:pic>
      <p:sp>
        <p:nvSpPr>
          <p:cNvPr id="23" name="Shape 16"/>
          <p:cNvSpPr/>
          <p:nvPr/>
        </p:nvSpPr>
        <p:spPr>
          <a:xfrm>
            <a:off x="6460236" y="1188720"/>
            <a:ext cx="1069848" cy="658368"/>
          </a:xfrm>
          <a:prstGeom prst="roundRect">
            <a:avLst>
              <a:gd name="adj" fmla="val 9722"/>
            </a:avLst>
          </a:prstGeom>
          <a:solidFill>
            <a:srgbClr val="1E2761"/>
          </a:solidFill>
          <a:ln/>
        </p:spPr>
        <p:txBody>
          <a:bodyPr/>
          <a:lstStyle/>
          <a:p>
            <a:endParaRPr lang="en-US"/>
          </a:p>
        </p:txBody>
      </p:sp>
      <p:sp>
        <p:nvSpPr>
          <p:cNvPr id="24" name="Text 17"/>
          <p:cNvSpPr/>
          <p:nvPr/>
        </p:nvSpPr>
        <p:spPr>
          <a:xfrm>
            <a:off x="6460236" y="1188720"/>
            <a:ext cx="1069848" cy="658368"/>
          </a:xfrm>
          <a:prstGeom prst="rect">
            <a:avLst/>
          </a:prstGeom>
          <a:noFill/>
          <a:ln/>
        </p:spPr>
        <p:txBody>
          <a:bodyPr wrap="square" lIns="254" tIns="254" rIns="254" bIns="254"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Review</a:t>
            </a:r>
            <a:endParaRPr lang="en-US" sz="1150" dirty="0"/>
          </a:p>
        </p:txBody>
      </p:sp>
      <p:sp>
        <p:nvSpPr>
          <p:cNvPr id="25" name="Text 18"/>
          <p:cNvSpPr/>
          <p:nvPr/>
        </p:nvSpPr>
        <p:spPr>
          <a:xfrm>
            <a:off x="6377940" y="1920240"/>
            <a:ext cx="1234440" cy="384048"/>
          </a:xfrm>
          <a:prstGeom prst="rect">
            <a:avLst/>
          </a:prstGeom>
          <a:noFill/>
          <a:ln/>
        </p:spPr>
        <p:txBody>
          <a:bodyPr wrap="square" lIns="0" tIns="0" rIns="0" bIns="0"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code-reviewer</a:t>
            </a:r>
            <a:endParaRPr lang="en-US" sz="900" dirty="0"/>
          </a:p>
        </p:txBody>
      </p:sp>
      <p:pic>
        <p:nvPicPr>
          <p:cNvPr id="26" name="Image 5" descr="preencoded.png"/>
          <p:cNvPicPr>
            <a:picLocks noChangeAspect="1"/>
          </p:cNvPicPr>
          <p:nvPr/>
        </p:nvPicPr>
        <p:blipFill>
          <a:blip r:embed="rId3"/>
          <a:stretch>
            <a:fillRect/>
          </a:stretch>
        </p:blipFill>
        <p:spPr>
          <a:xfrm>
            <a:off x="7541971" y="1458468"/>
            <a:ext cx="118872" cy="118872"/>
          </a:xfrm>
          <a:prstGeom prst="rect">
            <a:avLst/>
          </a:prstGeom>
        </p:spPr>
      </p:pic>
      <p:sp>
        <p:nvSpPr>
          <p:cNvPr id="27" name="Shape 19"/>
          <p:cNvSpPr/>
          <p:nvPr/>
        </p:nvSpPr>
        <p:spPr>
          <a:xfrm>
            <a:off x="7671816" y="1188720"/>
            <a:ext cx="1069848" cy="658368"/>
          </a:xfrm>
          <a:prstGeom prst="roundRect">
            <a:avLst>
              <a:gd name="adj" fmla="val 9722"/>
            </a:avLst>
          </a:prstGeom>
          <a:solidFill>
            <a:srgbClr val="1E2761"/>
          </a:solidFill>
          <a:ln/>
        </p:spPr>
        <p:txBody>
          <a:bodyPr/>
          <a:lstStyle/>
          <a:p>
            <a:endParaRPr lang="en-US"/>
          </a:p>
        </p:txBody>
      </p:sp>
      <p:sp>
        <p:nvSpPr>
          <p:cNvPr id="28" name="Text 20"/>
          <p:cNvSpPr/>
          <p:nvPr/>
        </p:nvSpPr>
        <p:spPr>
          <a:xfrm>
            <a:off x="7671816" y="1188720"/>
            <a:ext cx="1069848" cy="658368"/>
          </a:xfrm>
          <a:prstGeom prst="rect">
            <a:avLst/>
          </a:prstGeom>
          <a:noFill/>
          <a:ln/>
        </p:spPr>
        <p:txBody>
          <a:bodyPr wrap="square" lIns="254" tIns="254" rIns="254" bIns="254"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Release</a:t>
            </a:r>
            <a:endParaRPr lang="en-US" sz="1150" dirty="0"/>
          </a:p>
        </p:txBody>
      </p:sp>
      <p:sp>
        <p:nvSpPr>
          <p:cNvPr id="29" name="Text 21"/>
          <p:cNvSpPr/>
          <p:nvPr/>
        </p:nvSpPr>
        <p:spPr>
          <a:xfrm>
            <a:off x="7589520" y="1920240"/>
            <a:ext cx="1234440" cy="384048"/>
          </a:xfrm>
          <a:prstGeom prst="rect">
            <a:avLst/>
          </a:prstGeom>
          <a:noFill/>
          <a:ln/>
        </p:spPr>
        <p:txBody>
          <a:bodyPr wrap="square" lIns="0" tIns="0" rIns="0" bIns="0"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product-owner</a:t>
            </a:r>
            <a:endParaRPr lang="en-US" sz="900" dirty="0"/>
          </a:p>
          <a:p>
            <a:pPr marL="0" indent="0" algn="ctr">
              <a:buNone/>
            </a:pPr>
            <a:r>
              <a:rPr lang="en-US" sz="900" i="1" dirty="0">
                <a:solidFill>
                  <a:srgbClr val="64748B"/>
                </a:solidFill>
                <a:latin typeface="Calibri" pitchFamily="34" charset="0"/>
                <a:ea typeface="Calibri" pitchFamily="34" charset="-122"/>
                <a:cs typeface="Calibri" pitchFamily="34" charset="-120"/>
              </a:rPr>
              <a:t>gate + CD skills</a:t>
            </a:r>
            <a:endParaRPr lang="en-US" sz="900" dirty="0"/>
          </a:p>
        </p:txBody>
      </p:sp>
      <p:sp>
        <p:nvSpPr>
          <p:cNvPr id="30" name="Shape 22"/>
          <p:cNvSpPr/>
          <p:nvPr/>
        </p:nvSpPr>
        <p:spPr>
          <a:xfrm>
            <a:off x="1188720" y="2606040"/>
            <a:ext cx="6766560" cy="1143000"/>
          </a:xfrm>
          <a:prstGeom prst="roundRect">
            <a:avLst>
              <a:gd name="adj" fmla="val 7200"/>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31" name="Shape 23"/>
          <p:cNvSpPr/>
          <p:nvPr/>
        </p:nvSpPr>
        <p:spPr>
          <a:xfrm>
            <a:off x="1463040" y="2875788"/>
            <a:ext cx="603504" cy="603504"/>
          </a:xfrm>
          <a:prstGeom prst="ellipse">
            <a:avLst/>
          </a:prstGeom>
          <a:solidFill>
            <a:srgbClr val="2EC4B6"/>
          </a:solidFill>
          <a:ln/>
        </p:spPr>
        <p:txBody>
          <a:bodyPr/>
          <a:lstStyle/>
          <a:p>
            <a:endParaRPr lang="en-US"/>
          </a:p>
        </p:txBody>
      </p:sp>
      <p:pic>
        <p:nvPicPr>
          <p:cNvPr id="32" name="Image 6" descr="preencoded.png"/>
          <p:cNvPicPr>
            <a:picLocks noChangeAspect="1"/>
          </p:cNvPicPr>
          <p:nvPr/>
        </p:nvPicPr>
        <p:blipFill>
          <a:blip r:embed="rId4"/>
          <a:stretch>
            <a:fillRect/>
          </a:stretch>
        </p:blipFill>
        <p:spPr>
          <a:xfrm>
            <a:off x="1619951" y="3032699"/>
            <a:ext cx="289682" cy="289682"/>
          </a:xfrm>
          <a:prstGeom prst="rect">
            <a:avLst/>
          </a:prstGeom>
        </p:spPr>
      </p:pic>
      <p:sp>
        <p:nvSpPr>
          <p:cNvPr id="33" name="Text 24"/>
          <p:cNvSpPr/>
          <p:nvPr/>
        </p:nvSpPr>
        <p:spPr>
          <a:xfrm>
            <a:off x="2286000" y="2770632"/>
            <a:ext cx="5394960" cy="813816"/>
          </a:xfrm>
          <a:prstGeom prst="rect">
            <a:avLst/>
          </a:prstGeom>
          <a:noFill/>
          <a:ln/>
        </p:spPr>
        <p:txBody>
          <a:bodyPr wrap="square" lIns="0" tIns="0" rIns="0" bIns="0" rtlCol="0" anchor="ctr"/>
          <a:lstStyle/>
          <a:p>
            <a:pPr marL="0" indent="0" algn="l">
              <a:buNone/>
            </a:pPr>
            <a:r>
              <a:rPr lang="en-US" sz="1500" b="1" dirty="0">
                <a:solidFill>
                  <a:srgbClr val="1E2761"/>
                </a:solidFill>
                <a:latin typeface="Calibri" pitchFamily="34" charset="0"/>
                <a:ea typeface="Calibri" pitchFamily="34" charset="-122"/>
                <a:cs typeface="Calibri" pitchFamily="34" charset="-120"/>
              </a:rPr>
              <a:t>The human becomes the Decision Maker</a:t>
            </a:r>
            <a:endParaRPr lang="en-US" sz="1500" dirty="0"/>
          </a:p>
          <a:p>
            <a:pPr marL="0" indent="0" algn="l">
              <a:buNone/>
            </a:pPr>
            <a:r>
              <a:rPr lang="en-US" sz="1250" dirty="0">
                <a:solidFill>
                  <a:srgbClr val="334155"/>
                </a:solidFill>
                <a:latin typeface="Calibri" pitchFamily="34" charset="0"/>
                <a:ea typeface="Calibri" pitchFamily="34" charset="-122"/>
                <a:cs typeface="Calibri" pitchFamily="34" charset="-120"/>
              </a:rPr>
              <a:t>Sets intent, approves gate crossings, resolves ambiguity — and reviews artifacts, not every line of code.</a:t>
            </a:r>
            <a:endParaRPr lang="en-US" sz="1500" dirty="0"/>
          </a:p>
        </p:txBody>
      </p:sp>
      <p:sp>
        <p:nvSpPr>
          <p:cNvPr id="34" name="Text 25"/>
          <p:cNvSpPr/>
          <p:nvPr/>
        </p:nvSpPr>
        <p:spPr>
          <a:xfrm>
            <a:off x="457200" y="4069080"/>
            <a:ext cx="8229600" cy="365760"/>
          </a:xfrm>
          <a:prstGeom prst="rect">
            <a:avLst/>
          </a:prstGeom>
          <a:noFill/>
          <a:ln/>
        </p:spPr>
        <p:txBody>
          <a:bodyPr wrap="square" rtlCol="0" anchor="ctr"/>
          <a:lstStyle/>
          <a:p>
            <a:pPr marL="0" indent="0" algn="ctr">
              <a:buNone/>
            </a:pPr>
            <a:r>
              <a:rPr lang="en-US" sz="1350" i="1" dirty="0">
                <a:solidFill>
                  <a:srgbClr val="64748B"/>
                </a:solidFill>
                <a:latin typeface="Calibri" pitchFamily="34" charset="0"/>
                <a:ea typeface="Calibri" pitchFamily="34" charset="-122"/>
                <a:cs typeface="Calibri" pitchFamily="34" charset="-120"/>
              </a:rPr>
              <a:t>Handoffs are explicit: each phase produces an artifact the next phase consumes.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Multi-Agent Orchestration: The Team Behind the Flow</a:t>
            </a:r>
            <a:endParaRPr lang="en-US" sz="3000" dirty="0"/>
          </a:p>
        </p:txBody>
      </p:sp>
      <p:sp>
        <p:nvSpPr>
          <p:cNvPr id="3" name="Text 1"/>
          <p:cNvSpPr/>
          <p:nvPr/>
        </p:nvSpPr>
        <p:spPr>
          <a:xfrm>
            <a:off x="457200" y="1143000"/>
            <a:ext cx="2103120" cy="1005840"/>
          </a:xfrm>
          <a:prstGeom prst="rect">
            <a:avLst/>
          </a:prstGeom>
          <a:noFill/>
          <a:ln/>
        </p:spPr>
        <p:txBody>
          <a:bodyPr wrap="square" lIns="0" tIns="0" rIns="0" bIns="0" rtlCol="0" anchor="ctr"/>
          <a:lstStyle/>
          <a:p>
            <a:pPr marL="0" indent="0" algn="l">
              <a:buNone/>
            </a:pPr>
            <a:r>
              <a:rPr lang="en-US" sz="7200" b="1" dirty="0">
                <a:solidFill>
                  <a:srgbClr val="1E2761"/>
                </a:solidFill>
                <a:latin typeface="Cambria" pitchFamily="34" charset="0"/>
                <a:ea typeface="Cambria" pitchFamily="34" charset="-122"/>
                <a:cs typeface="Cambria" pitchFamily="34" charset="-120"/>
              </a:rPr>
              <a:t>10</a:t>
            </a:r>
            <a:endParaRPr lang="en-US" sz="7200" dirty="0"/>
          </a:p>
        </p:txBody>
      </p:sp>
      <p:sp>
        <p:nvSpPr>
          <p:cNvPr id="4" name="Text 2"/>
          <p:cNvSpPr/>
          <p:nvPr/>
        </p:nvSpPr>
        <p:spPr>
          <a:xfrm>
            <a:off x="457200" y="2286000"/>
            <a:ext cx="2148840" cy="2011680"/>
          </a:xfrm>
          <a:prstGeom prst="rect">
            <a:avLst/>
          </a:prstGeom>
          <a:noFill/>
          <a:ln/>
        </p:spPr>
        <p:txBody>
          <a:bodyPr wrap="square" lIns="0" tIns="0" rIns="0" bIns="0" rtlCol="0" anchor="t"/>
          <a:lstStyle/>
          <a:p>
            <a:pPr marL="0" indent="0" algn="l">
              <a:buNone/>
            </a:pPr>
            <a:r>
              <a:rPr lang="en-US" sz="1000" dirty="0">
                <a:solidFill>
                  <a:srgbClr val="334155"/>
                </a:solidFill>
                <a:latin typeface="Calibri" pitchFamily="34" charset="0"/>
                <a:ea typeface="Calibri" pitchFamily="34" charset="-122"/>
                <a:cs typeface="Calibri" pitchFamily="34" charset="-120"/>
              </a:rPr>
              <a:t>role-scoped agents in .claude/agents — each with its own tools, skills and persistent memory, organised around a six-stage build loop.</a:t>
            </a:r>
            <a:endParaRPr lang="en-US" sz="1000" dirty="0"/>
          </a:p>
          <a:p>
            <a:pPr marL="0" indent="0" algn="l">
              <a:spcBef>
                <a:spcPts val="600"/>
              </a:spcBef>
              <a:buNone/>
            </a:pPr>
            <a:r>
              <a:rPr lang="en-US" sz="900" i="1" dirty="0">
                <a:solidFill>
                  <a:srgbClr val="64748B"/>
                </a:solidFill>
                <a:latin typeface="Calibri" pitchFamily="34" charset="0"/>
                <a:ea typeface="Calibri" pitchFamily="34" charset="-122"/>
                <a:cs typeface="Calibri" pitchFamily="34" charset="-120"/>
              </a:rPr>
              <a:t>Opus for planning and design · Sonnet for build, test and review.</a:t>
            </a:r>
            <a:endParaRPr lang="en-US" sz="900" dirty="0"/>
          </a:p>
        </p:txBody>
      </p:sp>
      <p:sp>
        <p:nvSpPr>
          <p:cNvPr id="5" name="Shape 3"/>
          <p:cNvSpPr/>
          <p:nvPr/>
        </p:nvSpPr>
        <p:spPr>
          <a:xfrm>
            <a:off x="2880360" y="1188720"/>
            <a:ext cx="2999232" cy="749808"/>
          </a:xfrm>
          <a:prstGeom prst="roundRect">
            <a:avLst>
              <a:gd name="adj" fmla="val 9091"/>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6" name="Shape 4"/>
          <p:cNvSpPr/>
          <p:nvPr/>
        </p:nvSpPr>
        <p:spPr>
          <a:xfrm>
            <a:off x="3026664" y="1389888"/>
            <a:ext cx="347472" cy="347472"/>
          </a:xfrm>
          <a:prstGeom prst="ellipse">
            <a:avLst/>
          </a:prstGeom>
          <a:solidFill>
            <a:srgbClr val="1E2761"/>
          </a:solidFill>
          <a:ln/>
        </p:spPr>
        <p:txBody>
          <a:bodyPr/>
          <a:lstStyle/>
          <a:p>
            <a:endParaRPr lang="en-US"/>
          </a:p>
        </p:txBody>
      </p:sp>
      <p:sp>
        <p:nvSpPr>
          <p:cNvPr id="7" name="Text 5"/>
          <p:cNvSpPr/>
          <p:nvPr/>
        </p:nvSpPr>
        <p:spPr>
          <a:xfrm>
            <a:off x="3026664" y="138988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3502152" y="1261872"/>
            <a:ext cx="2212848" cy="603504"/>
          </a:xfrm>
          <a:prstGeom prst="rect">
            <a:avLst/>
          </a:prstGeom>
          <a:noFill/>
          <a:ln/>
        </p:spPr>
        <p:txBody>
          <a:bodyPr wrap="square" lIns="0" tIns="0" rIns="0" bIns="0" rtlCol="0" anchor="ctr"/>
          <a:lstStyle/>
          <a:p>
            <a:pPr marL="0" indent="0" algn="l">
              <a:buNone/>
            </a:pPr>
            <a:r>
              <a:rPr lang="en-US" sz="1100" b="1" dirty="0">
                <a:solidFill>
                  <a:srgbClr val="1E2761"/>
                </a:solidFill>
                <a:latin typeface="Calibri" pitchFamily="34" charset="0"/>
                <a:ea typeface="Calibri" pitchFamily="34" charset="-122"/>
                <a:cs typeface="Calibri" pitchFamily="34" charset="-120"/>
              </a:rPr>
              <a:t>Plan</a:t>
            </a:r>
            <a:r>
              <a:rPr lang="en-US" sz="800" i="1" dirty="0">
                <a:solidFill>
                  <a:srgbClr val="64748B"/>
                </a:solidFill>
                <a:latin typeface="Calibri" pitchFamily="34" charset="0"/>
                <a:ea typeface="Calibri" pitchFamily="34" charset="-122"/>
                <a:cs typeface="Calibri" pitchFamily="34" charset="-120"/>
              </a:rPr>
              <a:t>   product-owner</a:t>
            </a:r>
            <a:endParaRPr lang="en-US" sz="1100" dirty="0"/>
          </a:p>
          <a:p>
            <a:pPr marL="0" indent="0" algn="l">
              <a:buNone/>
            </a:pPr>
            <a:r>
              <a:rPr lang="en-US" sz="800" dirty="0">
                <a:solidFill>
                  <a:srgbClr val="334155"/>
                </a:solidFill>
                <a:latin typeface="Calibri" pitchFamily="34" charset="0"/>
                <a:ea typeface="Calibri" pitchFamily="34" charset="-122"/>
                <a:cs typeface="Calibri" pitchFamily="34" charset="-120"/>
              </a:rPr>
              <a:t>Business requirement analysis and project planning.</a:t>
            </a:r>
            <a:endParaRPr lang="en-US" sz="800" dirty="0"/>
          </a:p>
        </p:txBody>
      </p:sp>
      <p:sp>
        <p:nvSpPr>
          <p:cNvPr id="9" name="Shape 7"/>
          <p:cNvSpPr/>
          <p:nvPr/>
        </p:nvSpPr>
        <p:spPr>
          <a:xfrm>
            <a:off x="2880360" y="2029968"/>
            <a:ext cx="2999232" cy="749808"/>
          </a:xfrm>
          <a:prstGeom prst="roundRect">
            <a:avLst>
              <a:gd name="adj" fmla="val 9091"/>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10" name="Shape 8"/>
          <p:cNvSpPr/>
          <p:nvPr/>
        </p:nvSpPr>
        <p:spPr>
          <a:xfrm>
            <a:off x="3026664" y="2231136"/>
            <a:ext cx="347472" cy="347472"/>
          </a:xfrm>
          <a:prstGeom prst="ellipse">
            <a:avLst/>
          </a:prstGeom>
          <a:solidFill>
            <a:srgbClr val="1E2761"/>
          </a:solidFill>
          <a:ln/>
        </p:spPr>
        <p:txBody>
          <a:bodyPr/>
          <a:lstStyle/>
          <a:p>
            <a:endParaRPr lang="en-US"/>
          </a:p>
        </p:txBody>
      </p:sp>
      <p:sp>
        <p:nvSpPr>
          <p:cNvPr id="11" name="Text 9"/>
          <p:cNvSpPr/>
          <p:nvPr/>
        </p:nvSpPr>
        <p:spPr>
          <a:xfrm>
            <a:off x="3026664" y="2231136"/>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3502152" y="2103120"/>
            <a:ext cx="2212848" cy="603504"/>
          </a:xfrm>
          <a:prstGeom prst="rect">
            <a:avLst/>
          </a:prstGeom>
          <a:noFill/>
          <a:ln/>
        </p:spPr>
        <p:txBody>
          <a:bodyPr wrap="square" lIns="0" tIns="0" rIns="0" bIns="0" rtlCol="0" anchor="ctr"/>
          <a:lstStyle/>
          <a:p>
            <a:pPr marL="0" indent="0" algn="l">
              <a:buNone/>
            </a:pPr>
            <a:r>
              <a:rPr lang="en-US" sz="1100" b="1" dirty="0">
                <a:solidFill>
                  <a:srgbClr val="1E2761"/>
                </a:solidFill>
                <a:latin typeface="Calibri" pitchFamily="34" charset="0"/>
                <a:ea typeface="Calibri" pitchFamily="34" charset="-122"/>
                <a:cs typeface="Calibri" pitchFamily="34" charset="-120"/>
              </a:rPr>
              <a:t>Architect</a:t>
            </a:r>
            <a:r>
              <a:rPr lang="en-US" sz="800" i="1" dirty="0">
                <a:solidFill>
                  <a:srgbClr val="64748B"/>
                </a:solidFill>
                <a:latin typeface="Calibri" pitchFamily="34" charset="0"/>
                <a:ea typeface="Calibri" pitchFamily="34" charset="-122"/>
                <a:cs typeface="Calibri" pitchFamily="34" charset="-120"/>
              </a:rPr>
              <a:t>   software-architect</a:t>
            </a:r>
            <a:endParaRPr lang="en-US" sz="1100" dirty="0"/>
          </a:p>
          <a:p>
            <a:pPr marL="0" indent="0" algn="l">
              <a:buNone/>
            </a:pPr>
            <a:r>
              <a:rPr lang="en-US" sz="800" dirty="0">
                <a:solidFill>
                  <a:srgbClr val="334155"/>
                </a:solidFill>
                <a:latin typeface="Calibri" pitchFamily="34" charset="0"/>
                <a:ea typeface="Calibri" pitchFamily="34" charset="-122"/>
                <a:cs typeface="Calibri" pitchFamily="34" charset="-120"/>
              </a:rPr>
              <a:t>Technical requirement analysis, architectural design, sets the boundaries.</a:t>
            </a:r>
            <a:endParaRPr lang="en-US" sz="800" dirty="0"/>
          </a:p>
        </p:txBody>
      </p:sp>
      <p:sp>
        <p:nvSpPr>
          <p:cNvPr id="13" name="Shape 11"/>
          <p:cNvSpPr/>
          <p:nvPr/>
        </p:nvSpPr>
        <p:spPr>
          <a:xfrm>
            <a:off x="2880360" y="2871216"/>
            <a:ext cx="2999232" cy="749808"/>
          </a:xfrm>
          <a:prstGeom prst="roundRect">
            <a:avLst>
              <a:gd name="adj" fmla="val 9091"/>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14" name="Shape 12"/>
          <p:cNvSpPr/>
          <p:nvPr/>
        </p:nvSpPr>
        <p:spPr>
          <a:xfrm>
            <a:off x="3026664" y="3072384"/>
            <a:ext cx="347472" cy="347472"/>
          </a:xfrm>
          <a:prstGeom prst="ellipse">
            <a:avLst/>
          </a:prstGeom>
          <a:solidFill>
            <a:srgbClr val="1E2761"/>
          </a:solidFill>
          <a:ln/>
        </p:spPr>
        <p:txBody>
          <a:bodyPr/>
          <a:lstStyle/>
          <a:p>
            <a:endParaRPr lang="en-US"/>
          </a:p>
        </p:txBody>
      </p:sp>
      <p:sp>
        <p:nvSpPr>
          <p:cNvPr id="15" name="Text 13"/>
          <p:cNvSpPr/>
          <p:nvPr/>
        </p:nvSpPr>
        <p:spPr>
          <a:xfrm>
            <a:off x="3026664" y="3072384"/>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p:nvPr/>
        </p:nvSpPr>
        <p:spPr>
          <a:xfrm>
            <a:off x="3502152" y="2944368"/>
            <a:ext cx="2212848" cy="603504"/>
          </a:xfrm>
          <a:prstGeom prst="rect">
            <a:avLst/>
          </a:prstGeom>
          <a:noFill/>
          <a:ln/>
        </p:spPr>
        <p:txBody>
          <a:bodyPr wrap="square" lIns="0" tIns="0" rIns="0" bIns="0" rtlCol="0" anchor="ctr"/>
          <a:lstStyle/>
          <a:p>
            <a:pPr marL="0" indent="0" algn="l">
              <a:buNone/>
            </a:pPr>
            <a:r>
              <a:rPr lang="en-US" sz="1100" b="1" dirty="0">
                <a:solidFill>
                  <a:srgbClr val="1E2761"/>
                </a:solidFill>
                <a:latin typeface="Calibri" pitchFamily="34" charset="0"/>
                <a:ea typeface="Calibri" pitchFamily="34" charset="-122"/>
                <a:cs typeface="Calibri" pitchFamily="34" charset="-120"/>
              </a:rPr>
              <a:t>System Design</a:t>
            </a:r>
            <a:r>
              <a:rPr lang="en-US" sz="800" i="1" dirty="0">
                <a:solidFill>
                  <a:srgbClr val="64748B"/>
                </a:solidFill>
                <a:latin typeface="Calibri" pitchFamily="34" charset="0"/>
                <a:ea typeface="Calibri" pitchFamily="34" charset="-122"/>
                <a:cs typeface="Calibri" pitchFamily="34" charset="-120"/>
              </a:rPr>
              <a:t>   system-engineer</a:t>
            </a:r>
            <a:endParaRPr lang="en-US" sz="1100" dirty="0"/>
          </a:p>
          <a:p>
            <a:pPr marL="0" indent="0" algn="l">
              <a:buNone/>
            </a:pPr>
            <a:r>
              <a:rPr lang="en-US" sz="800" dirty="0">
                <a:solidFill>
                  <a:srgbClr val="334155"/>
                </a:solidFill>
                <a:latin typeface="Calibri" pitchFamily="34" charset="0"/>
                <a:ea typeface="Calibri" pitchFamily="34" charset="-122"/>
                <a:cs typeface="Calibri" pitchFamily="34" charset="-120"/>
              </a:rPr>
              <a:t>System design and the implementation plan.</a:t>
            </a:r>
            <a:endParaRPr lang="en-US" sz="800" dirty="0"/>
          </a:p>
        </p:txBody>
      </p:sp>
      <p:sp>
        <p:nvSpPr>
          <p:cNvPr id="17" name="Shape 15"/>
          <p:cNvSpPr/>
          <p:nvPr/>
        </p:nvSpPr>
        <p:spPr>
          <a:xfrm>
            <a:off x="6035040" y="1188720"/>
            <a:ext cx="2999232" cy="749808"/>
          </a:xfrm>
          <a:prstGeom prst="roundRect">
            <a:avLst>
              <a:gd name="adj" fmla="val 9091"/>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18" name="Shape 16"/>
          <p:cNvSpPr/>
          <p:nvPr/>
        </p:nvSpPr>
        <p:spPr>
          <a:xfrm>
            <a:off x="6181344" y="1389888"/>
            <a:ext cx="347472" cy="347472"/>
          </a:xfrm>
          <a:prstGeom prst="ellipse">
            <a:avLst/>
          </a:prstGeom>
          <a:solidFill>
            <a:srgbClr val="1E2761"/>
          </a:solidFill>
          <a:ln/>
        </p:spPr>
        <p:txBody>
          <a:bodyPr/>
          <a:lstStyle/>
          <a:p>
            <a:endParaRPr lang="en-US"/>
          </a:p>
        </p:txBody>
      </p:sp>
      <p:sp>
        <p:nvSpPr>
          <p:cNvPr id="19" name="Text 17"/>
          <p:cNvSpPr/>
          <p:nvPr/>
        </p:nvSpPr>
        <p:spPr>
          <a:xfrm>
            <a:off x="6181344" y="138988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8"/>
          <p:cNvSpPr/>
          <p:nvPr/>
        </p:nvSpPr>
        <p:spPr>
          <a:xfrm>
            <a:off x="6656832" y="1261872"/>
            <a:ext cx="2212848" cy="603504"/>
          </a:xfrm>
          <a:prstGeom prst="rect">
            <a:avLst/>
          </a:prstGeom>
          <a:noFill/>
          <a:ln/>
        </p:spPr>
        <p:txBody>
          <a:bodyPr wrap="square" lIns="0" tIns="0" rIns="0" bIns="0" rtlCol="0" anchor="ctr"/>
          <a:lstStyle/>
          <a:p>
            <a:pPr marL="0" indent="0" algn="l">
              <a:buNone/>
            </a:pPr>
            <a:r>
              <a:rPr lang="en-US" sz="1100" b="1" dirty="0">
                <a:solidFill>
                  <a:srgbClr val="1E2761"/>
                </a:solidFill>
                <a:latin typeface="Calibri" pitchFamily="34" charset="0"/>
                <a:ea typeface="Calibri" pitchFamily="34" charset="-122"/>
                <a:cs typeface="Calibri" pitchFamily="34" charset="-120"/>
              </a:rPr>
              <a:t>Build</a:t>
            </a:r>
            <a:r>
              <a:rPr lang="en-US" sz="800" i="1" dirty="0">
                <a:solidFill>
                  <a:srgbClr val="64748B"/>
                </a:solidFill>
                <a:latin typeface="Calibri" pitchFamily="34" charset="0"/>
                <a:ea typeface="Calibri" pitchFamily="34" charset="-122"/>
                <a:cs typeface="Calibri" pitchFamily="34" charset="-120"/>
              </a:rPr>
              <a:t>   software-engineer</a:t>
            </a:r>
            <a:endParaRPr lang="en-US" sz="1100" dirty="0"/>
          </a:p>
          <a:p>
            <a:pPr marL="0" indent="0" algn="l">
              <a:buNone/>
            </a:pPr>
            <a:r>
              <a:rPr lang="en-US" sz="800" dirty="0">
                <a:solidFill>
                  <a:srgbClr val="334155"/>
                </a:solidFill>
                <a:latin typeface="Calibri" pitchFamily="34" charset="0"/>
                <a:ea typeface="Calibri" pitchFamily="34" charset="-122"/>
                <a:cs typeface="Calibri" pitchFamily="34" charset="-120"/>
              </a:rPr>
              <a:t>Implements features, fixes bugs, runs refactors.</a:t>
            </a:r>
            <a:endParaRPr lang="en-US" sz="800" dirty="0"/>
          </a:p>
        </p:txBody>
      </p:sp>
      <p:sp>
        <p:nvSpPr>
          <p:cNvPr id="21" name="Shape 19"/>
          <p:cNvSpPr/>
          <p:nvPr/>
        </p:nvSpPr>
        <p:spPr>
          <a:xfrm>
            <a:off x="6035040" y="2029968"/>
            <a:ext cx="2999232" cy="749808"/>
          </a:xfrm>
          <a:prstGeom prst="roundRect">
            <a:avLst>
              <a:gd name="adj" fmla="val 9091"/>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22" name="Shape 20"/>
          <p:cNvSpPr/>
          <p:nvPr/>
        </p:nvSpPr>
        <p:spPr>
          <a:xfrm>
            <a:off x="6181344" y="2231136"/>
            <a:ext cx="347472" cy="347472"/>
          </a:xfrm>
          <a:prstGeom prst="ellipse">
            <a:avLst/>
          </a:prstGeom>
          <a:solidFill>
            <a:srgbClr val="1E2761"/>
          </a:solidFill>
          <a:ln/>
        </p:spPr>
        <p:txBody>
          <a:bodyPr/>
          <a:lstStyle/>
          <a:p>
            <a:endParaRPr lang="en-US"/>
          </a:p>
        </p:txBody>
      </p:sp>
      <p:sp>
        <p:nvSpPr>
          <p:cNvPr id="23" name="Text 21"/>
          <p:cNvSpPr/>
          <p:nvPr/>
        </p:nvSpPr>
        <p:spPr>
          <a:xfrm>
            <a:off x="6181344" y="2231136"/>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2"/>
          <p:cNvSpPr/>
          <p:nvPr/>
        </p:nvSpPr>
        <p:spPr>
          <a:xfrm>
            <a:off x="6656832" y="2103120"/>
            <a:ext cx="2212848" cy="603504"/>
          </a:xfrm>
          <a:prstGeom prst="rect">
            <a:avLst/>
          </a:prstGeom>
          <a:noFill/>
          <a:ln/>
        </p:spPr>
        <p:txBody>
          <a:bodyPr wrap="square" lIns="0" tIns="0" rIns="0" bIns="0" rtlCol="0" anchor="ctr"/>
          <a:lstStyle/>
          <a:p>
            <a:pPr marL="0" indent="0" algn="l">
              <a:buNone/>
            </a:pPr>
            <a:r>
              <a:rPr lang="en-US" sz="1100" b="1" dirty="0">
                <a:solidFill>
                  <a:srgbClr val="1E2761"/>
                </a:solidFill>
                <a:latin typeface="Calibri" pitchFamily="34" charset="0"/>
                <a:ea typeface="Calibri" pitchFamily="34" charset="-122"/>
                <a:cs typeface="Calibri" pitchFamily="34" charset="-120"/>
              </a:rPr>
              <a:t>Test</a:t>
            </a:r>
            <a:r>
              <a:rPr lang="en-US" sz="800" i="1" dirty="0">
                <a:solidFill>
                  <a:srgbClr val="64748B"/>
                </a:solidFill>
                <a:latin typeface="Calibri" pitchFamily="34" charset="0"/>
                <a:ea typeface="Calibri" pitchFamily="34" charset="-122"/>
                <a:cs typeface="Calibri" pitchFamily="34" charset="-120"/>
              </a:rPr>
              <a:t>   sqa-engineer</a:t>
            </a:r>
            <a:endParaRPr lang="en-US" sz="1100" dirty="0"/>
          </a:p>
          <a:p>
            <a:pPr marL="0" indent="0" algn="l">
              <a:buNone/>
            </a:pPr>
            <a:r>
              <a:rPr lang="en-US" sz="800" dirty="0">
                <a:solidFill>
                  <a:srgbClr val="334155"/>
                </a:solidFill>
                <a:latin typeface="Calibri" pitchFamily="34" charset="0"/>
                <a:ea typeface="Calibri" pitchFamily="34" charset="-122"/>
                <a:cs typeface="Calibri" pitchFamily="34" charset="-120"/>
              </a:rPr>
              <a:t>Designs the test suite and implements the test cases.</a:t>
            </a:r>
            <a:endParaRPr lang="en-US" sz="800" dirty="0"/>
          </a:p>
        </p:txBody>
      </p:sp>
      <p:sp>
        <p:nvSpPr>
          <p:cNvPr id="25" name="Shape 23"/>
          <p:cNvSpPr/>
          <p:nvPr/>
        </p:nvSpPr>
        <p:spPr>
          <a:xfrm>
            <a:off x="6035040" y="2871216"/>
            <a:ext cx="2999232" cy="749808"/>
          </a:xfrm>
          <a:prstGeom prst="roundRect">
            <a:avLst>
              <a:gd name="adj" fmla="val 9091"/>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26" name="Shape 24"/>
          <p:cNvSpPr/>
          <p:nvPr/>
        </p:nvSpPr>
        <p:spPr>
          <a:xfrm>
            <a:off x="6181344" y="3072384"/>
            <a:ext cx="347472" cy="347472"/>
          </a:xfrm>
          <a:prstGeom prst="ellipse">
            <a:avLst/>
          </a:prstGeom>
          <a:solidFill>
            <a:srgbClr val="1E2761"/>
          </a:solidFill>
          <a:ln/>
        </p:spPr>
        <p:txBody>
          <a:bodyPr/>
          <a:lstStyle/>
          <a:p>
            <a:endParaRPr lang="en-US"/>
          </a:p>
        </p:txBody>
      </p:sp>
      <p:sp>
        <p:nvSpPr>
          <p:cNvPr id="27" name="Text 25"/>
          <p:cNvSpPr/>
          <p:nvPr/>
        </p:nvSpPr>
        <p:spPr>
          <a:xfrm>
            <a:off x="6181344" y="3072384"/>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8" name="Text 26"/>
          <p:cNvSpPr/>
          <p:nvPr/>
        </p:nvSpPr>
        <p:spPr>
          <a:xfrm>
            <a:off x="6656832" y="2944368"/>
            <a:ext cx="2212848" cy="603504"/>
          </a:xfrm>
          <a:prstGeom prst="rect">
            <a:avLst/>
          </a:prstGeom>
          <a:noFill/>
          <a:ln/>
        </p:spPr>
        <p:txBody>
          <a:bodyPr wrap="square" lIns="0" tIns="0" rIns="0" bIns="0" rtlCol="0" anchor="ctr"/>
          <a:lstStyle/>
          <a:p>
            <a:pPr marL="0" indent="0" algn="l">
              <a:buNone/>
            </a:pPr>
            <a:r>
              <a:rPr lang="en-US" sz="1100" b="1" dirty="0">
                <a:solidFill>
                  <a:srgbClr val="1E2761"/>
                </a:solidFill>
                <a:latin typeface="Calibri" pitchFamily="34" charset="0"/>
                <a:ea typeface="Calibri" pitchFamily="34" charset="-122"/>
                <a:cs typeface="Calibri" pitchFamily="34" charset="-120"/>
              </a:rPr>
              <a:t>Review</a:t>
            </a:r>
            <a:r>
              <a:rPr lang="en-US" sz="800" i="1" dirty="0">
                <a:solidFill>
                  <a:srgbClr val="64748B"/>
                </a:solidFill>
                <a:latin typeface="Calibri" pitchFamily="34" charset="0"/>
                <a:ea typeface="Calibri" pitchFamily="34" charset="-122"/>
                <a:cs typeface="Calibri" pitchFamily="34" charset="-120"/>
              </a:rPr>
              <a:t>   code-reviewer</a:t>
            </a:r>
            <a:endParaRPr lang="en-US" sz="1100" dirty="0"/>
          </a:p>
          <a:p>
            <a:pPr marL="0" indent="0" algn="l">
              <a:buNone/>
            </a:pPr>
            <a:r>
              <a:rPr lang="en-US" sz="800" dirty="0">
                <a:solidFill>
                  <a:srgbClr val="334155"/>
                </a:solidFill>
                <a:latin typeface="Calibri" pitchFamily="34" charset="0"/>
                <a:ea typeface="Calibri" pitchFamily="34" charset="-122"/>
                <a:cs typeface="Calibri" pitchFamily="34" charset="-120"/>
              </a:rPr>
              <a:t>Reviews both engineer and SQA code — loops until conventions are met.</a:t>
            </a:r>
            <a:endParaRPr lang="en-US" sz="800" dirty="0"/>
          </a:p>
        </p:txBody>
      </p:sp>
      <p:sp>
        <p:nvSpPr>
          <p:cNvPr id="29" name="Shape 27"/>
          <p:cNvSpPr/>
          <p:nvPr/>
        </p:nvSpPr>
        <p:spPr>
          <a:xfrm>
            <a:off x="2880360" y="3767328"/>
            <a:ext cx="6153912" cy="914400"/>
          </a:xfrm>
          <a:prstGeom prst="roundRect">
            <a:avLst>
              <a:gd name="adj" fmla="val 8000"/>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30" name="Shape 28"/>
          <p:cNvSpPr/>
          <p:nvPr/>
        </p:nvSpPr>
        <p:spPr>
          <a:xfrm>
            <a:off x="3063240" y="3995928"/>
            <a:ext cx="457200" cy="457200"/>
          </a:xfrm>
          <a:prstGeom prst="ellipse">
            <a:avLst/>
          </a:prstGeom>
          <a:solidFill>
            <a:srgbClr val="2EC4B6"/>
          </a:solidFill>
          <a:ln/>
        </p:spPr>
        <p:txBody>
          <a:bodyPr/>
          <a:lstStyle/>
          <a:p>
            <a:endParaRPr lang="en-US"/>
          </a:p>
        </p:txBody>
      </p:sp>
      <p:pic>
        <p:nvPicPr>
          <p:cNvPr id="31" name="Image 0" descr="preencoded.png"/>
          <p:cNvPicPr>
            <a:picLocks noChangeAspect="1"/>
          </p:cNvPicPr>
          <p:nvPr/>
        </p:nvPicPr>
        <p:blipFill>
          <a:blip r:embed="rId3"/>
          <a:stretch>
            <a:fillRect/>
          </a:stretch>
        </p:blipFill>
        <p:spPr>
          <a:xfrm>
            <a:off x="3182112" y="4114800"/>
            <a:ext cx="219456" cy="219456"/>
          </a:xfrm>
          <a:prstGeom prst="rect">
            <a:avLst/>
          </a:prstGeom>
        </p:spPr>
      </p:pic>
      <p:sp>
        <p:nvSpPr>
          <p:cNvPr id="32" name="Text 29"/>
          <p:cNvSpPr/>
          <p:nvPr/>
        </p:nvSpPr>
        <p:spPr>
          <a:xfrm>
            <a:off x="3657600" y="3840480"/>
            <a:ext cx="5212080" cy="768096"/>
          </a:xfrm>
          <a:prstGeom prst="rect">
            <a:avLst/>
          </a:prstGeom>
          <a:noFill/>
          <a:ln/>
        </p:spPr>
        <p:txBody>
          <a:bodyPr wrap="square" lIns="0" tIns="0" rIns="0" bIns="0" rtlCol="0" anchor="ctr"/>
          <a:lstStyle/>
          <a:p>
            <a:pPr marL="0" indent="0" algn="l">
              <a:buNone/>
            </a:pPr>
            <a:r>
              <a:rPr lang="en-US" sz="1200" b="1" dirty="0">
                <a:solidFill>
                  <a:srgbClr val="1E2761"/>
                </a:solidFill>
                <a:latin typeface="Calibri" pitchFamily="34" charset="0"/>
                <a:ea typeface="Calibri" pitchFamily="34" charset="-122"/>
                <a:cs typeface="Calibri" pitchFamily="34" charset="-120"/>
              </a:rPr>
              <a:t>Cross-cutting</a:t>
            </a:r>
            <a:endParaRPr lang="en-US" sz="1200" dirty="0"/>
          </a:p>
          <a:p>
            <a:pPr marL="0" indent="0" algn="l">
              <a:buNone/>
            </a:pPr>
            <a:r>
              <a:rPr lang="en-US" sz="950" dirty="0">
                <a:solidFill>
                  <a:srgbClr val="334155"/>
                </a:solidFill>
                <a:latin typeface="Calibri" pitchFamily="34" charset="0"/>
                <a:ea typeface="Calibri" pitchFamily="34" charset="-122"/>
                <a:cs typeface="Calibri" pitchFamily="34" charset="-120"/>
              </a:rPr>
              <a:t>documentation-writer writes every document and brutal-critique reviews it · research-assistant runs every research task and owns the knowledge base · agent-manager is the Agent Resource Manager — the only agent that may change agents, skills, hooks or rules</a:t>
            </a:r>
            <a:endParaRPr lang="en-US" sz="950" dirty="0"/>
          </a:p>
        </p:txBody>
      </p:sp>
      <p:sp>
        <p:nvSpPr>
          <p:cNvPr id="200" name="ColHeaderPlanning"/>
          <p:cNvSpPr/>
          <p:nvPr/>
        </p:nvSpPr>
        <p:spPr>
          <a:xfrm>
            <a:off x="2880360" y="932688"/>
            <a:ext cx="2999232" cy="210312"/>
          </a:xfrm>
          <a:prstGeom prst="rect">
            <a:avLst/>
          </a:prstGeom>
          <a:noFill/>
          <a:ln/>
        </p:spPr>
        <p:txBody>
          <a:bodyPr wrap="square" lIns="0" tIns="0" rIns="0" bIns="0" rtlCol="0" anchor="ctr"/>
          <a:lstStyle/>
          <a:p>
            <a:pPr marL="0" indent="0" algn="l">
              <a:buNone/>
            </a:pPr>
            <a:r>
              <a:rPr lang="en-US" sz="1150" b="1" dirty="0">
                <a:solidFill>
                  <a:srgbClr val="1E2761"/>
                </a:solidFill>
                <a:latin typeface="Calibri" pitchFamily="34" charset="0"/>
                <a:ea typeface="Calibri" pitchFamily="34" charset="-122"/>
                <a:cs typeface="Calibri" pitchFamily="34" charset="-120"/>
              </a:rPr>
              <a:t>Planning</a:t>
            </a:r>
            <a:r>
              <a:rPr lang="en-US" sz="800" i="1" dirty="0">
                <a:solidFill>
                  <a:srgbClr val="64748B"/>
                </a:solidFill>
                <a:latin typeface="Calibri" pitchFamily="34" charset="0"/>
                <a:ea typeface="Calibri" pitchFamily="34" charset="-122"/>
                <a:cs typeface="Calibri" pitchFamily="34" charset="-120"/>
              </a:rPr>
              <a:t>   intent → boundaries → design</a:t>
            </a:r>
            <a:endParaRPr lang="en-US" sz="1150" dirty="0"/>
          </a:p>
        </p:txBody>
      </p:sp>
      <p:sp>
        <p:nvSpPr>
          <p:cNvPr id="201" name="ColHeaderImplementation"/>
          <p:cNvSpPr/>
          <p:nvPr/>
        </p:nvSpPr>
        <p:spPr>
          <a:xfrm>
            <a:off x="6035040" y="932688"/>
            <a:ext cx="2999232" cy="210312"/>
          </a:xfrm>
          <a:prstGeom prst="rect">
            <a:avLst/>
          </a:prstGeom>
          <a:noFill/>
          <a:ln/>
        </p:spPr>
        <p:txBody>
          <a:bodyPr wrap="square" lIns="0" tIns="0" rIns="0" bIns="0" rtlCol="0" anchor="ctr"/>
          <a:lstStyle/>
          <a:p>
            <a:pPr marL="0" indent="0" algn="l">
              <a:buNone/>
            </a:pPr>
            <a:r>
              <a:rPr lang="en-US" sz="1150" b="1" dirty="0">
                <a:solidFill>
                  <a:srgbClr val="1E2761"/>
                </a:solidFill>
                <a:latin typeface="Calibri" pitchFamily="34" charset="0"/>
                <a:ea typeface="Calibri" pitchFamily="34" charset="-122"/>
                <a:cs typeface="Calibri" pitchFamily="34" charset="-120"/>
              </a:rPr>
              <a:t>Implementation</a:t>
            </a:r>
            <a:r>
              <a:rPr lang="en-US" sz="800" i="1" dirty="0">
                <a:solidFill>
                  <a:srgbClr val="64748B"/>
                </a:solidFill>
                <a:latin typeface="Calibri" pitchFamily="34" charset="0"/>
                <a:ea typeface="Calibri" pitchFamily="34" charset="-122"/>
                <a:cs typeface="Calibri" pitchFamily="34" charset="-120"/>
              </a:rPr>
              <a:t>   code → tests → review</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140" name="OrchestratorCard"/>
          <p:cNvSpPr/>
          <p:nvPr/>
        </p:nvSpPr>
        <p:spPr>
          <a:xfrm>
            <a:off x="274320" y="2103120"/>
            <a:ext cx="1645920" cy="1554480"/>
          </a:xfrm>
          <a:prstGeom prst="roundRect">
            <a:avLst>
              <a:gd name="adj" fmla="val 11000"/>
            </a:avLst>
          </a:prstGeom>
          <a:solidFill>
            <a:srgbClr val="EEF4FE"/>
          </a:solidFill>
          <a:ln>
            <a:noFill/>
          </a:ln>
          <a:effectLst>
            <a:outerShdw blurRad="88900" dist="25400" dir="2700000" algn="tl">
              <a:srgbClr val="000000">
                <a:alpha val="14000"/>
              </a:srgbClr>
            </a:outerShdw>
          </a:effectLst>
        </p:spPr>
        <p:txBody>
          <a:bodyPr wrap="square" lIns="18000" tIns="18000" rIns="18000" bIns="18000" anchor="ctr"/>
          <a:lstStyle/>
          <a:p>
            <a:pPr algn="ctr"/>
            <a:endParaRPr/>
          </a:p>
        </p:txBody>
      </p:sp>
      <p:sp>
        <p:nvSpPr>
          <p:cNvPr id="2" name="Text 0"/>
          <p:cNvSpPr/>
          <p:nvPr/>
        </p:nvSpPr>
        <p:spPr>
          <a:xfrm>
            <a:off x="457200" y="292608"/>
            <a:ext cx="8229600" cy="566928"/>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The Orchestrated Flow: Trust, but Verify</a:t>
            </a:r>
            <a:endParaRPr lang="en-US" sz="3000" dirty="0"/>
          </a:p>
        </p:txBody>
      </p:sp>
      <p:sp>
        <p:nvSpPr>
          <p:cNvPr id="26" name="Shape 18"/>
          <p:cNvSpPr/>
          <p:nvPr/>
        </p:nvSpPr>
        <p:spPr>
          <a:xfrm>
            <a:off x="841248" y="2176272"/>
            <a:ext cx="512064" cy="512064"/>
          </a:xfrm>
          <a:prstGeom prst="ellipse">
            <a:avLst/>
          </a:prstGeom>
          <a:solidFill>
            <a:srgbClr val="2EC4B6"/>
          </a:solidFill>
          <a:ln/>
        </p:spPr>
        <p:txBody>
          <a:bodyPr/>
          <a:lstStyle/>
          <a:p>
            <a:endParaRPr lang="en-US"/>
          </a:p>
        </p:txBody>
      </p:sp>
      <p:pic>
        <p:nvPicPr>
          <p:cNvPr id="27" name="Image 6" descr="preencoded.png"/>
          <p:cNvPicPr>
            <a:picLocks noChangeAspect="1"/>
          </p:cNvPicPr>
          <p:nvPr/>
        </p:nvPicPr>
        <p:blipFill>
          <a:blip r:embed="rId3"/>
          <a:stretch>
            <a:fillRect/>
          </a:stretch>
        </p:blipFill>
        <p:spPr>
          <a:xfrm>
            <a:off x="985266" y="2320290"/>
            <a:ext cx="224028" cy="224028"/>
          </a:xfrm>
          <a:prstGeom prst="rect">
            <a:avLst/>
          </a:prstGeom>
        </p:spPr>
      </p:pic>
      <p:sp>
        <p:nvSpPr>
          <p:cNvPr id="101" name="Node1"/>
          <p:cNvSpPr/>
          <p:nvPr/>
        </p:nvSpPr>
        <p:spPr>
          <a:xfrm>
            <a:off x="2574861" y="2831941"/>
            <a:ext cx="960120" cy="566928"/>
          </a:xfrm>
          <a:prstGeom prst="roundRect">
            <a:avLst>
              <a:gd name="adj" fmla="val 11000"/>
            </a:avLst>
          </a:prstGeom>
          <a:solidFill>
            <a:srgbClr val="EEF4FE"/>
          </a:solidFill>
          <a:ln>
            <a:noFill/>
          </a:ln>
          <a:effectLst>
            <a:outerShdw blurRad="88900" dist="25400" dir="2700000" algn="tl">
              <a:srgbClr val="000000">
                <a:alpha val="14000"/>
              </a:srgbClr>
            </a:outerShdw>
          </a:effectLst>
        </p:spPr>
        <p:txBody>
          <a:bodyPr wrap="square" lIns="18000" tIns="18000" rIns="18000" bIns="18000" anchor="ctr"/>
          <a:lstStyle/>
          <a:p>
            <a:pPr algn="ctr"/>
            <a:r>
              <a:rPr lang="en-US" sz="950" b="1" dirty="0">
                <a:solidFill>
                  <a:srgbClr val="1E2761"/>
                </a:solidFill>
                <a:latin typeface="Calibri"/>
              </a:rPr>
              <a:t>Product Owner</a:t>
            </a:r>
            <a:br>
              <a:rPr dirty="0"/>
            </a:br>
            <a:r>
              <a:rPr lang="en-US" sz="750" dirty="0">
                <a:solidFill>
                  <a:srgbClr val="64748B"/>
                </a:solidFill>
                <a:latin typeface="Calibri"/>
              </a:rPr>
              <a:t>user stories + ACs</a:t>
            </a:r>
          </a:p>
        </p:txBody>
      </p:sp>
      <p:sp>
        <p:nvSpPr>
          <p:cNvPr id="102" name="Node2"/>
          <p:cNvSpPr/>
          <p:nvPr/>
        </p:nvSpPr>
        <p:spPr>
          <a:xfrm>
            <a:off x="2847471" y="1662684"/>
            <a:ext cx="960120" cy="566928"/>
          </a:xfrm>
          <a:prstGeom prst="roundRect">
            <a:avLst>
              <a:gd name="adj" fmla="val 11000"/>
            </a:avLst>
          </a:prstGeom>
          <a:solidFill>
            <a:srgbClr val="EEF4FE"/>
          </a:solidFill>
          <a:ln>
            <a:noFill/>
          </a:ln>
          <a:effectLst>
            <a:outerShdw blurRad="88900" dist="25400" dir="2700000" algn="tl">
              <a:srgbClr val="000000">
                <a:alpha val="14000"/>
              </a:srgbClr>
            </a:outerShdw>
          </a:effectLst>
        </p:spPr>
        <p:txBody>
          <a:bodyPr wrap="square" lIns="18000" tIns="18000" rIns="18000" bIns="18000" anchor="ctr"/>
          <a:lstStyle/>
          <a:p>
            <a:pPr algn="ctr"/>
            <a:r>
              <a:rPr lang="en-US" sz="950" b="1" dirty="0">
                <a:solidFill>
                  <a:srgbClr val="1E2761"/>
                </a:solidFill>
                <a:latin typeface="Calibri"/>
              </a:rPr>
              <a:t>Software Architect</a:t>
            </a:r>
            <a:br>
              <a:rPr dirty="0"/>
            </a:br>
            <a:r>
              <a:rPr lang="en-US" sz="750" dirty="0">
                <a:solidFill>
                  <a:srgbClr val="64748B"/>
                </a:solidFill>
                <a:latin typeface="Calibri"/>
              </a:rPr>
              <a:t>specs + ADRs</a:t>
            </a:r>
          </a:p>
        </p:txBody>
      </p:sp>
      <p:sp>
        <p:nvSpPr>
          <p:cNvPr id="103" name="Node3"/>
          <p:cNvSpPr/>
          <p:nvPr/>
        </p:nvSpPr>
        <p:spPr>
          <a:xfrm>
            <a:off x="4098356" y="1060704"/>
            <a:ext cx="960120" cy="566928"/>
          </a:xfrm>
          <a:prstGeom prst="roundRect">
            <a:avLst>
              <a:gd name="adj" fmla="val 11000"/>
            </a:avLst>
          </a:prstGeom>
          <a:solidFill>
            <a:srgbClr val="EEF4FE"/>
          </a:solidFill>
          <a:ln>
            <a:noFill/>
          </a:ln>
          <a:effectLst>
            <a:outerShdw blurRad="88900" dist="25400" dir="2700000" algn="tl">
              <a:srgbClr val="000000">
                <a:alpha val="14000"/>
              </a:srgbClr>
            </a:outerShdw>
          </a:effectLst>
        </p:spPr>
        <p:txBody>
          <a:bodyPr wrap="square" lIns="18000" tIns="18000" rIns="18000" bIns="18000" anchor="ctr"/>
          <a:lstStyle/>
          <a:p>
            <a:pPr algn="ctr"/>
            <a:r>
              <a:rPr lang="en-US" sz="950" b="1" dirty="0">
                <a:solidFill>
                  <a:srgbClr val="1E2761"/>
                </a:solidFill>
                <a:latin typeface="Calibri"/>
              </a:rPr>
              <a:t>System Engineer</a:t>
            </a:r>
            <a:br>
              <a:rPr dirty="0"/>
            </a:br>
            <a:r>
              <a:rPr lang="en-US" sz="750" dirty="0">
                <a:solidFill>
                  <a:srgbClr val="64748B"/>
                </a:solidFill>
                <a:latin typeface="Calibri"/>
              </a:rPr>
              <a:t>low-level design</a:t>
            </a:r>
          </a:p>
        </p:txBody>
      </p:sp>
      <p:sp>
        <p:nvSpPr>
          <p:cNvPr id="104" name="Node4"/>
          <p:cNvSpPr/>
          <p:nvPr/>
        </p:nvSpPr>
        <p:spPr>
          <a:xfrm>
            <a:off x="5486400" y="1767220"/>
            <a:ext cx="1060117" cy="566928"/>
          </a:xfrm>
          <a:prstGeom prst="roundRect">
            <a:avLst>
              <a:gd name="adj" fmla="val 11000"/>
            </a:avLst>
          </a:prstGeom>
          <a:solidFill>
            <a:srgbClr val="EEF4FE"/>
          </a:solidFill>
          <a:ln>
            <a:noFill/>
          </a:ln>
          <a:effectLst>
            <a:outerShdw blurRad="88900" dist="25400" dir="2700000" algn="tl">
              <a:srgbClr val="000000">
                <a:alpha val="14000"/>
              </a:srgbClr>
            </a:outerShdw>
          </a:effectLst>
        </p:spPr>
        <p:txBody>
          <a:bodyPr wrap="square" lIns="18000" tIns="18000" rIns="18000" bIns="18000" anchor="ctr"/>
          <a:lstStyle/>
          <a:p>
            <a:pPr algn="ctr"/>
            <a:r>
              <a:rPr lang="en-US" sz="950" b="1" dirty="0">
                <a:solidFill>
                  <a:srgbClr val="1E2761"/>
                </a:solidFill>
                <a:latin typeface="Calibri"/>
              </a:rPr>
              <a:t>Software Engineer</a:t>
            </a:r>
            <a:br>
              <a:rPr dirty="0"/>
            </a:br>
            <a:r>
              <a:rPr lang="en-US" sz="750" dirty="0">
                <a:solidFill>
                  <a:srgbClr val="64748B"/>
                </a:solidFill>
                <a:latin typeface="Calibri"/>
              </a:rPr>
              <a:t>implementation</a:t>
            </a:r>
          </a:p>
        </p:txBody>
      </p:sp>
      <p:sp>
        <p:nvSpPr>
          <p:cNvPr id="105" name="Node5"/>
          <p:cNvSpPr/>
          <p:nvPr/>
        </p:nvSpPr>
        <p:spPr>
          <a:xfrm>
            <a:off x="5226547" y="3218688"/>
            <a:ext cx="960120" cy="566928"/>
          </a:xfrm>
          <a:prstGeom prst="roundRect">
            <a:avLst>
              <a:gd name="adj" fmla="val 11000"/>
            </a:avLst>
          </a:prstGeom>
          <a:solidFill>
            <a:srgbClr val="EEF4FE"/>
          </a:solidFill>
          <a:ln>
            <a:noFill/>
          </a:ln>
          <a:effectLst>
            <a:outerShdw blurRad="88900" dist="25400" dir="2700000" algn="tl">
              <a:srgbClr val="000000">
                <a:alpha val="14000"/>
              </a:srgbClr>
            </a:outerShdw>
          </a:effectLst>
        </p:spPr>
        <p:txBody>
          <a:bodyPr wrap="square" lIns="18000" tIns="18000" rIns="18000" bIns="18000" anchor="ctr"/>
          <a:lstStyle/>
          <a:p>
            <a:pPr algn="ctr"/>
            <a:r>
              <a:rPr lang="en-US" sz="950" b="1" dirty="0">
                <a:solidFill>
                  <a:srgbClr val="1E2761"/>
                </a:solidFill>
                <a:latin typeface="Calibri"/>
              </a:rPr>
              <a:t>SQA Engineer</a:t>
            </a:r>
            <a:br>
              <a:rPr dirty="0"/>
            </a:br>
            <a:r>
              <a:rPr lang="en-US" sz="750" dirty="0">
                <a:solidFill>
                  <a:srgbClr val="64748B"/>
                </a:solidFill>
                <a:latin typeface="Calibri"/>
              </a:rPr>
              <a:t>test suite + gates</a:t>
            </a:r>
          </a:p>
        </p:txBody>
      </p:sp>
      <p:sp>
        <p:nvSpPr>
          <p:cNvPr id="106" name="Node6"/>
          <p:cNvSpPr/>
          <p:nvPr/>
        </p:nvSpPr>
        <p:spPr>
          <a:xfrm>
            <a:off x="3878758" y="3924067"/>
            <a:ext cx="960120" cy="566928"/>
          </a:xfrm>
          <a:prstGeom prst="roundRect">
            <a:avLst>
              <a:gd name="adj" fmla="val 11000"/>
            </a:avLst>
          </a:prstGeom>
          <a:solidFill>
            <a:srgbClr val="1E2761"/>
          </a:solidFill>
          <a:ln>
            <a:noFill/>
          </a:ln>
          <a:effectLst>
            <a:outerShdw blurRad="88900" dist="25400" dir="2700000" algn="tl">
              <a:srgbClr val="000000">
                <a:alpha val="14000"/>
              </a:srgbClr>
            </a:outerShdw>
          </a:effectLst>
        </p:spPr>
        <p:txBody>
          <a:bodyPr wrap="square" lIns="18000" tIns="18000" rIns="18000" bIns="18000" anchor="ctr"/>
          <a:lstStyle/>
          <a:p>
            <a:pPr algn="ctr"/>
            <a:r>
              <a:rPr lang="en-US" sz="950" b="1" dirty="0">
                <a:solidFill>
                  <a:srgbClr val="FFFFFF"/>
                </a:solidFill>
                <a:latin typeface="Calibri"/>
              </a:rPr>
              <a:t>Code Reviewer</a:t>
            </a:r>
            <a:br/>
            <a:r>
              <a:rPr lang="en-US" sz="750" dirty="0">
                <a:solidFill>
                  <a:srgbClr val="CADCFC"/>
                </a:solidFill>
                <a:latin typeface="Calibri"/>
              </a:rPr>
              <a:t>findings report</a:t>
            </a:r>
          </a:p>
        </p:txBody>
      </p:sp>
      <p:sp>
        <p:nvSpPr>
          <p:cNvPr id="110" name="GapLoop1"/>
          <p:cNvSpPr/>
          <p:nvPr/>
        </p:nvSpPr>
        <p:spPr>
          <a:xfrm>
            <a:off x="5016500" y="1353720"/>
            <a:ext cx="520700" cy="500480"/>
          </a:xfrm>
          <a:custGeom>
            <a:avLst/>
            <a:gdLst/>
            <a:ahLst/>
            <a:cxnLst/>
            <a:rect l="0" t="0" r="520700" b="500480"/>
            <a:pathLst>
              <a:path w="520700" h="500480">
                <a:moveTo>
                  <a:pt x="76200" y="119480"/>
                </a:moveTo>
                <a:quadBezTo>
                  <a:pt x="422292" y="76200"/>
                  <a:pt x="444500" y="424280"/>
                </a:quadBezTo>
              </a:path>
            </a:pathLst>
          </a:custGeom>
          <a:noFill/>
          <a:ln w="22225" cap="rnd">
            <a:solidFill>
              <a:srgbClr val="E8A33D"/>
            </a:solidFill>
            <a:round/>
            <a:headEnd type="none"/>
            <a:tailEnd type="triangle" w="med" len="med"/>
          </a:ln>
        </p:spPr>
        <p:txBody>
          <a:bodyPr/>
          <a:lstStyle/>
          <a:p>
            <a:endParaRPr lang="en-US"/>
          </a:p>
        </p:txBody>
      </p:sp>
      <p:sp>
        <p:nvSpPr>
          <p:cNvPr id="120" name="GapWord1"/>
          <p:cNvSpPr txBox="1"/>
          <p:nvPr/>
        </p:nvSpPr>
        <p:spPr>
          <a:xfrm>
            <a:off x="2166271" y="2474345"/>
            <a:ext cx="1188720" cy="164592"/>
          </a:xfrm>
          <a:prstGeom prst="rect">
            <a:avLst/>
          </a:prstGeom>
        </p:spPr>
        <p:txBody>
          <a:bodyPr wrap="square" lIns="0" tIns="0" rIns="0" bIns="0"/>
          <a:lstStyle/>
          <a:p>
            <a:pPr algn="ctr"/>
            <a:r>
              <a:rPr lang="en-US" sz="800" i="1" dirty="0">
                <a:solidFill>
                  <a:srgbClr val="E8A33D"/>
                </a:solidFill>
                <a:latin typeface="Calibri"/>
              </a:rPr>
              <a:t>Clarify</a:t>
            </a:r>
          </a:p>
        </p:txBody>
      </p:sp>
      <p:sp>
        <p:nvSpPr>
          <p:cNvPr id="111" name="GapLoop2"/>
          <p:cNvSpPr/>
          <p:nvPr/>
        </p:nvSpPr>
        <p:spPr>
          <a:xfrm>
            <a:off x="5689600" y="2273300"/>
            <a:ext cx="391752" cy="1003300"/>
          </a:xfrm>
          <a:custGeom>
            <a:avLst/>
            <a:gdLst/>
            <a:ahLst/>
            <a:cxnLst/>
            <a:rect l="0" t="0" r="391752" b="1003300"/>
            <a:pathLst>
              <a:path w="391752" h="1003300">
                <a:moveTo>
                  <a:pt x="203200" y="76200"/>
                </a:moveTo>
                <a:quadBezTo>
                  <a:pt x="315552" y="527897"/>
                  <a:pt x="76200" y="927100"/>
                </a:quadBezTo>
              </a:path>
            </a:pathLst>
          </a:custGeom>
          <a:noFill/>
          <a:ln w="22225" cap="rnd">
            <a:solidFill>
              <a:srgbClr val="E8A33D"/>
            </a:solidFill>
            <a:round/>
            <a:headEnd type="none"/>
            <a:tailEnd type="triangle" w="med" len="med"/>
          </a:ln>
        </p:spPr>
        <p:txBody>
          <a:bodyPr/>
          <a:lstStyle/>
          <a:p>
            <a:endParaRPr lang="en-US"/>
          </a:p>
        </p:txBody>
      </p:sp>
      <p:sp>
        <p:nvSpPr>
          <p:cNvPr id="121" name="GapWord2"/>
          <p:cNvSpPr txBox="1"/>
          <p:nvPr/>
        </p:nvSpPr>
        <p:spPr>
          <a:xfrm rot="19692539">
            <a:off x="2973596" y="1261872"/>
            <a:ext cx="1188720" cy="164592"/>
          </a:xfrm>
          <a:prstGeom prst="rect">
            <a:avLst/>
          </a:prstGeom>
        </p:spPr>
        <p:txBody>
          <a:bodyPr wrap="square" lIns="0" tIns="0" rIns="0" bIns="0"/>
          <a:lstStyle/>
          <a:p>
            <a:pPr algn="ctr"/>
            <a:r>
              <a:rPr lang="en-US" sz="1000" i="1" dirty="0">
                <a:solidFill>
                  <a:srgbClr val="E8A33D"/>
                </a:solidFill>
                <a:latin typeface="Calibri"/>
              </a:rPr>
              <a:t>Refine</a:t>
            </a:r>
          </a:p>
        </p:txBody>
      </p:sp>
      <p:sp>
        <p:nvSpPr>
          <p:cNvPr id="112" name="GapLoop3"/>
          <p:cNvSpPr/>
          <p:nvPr/>
        </p:nvSpPr>
        <p:spPr>
          <a:xfrm>
            <a:off x="4751094" y="3733801"/>
            <a:ext cx="963906" cy="540038"/>
          </a:xfrm>
          <a:custGeom>
            <a:avLst/>
            <a:gdLst/>
            <a:ahLst/>
            <a:cxnLst/>
            <a:rect l="0" t="0" r="901700" b="546671"/>
            <a:pathLst>
              <a:path w="901700" h="546671">
                <a:moveTo>
                  <a:pt x="825500" y="76200"/>
                </a:moveTo>
                <a:quadBezTo>
                  <a:pt x="554462" y="470471"/>
                  <a:pt x="76200" y="457200"/>
                </a:quadBezTo>
              </a:path>
            </a:pathLst>
          </a:custGeom>
          <a:noFill/>
          <a:ln w="22225" cap="rnd">
            <a:solidFill>
              <a:srgbClr val="E8A33D"/>
            </a:solidFill>
            <a:round/>
            <a:headEnd type="none"/>
            <a:tailEnd type="triangle" w="med" len="med"/>
          </a:ln>
        </p:spPr>
        <p:txBody>
          <a:bodyPr/>
          <a:lstStyle/>
          <a:p>
            <a:endParaRPr lang="en-US"/>
          </a:p>
        </p:txBody>
      </p:sp>
      <p:sp>
        <p:nvSpPr>
          <p:cNvPr id="122" name="GapWord3"/>
          <p:cNvSpPr txBox="1"/>
          <p:nvPr/>
        </p:nvSpPr>
        <p:spPr>
          <a:xfrm rot="2320797">
            <a:off x="4849700" y="1416340"/>
            <a:ext cx="1188720" cy="164592"/>
          </a:xfrm>
          <a:prstGeom prst="rect">
            <a:avLst/>
          </a:prstGeom>
        </p:spPr>
        <p:txBody>
          <a:bodyPr wrap="square" lIns="0" tIns="0" rIns="0" bIns="0"/>
          <a:lstStyle/>
          <a:p>
            <a:pPr algn="ctr"/>
            <a:r>
              <a:rPr lang="en-US" sz="1000" i="1" dirty="0">
                <a:solidFill>
                  <a:srgbClr val="E8A33D"/>
                </a:solidFill>
                <a:latin typeface="Calibri"/>
              </a:rPr>
              <a:t>Align</a:t>
            </a:r>
          </a:p>
        </p:txBody>
      </p:sp>
      <p:sp>
        <p:nvSpPr>
          <p:cNvPr id="113" name="GapLoop4"/>
          <p:cNvSpPr/>
          <p:nvPr/>
        </p:nvSpPr>
        <p:spPr>
          <a:xfrm>
            <a:off x="3746500" y="1600236"/>
            <a:ext cx="1803400" cy="469864"/>
          </a:xfrm>
          <a:custGeom>
            <a:avLst/>
            <a:gdLst/>
            <a:ahLst/>
            <a:cxnLst/>
            <a:rect l="0" t="0" r="1803400" b="469864"/>
            <a:pathLst>
              <a:path w="1803400" h="469864">
                <a:moveTo>
                  <a:pt x="76200" y="393664"/>
                </a:moveTo>
                <a:quadBezTo>
                  <a:pt x="897011" y="76200"/>
                  <a:pt x="1727200" y="368264"/>
                </a:quadBezTo>
              </a:path>
            </a:pathLst>
          </a:custGeom>
          <a:noFill/>
          <a:ln w="22225" cap="rnd">
            <a:solidFill>
              <a:srgbClr val="E8A33D"/>
            </a:solidFill>
            <a:round/>
            <a:headEnd type="none"/>
            <a:tailEnd type="triangle" w="med" len="med"/>
          </a:ln>
        </p:spPr>
        <p:txBody>
          <a:bodyPr/>
          <a:lstStyle/>
          <a:p>
            <a:endParaRPr lang="en-US"/>
          </a:p>
        </p:txBody>
      </p:sp>
      <p:sp>
        <p:nvSpPr>
          <p:cNvPr id="123" name="GapWord4"/>
          <p:cNvSpPr txBox="1"/>
          <p:nvPr/>
        </p:nvSpPr>
        <p:spPr>
          <a:xfrm>
            <a:off x="5739580" y="2645883"/>
            <a:ext cx="1280160" cy="434829"/>
          </a:xfrm>
          <a:prstGeom prst="rect">
            <a:avLst/>
          </a:prstGeom>
        </p:spPr>
        <p:txBody>
          <a:bodyPr wrap="square" lIns="0" tIns="0" rIns="0" bIns="0"/>
          <a:lstStyle/>
          <a:p>
            <a:pPr algn="ctr"/>
            <a:r>
              <a:rPr lang="en-US" sz="800" i="1" dirty="0">
                <a:solidFill>
                  <a:srgbClr val="E8A33D"/>
                </a:solidFill>
                <a:latin typeface="Calibri"/>
              </a:rPr>
              <a:t>Quality Check </a:t>
            </a:r>
          </a:p>
          <a:p>
            <a:pPr algn="ctr"/>
            <a:r>
              <a:rPr lang="en-US" sz="800" i="1" dirty="0">
                <a:solidFill>
                  <a:srgbClr val="E8A33D"/>
                </a:solidFill>
                <a:latin typeface="Calibri"/>
              </a:rPr>
              <a:t>&amp; </a:t>
            </a:r>
          </a:p>
          <a:p>
            <a:pPr algn="ctr"/>
            <a:r>
              <a:rPr lang="en-US" sz="800" i="1" dirty="0">
                <a:solidFill>
                  <a:srgbClr val="E8A33D"/>
                </a:solidFill>
                <a:latin typeface="Calibri"/>
              </a:rPr>
              <a:t>Refinement</a:t>
            </a:r>
          </a:p>
        </p:txBody>
      </p:sp>
      <p:sp>
        <p:nvSpPr>
          <p:cNvPr id="124" name="GapWord5"/>
          <p:cNvSpPr txBox="1"/>
          <p:nvPr/>
        </p:nvSpPr>
        <p:spPr>
          <a:xfrm>
            <a:off x="5155712" y="4109670"/>
            <a:ext cx="762975" cy="426995"/>
          </a:xfrm>
          <a:prstGeom prst="rect">
            <a:avLst/>
          </a:prstGeom>
        </p:spPr>
        <p:txBody>
          <a:bodyPr wrap="square" lIns="0" tIns="0" rIns="0" bIns="0"/>
          <a:lstStyle/>
          <a:p>
            <a:pPr algn="ctr"/>
            <a:r>
              <a:rPr lang="en-US" sz="800" i="1" dirty="0">
                <a:solidFill>
                  <a:srgbClr val="E8A33D"/>
                </a:solidFill>
                <a:latin typeface="Calibri"/>
              </a:rPr>
              <a:t>Quality Audit </a:t>
            </a:r>
          </a:p>
          <a:p>
            <a:pPr algn="ctr"/>
            <a:r>
              <a:rPr lang="en-US" sz="800" i="1" dirty="0">
                <a:solidFill>
                  <a:srgbClr val="E8A33D"/>
                </a:solidFill>
                <a:latin typeface="Calibri"/>
              </a:rPr>
              <a:t>&amp; </a:t>
            </a:r>
          </a:p>
          <a:p>
            <a:pPr algn="ctr"/>
            <a:r>
              <a:rPr lang="en-US" sz="800" i="1" dirty="0">
                <a:solidFill>
                  <a:srgbClr val="E8A33D"/>
                </a:solidFill>
                <a:latin typeface="Calibri"/>
              </a:rPr>
              <a:t>Refinement</a:t>
            </a:r>
          </a:p>
        </p:txBody>
      </p:sp>
      <p:sp>
        <p:nvSpPr>
          <p:cNvPr id="115" name="GapLoop6"/>
          <p:cNvSpPr/>
          <p:nvPr/>
        </p:nvSpPr>
        <p:spPr>
          <a:xfrm>
            <a:off x="2776319" y="2171700"/>
            <a:ext cx="449481" cy="723900"/>
          </a:xfrm>
          <a:custGeom>
            <a:avLst/>
            <a:gdLst/>
            <a:ahLst/>
            <a:cxnLst/>
            <a:rect l="0" t="0" r="449481" b="723900"/>
            <a:pathLst>
              <a:path w="449481" h="723900">
                <a:moveTo>
                  <a:pt x="220881" y="647700"/>
                </a:moveTo>
                <a:quadBezTo>
                  <a:pt x="76200" y="303048"/>
                  <a:pt x="373281" y="76200"/>
                </a:quadBezTo>
              </a:path>
            </a:pathLst>
          </a:custGeom>
          <a:noFill/>
          <a:ln w="22225" cap="rnd">
            <a:solidFill>
              <a:srgbClr val="E8A33D"/>
            </a:solidFill>
            <a:round/>
            <a:headEnd type="none"/>
            <a:tailEnd type="triangle" w="med" len="med"/>
          </a:ln>
        </p:spPr>
        <p:txBody>
          <a:bodyPr/>
          <a:lstStyle/>
          <a:p>
            <a:endParaRPr lang="en-US"/>
          </a:p>
        </p:txBody>
      </p:sp>
      <p:sp>
        <p:nvSpPr>
          <p:cNvPr id="125" name="GapWord6"/>
          <p:cNvSpPr txBox="1"/>
          <p:nvPr/>
        </p:nvSpPr>
        <p:spPr>
          <a:xfrm>
            <a:off x="3807591" y="4552591"/>
            <a:ext cx="1097280" cy="164592"/>
          </a:xfrm>
          <a:prstGeom prst="rect">
            <a:avLst/>
          </a:prstGeom>
        </p:spPr>
        <p:txBody>
          <a:bodyPr wrap="square" lIns="0" tIns="0" rIns="0" bIns="0"/>
          <a:lstStyle/>
          <a:p>
            <a:pPr algn="ctr"/>
            <a:r>
              <a:rPr lang="en-US" sz="800" i="1" dirty="0">
                <a:solidFill>
                  <a:srgbClr val="E8A33D"/>
                </a:solidFill>
                <a:latin typeface="Calibri"/>
              </a:rPr>
              <a:t>approve</a:t>
            </a:r>
          </a:p>
        </p:txBody>
      </p:sp>
      <p:sp>
        <p:nvSpPr>
          <p:cNvPr id="116" name="GapLoop7"/>
          <p:cNvSpPr/>
          <p:nvPr/>
        </p:nvSpPr>
        <p:spPr>
          <a:xfrm rot="20618453">
            <a:off x="3215739" y="1260827"/>
            <a:ext cx="1033272" cy="337748"/>
          </a:xfrm>
          <a:custGeom>
            <a:avLst/>
            <a:gdLst/>
            <a:ahLst/>
            <a:cxnLst/>
            <a:rect l="0" t="0" r="609600" b="375190"/>
            <a:pathLst>
              <a:path w="609600" h="375190">
                <a:moveTo>
                  <a:pt x="76200" y="298990"/>
                </a:moveTo>
                <a:quadBezTo>
                  <a:pt x="250570" y="76200"/>
                  <a:pt x="533400" y="83090"/>
                </a:quadBezTo>
              </a:path>
            </a:pathLst>
          </a:custGeom>
          <a:noFill/>
          <a:ln w="22225" cap="rnd">
            <a:solidFill>
              <a:srgbClr val="E8A33D"/>
            </a:solidFill>
            <a:round/>
            <a:headEnd type="none"/>
            <a:tailEnd type="triangle" w="med" len="med"/>
          </a:ln>
        </p:spPr>
        <p:txBody>
          <a:bodyPr/>
          <a:lstStyle/>
          <a:p>
            <a:endParaRPr lang="en-US"/>
          </a:p>
        </p:txBody>
      </p:sp>
      <p:sp>
        <p:nvSpPr>
          <p:cNvPr id="130" name="ChordArchEng"/>
          <p:cNvSpPr/>
          <p:nvPr/>
        </p:nvSpPr>
        <p:spPr>
          <a:xfrm>
            <a:off x="4419600" y="2311400"/>
            <a:ext cx="1219200" cy="1689100"/>
          </a:xfrm>
          <a:custGeom>
            <a:avLst/>
            <a:gdLst/>
            <a:ahLst/>
            <a:cxnLst/>
            <a:rect l="0" t="0" r="1219200" b="1638300"/>
            <a:pathLst>
              <a:path w="1219200" h="1638300">
                <a:moveTo>
                  <a:pt x="1143000" y="76200"/>
                </a:moveTo>
                <a:quadBezTo>
                  <a:pt x="815930" y="967285"/>
                  <a:pt x="76200" y="1562100"/>
                </a:quadBezTo>
              </a:path>
            </a:pathLst>
          </a:custGeom>
          <a:noFill/>
          <a:ln w="22225" cap="rnd">
            <a:solidFill>
              <a:srgbClr val="E8A33D"/>
            </a:solidFill>
            <a:round/>
            <a:headEnd type="none"/>
            <a:tailEnd type="triangle" w="med" len="med"/>
          </a:ln>
        </p:spPr>
        <p:txBody>
          <a:bodyPr/>
          <a:lstStyle/>
          <a:p>
            <a:endParaRPr lang="en-US"/>
          </a:p>
        </p:txBody>
      </p:sp>
      <p:sp>
        <p:nvSpPr>
          <p:cNvPr id="132" name="ChordWordArchEng"/>
          <p:cNvSpPr txBox="1"/>
          <p:nvPr/>
        </p:nvSpPr>
        <p:spPr>
          <a:xfrm>
            <a:off x="4356231" y="2305867"/>
            <a:ext cx="762985" cy="308313"/>
          </a:xfrm>
          <a:prstGeom prst="rect">
            <a:avLst/>
          </a:prstGeom>
        </p:spPr>
        <p:txBody>
          <a:bodyPr wrap="square" lIns="0" tIns="0" rIns="0" bIns="0"/>
          <a:lstStyle/>
          <a:p>
            <a:pPr algn="ctr"/>
            <a:r>
              <a:rPr lang="en-US" sz="800" i="1" dirty="0">
                <a:solidFill>
                  <a:srgbClr val="E8A33D"/>
                </a:solidFill>
                <a:latin typeface="Calibri"/>
              </a:rPr>
              <a:t>Architecture </a:t>
            </a:r>
          </a:p>
          <a:p>
            <a:pPr algn="ctr"/>
            <a:r>
              <a:rPr lang="en-US" sz="800" i="1" dirty="0">
                <a:solidFill>
                  <a:srgbClr val="E8A33D"/>
                </a:solidFill>
                <a:latin typeface="Calibri"/>
              </a:rPr>
              <a:t>Conformance</a:t>
            </a:r>
          </a:p>
        </p:txBody>
      </p:sp>
      <p:sp>
        <p:nvSpPr>
          <p:cNvPr id="133" name="ChordWordEngRev"/>
          <p:cNvSpPr txBox="1"/>
          <p:nvPr/>
        </p:nvSpPr>
        <p:spPr>
          <a:xfrm>
            <a:off x="3987800" y="3175000"/>
            <a:ext cx="640080" cy="475729"/>
          </a:xfrm>
          <a:prstGeom prst="rect">
            <a:avLst/>
          </a:prstGeom>
        </p:spPr>
        <p:txBody>
          <a:bodyPr wrap="square" lIns="0" tIns="0" rIns="0" bIns="0"/>
          <a:lstStyle/>
          <a:p>
            <a:pPr algn="ctr"/>
            <a:r>
              <a:rPr lang="en-US" sz="800" i="1" dirty="0">
                <a:solidFill>
                  <a:srgbClr val="E8A33D"/>
                </a:solidFill>
                <a:latin typeface="Calibri"/>
              </a:rPr>
              <a:t>Code Audit </a:t>
            </a:r>
          </a:p>
          <a:p>
            <a:pPr algn="ctr"/>
            <a:r>
              <a:rPr lang="en-US" sz="800" i="1" dirty="0">
                <a:solidFill>
                  <a:srgbClr val="E8A33D"/>
                </a:solidFill>
                <a:latin typeface="Calibri"/>
              </a:rPr>
              <a:t>&amp; </a:t>
            </a:r>
          </a:p>
          <a:p>
            <a:pPr algn="ctr"/>
            <a:r>
              <a:rPr lang="en-US" sz="800" i="1" dirty="0">
                <a:solidFill>
                  <a:srgbClr val="E8A33D"/>
                </a:solidFill>
                <a:latin typeface="Calibri"/>
              </a:rPr>
              <a:t>Refinement</a:t>
            </a:r>
          </a:p>
        </p:txBody>
      </p:sp>
      <p:sp>
        <p:nvSpPr>
          <p:cNvPr id="141" name="OrchestratorText"/>
          <p:cNvSpPr txBox="1"/>
          <p:nvPr/>
        </p:nvSpPr>
        <p:spPr>
          <a:xfrm>
            <a:off x="384048" y="2743200"/>
            <a:ext cx="1426464" cy="530352"/>
          </a:xfrm>
          <a:prstGeom prst="rect">
            <a:avLst/>
          </a:prstGeom>
        </p:spPr>
        <p:txBody>
          <a:bodyPr wrap="square" lIns="0" tIns="0" rIns="0" bIns="0"/>
          <a:lstStyle/>
          <a:p>
            <a:pPr algn="ctr"/>
            <a:r>
              <a:rPr lang="en-US" sz="1050" b="1" dirty="0">
                <a:solidFill>
                  <a:srgbClr val="1E2761"/>
                </a:solidFill>
                <a:latin typeface="Calibri"/>
              </a:rPr>
              <a:t>Orchestrator Agent</a:t>
            </a:r>
          </a:p>
          <a:p>
            <a:pPr algn="ctr"/>
            <a:r>
              <a:rPr lang="en-US" sz="800" dirty="0">
                <a:solidFill>
                  <a:srgbClr val="334155"/>
                </a:solidFill>
                <a:latin typeface="Calibri"/>
              </a:rPr>
              <a:t>Gets user intent · verifies artifacts · approves gates</a:t>
            </a:r>
          </a:p>
        </p:txBody>
      </p:sp>
      <p:sp>
        <p:nvSpPr>
          <p:cNvPr id="400" name="TriageAgentPill" descr="triage-agent: classifies, decomposes and routes requests for the orchestrator"/>
          <p:cNvSpPr/>
          <p:nvPr/>
        </p:nvSpPr>
        <p:spPr>
          <a:xfrm>
            <a:off x="365760" y="3227832"/>
            <a:ext cx="1463040" cy="356616"/>
          </a:xfrm>
          <a:prstGeom prst="roundRect">
            <a:avLst>
              <a:gd name="adj" fmla="val 22000"/>
            </a:avLst>
          </a:prstGeom>
          <a:solidFill>
            <a:srgbClr val="FFFFFF"/>
          </a:solidFill>
          <a:ln w="9525">
            <a:solidFill>
              <a:srgbClr val="2EC4B6"/>
            </a:solidFill>
          </a:ln>
        </p:spPr>
        <p:txBody>
          <a:bodyPr wrap="square" lIns="18000" tIns="9000" rIns="18000" bIns="9000" anchor="ctr"/>
          <a:lstStyle/>
          <a:p>
            <a:pPr algn="ctr"/>
            <a:r>
              <a:rPr lang="en-US" sz="850" b="1" dirty="0">
                <a:solidFill>
                  <a:srgbClr val="1E2761"/>
                </a:solidFill>
                <a:latin typeface="Calibri"/>
              </a:rPr>
              <a:t>triage-agent</a:t>
            </a:r>
            <a:br>
              <a:rPr dirty="0"/>
            </a:br>
            <a:r>
              <a:rPr lang="en-US" sz="700" dirty="0">
                <a:solidFill>
                  <a:srgbClr val="64748B"/>
                </a:solidFill>
                <a:latin typeface="Calibri"/>
              </a:rPr>
              <a:t>classifies · decomposes · routes</a:t>
            </a:r>
          </a:p>
        </p:txBody>
      </p:sp>
      <p:sp>
        <p:nvSpPr>
          <p:cNvPr id="146" name="OrchLink"/>
          <p:cNvSpPr/>
          <p:nvPr/>
        </p:nvSpPr>
        <p:spPr>
          <a:xfrm>
            <a:off x="1920240" y="3108960"/>
            <a:ext cx="685800" cy="0"/>
          </a:xfrm>
          <a:prstGeom prst="line">
            <a:avLst/>
          </a:prstGeom>
          <a:ln w="19050">
            <a:solidFill>
              <a:srgbClr val="1E2761"/>
            </a:solidFill>
            <a:prstDash val="solid"/>
            <a:bevel/>
            <a:headEnd type="triangle"/>
            <a:tailEnd type="triangle"/>
          </a:ln>
        </p:spPr>
        <p:txBody>
          <a:bodyPr/>
          <a:lstStyle/>
          <a:p>
            <a:endParaRPr lang="en-US"/>
          </a:p>
        </p:txBody>
      </p:sp>
      <p:sp>
        <p:nvSpPr>
          <p:cNvPr id="148" name="PanelHeader"/>
          <p:cNvSpPr txBox="1"/>
          <p:nvPr/>
        </p:nvSpPr>
        <p:spPr>
          <a:xfrm>
            <a:off x="7269480" y="1289304"/>
            <a:ext cx="1609344" cy="164592"/>
          </a:xfrm>
          <a:prstGeom prst="rect">
            <a:avLst/>
          </a:prstGeom>
        </p:spPr>
        <p:txBody>
          <a:bodyPr wrap="square" lIns="0" tIns="0" rIns="0" bIns="0"/>
          <a:lstStyle/>
          <a:p>
            <a:pPr algn="ctr"/>
            <a:r>
              <a:rPr lang="en-US" sz="850" i="1" dirty="0">
                <a:solidFill>
                  <a:srgbClr val="64748B"/>
                </a:solidFill>
                <a:latin typeface="Calibri"/>
              </a:rPr>
              <a:t>cross-cutting</a:t>
            </a:r>
          </a:p>
        </p:txBody>
      </p:sp>
      <p:sp>
        <p:nvSpPr>
          <p:cNvPr id="143" name="Chip1"/>
          <p:cNvSpPr/>
          <p:nvPr/>
        </p:nvSpPr>
        <p:spPr>
          <a:xfrm>
            <a:off x="7269480" y="1554480"/>
            <a:ext cx="1600200" cy="685800"/>
          </a:xfrm>
          <a:prstGeom prst="roundRect">
            <a:avLst>
              <a:gd name="adj" fmla="val 11000"/>
            </a:avLst>
          </a:prstGeom>
          <a:solidFill>
            <a:srgbClr val="EEF4FE"/>
          </a:solidFill>
          <a:ln>
            <a:noFill/>
          </a:ln>
          <a:effectLst>
            <a:outerShdw blurRad="88900" dist="25400" dir="2700000" algn="tl">
              <a:srgbClr val="000000">
                <a:alpha val="14000"/>
              </a:srgbClr>
            </a:outerShdw>
          </a:effectLst>
        </p:spPr>
        <p:txBody>
          <a:bodyPr wrap="square" lIns="18000" tIns="18000" rIns="18000" bIns="18000" anchor="ctr"/>
          <a:lstStyle/>
          <a:p>
            <a:pPr algn="ctr"/>
            <a:r>
              <a:rPr lang="en-US" sz="900" b="1" dirty="0">
                <a:solidFill>
                  <a:srgbClr val="1E2761"/>
                </a:solidFill>
                <a:latin typeface="Calibri"/>
              </a:rPr>
              <a:t>documentation-writer</a:t>
            </a:r>
            <a:br/>
            <a:r>
              <a:rPr lang="en-US" sz="750" dirty="0">
                <a:solidFill>
                  <a:srgbClr val="64748B"/>
                </a:solidFill>
                <a:latin typeface="Calibri"/>
              </a:rPr>
              <a:t>writes docs at every stage</a:t>
            </a:r>
          </a:p>
        </p:txBody>
      </p:sp>
      <p:sp>
        <p:nvSpPr>
          <p:cNvPr id="144" name="Chip2"/>
          <p:cNvSpPr/>
          <p:nvPr/>
        </p:nvSpPr>
        <p:spPr>
          <a:xfrm>
            <a:off x="7269480" y="2446020"/>
            <a:ext cx="1600200" cy="685800"/>
          </a:xfrm>
          <a:prstGeom prst="roundRect">
            <a:avLst>
              <a:gd name="adj" fmla="val 11000"/>
            </a:avLst>
          </a:prstGeom>
          <a:solidFill>
            <a:srgbClr val="EEF4FE"/>
          </a:solidFill>
          <a:ln>
            <a:noFill/>
          </a:ln>
          <a:effectLst>
            <a:outerShdw blurRad="88900" dist="25400" dir="2700000" algn="tl">
              <a:srgbClr val="000000">
                <a:alpha val="14000"/>
              </a:srgbClr>
            </a:outerShdw>
          </a:effectLst>
        </p:spPr>
        <p:txBody>
          <a:bodyPr wrap="square" lIns="18000" tIns="18000" rIns="18000" bIns="18000" anchor="ctr"/>
          <a:lstStyle/>
          <a:p>
            <a:pPr algn="ctr"/>
            <a:r>
              <a:rPr lang="en-US" sz="900" b="1" dirty="0">
                <a:solidFill>
                  <a:srgbClr val="1E2761"/>
                </a:solidFill>
                <a:latin typeface="Calibri"/>
              </a:rPr>
              <a:t>brutal-critique</a:t>
            </a:r>
            <a:br/>
            <a:r>
              <a:rPr lang="en-US" sz="750" dirty="0">
                <a:solidFill>
                  <a:srgbClr val="64748B"/>
                </a:solidFill>
                <a:latin typeface="Calibri"/>
              </a:rPr>
              <a:t>parallel doc critiques</a:t>
            </a:r>
          </a:p>
        </p:txBody>
      </p:sp>
      <p:sp>
        <p:nvSpPr>
          <p:cNvPr id="145" name="Chip3"/>
          <p:cNvSpPr/>
          <p:nvPr/>
        </p:nvSpPr>
        <p:spPr>
          <a:xfrm>
            <a:off x="7269480" y="3223260"/>
            <a:ext cx="1600200" cy="685800"/>
          </a:xfrm>
          <a:prstGeom prst="roundRect">
            <a:avLst>
              <a:gd name="adj" fmla="val 11000"/>
            </a:avLst>
          </a:prstGeom>
          <a:solidFill>
            <a:srgbClr val="EEF4FE"/>
          </a:solidFill>
          <a:ln>
            <a:noFill/>
          </a:ln>
          <a:effectLst>
            <a:outerShdw blurRad="88900" dist="25400" dir="2700000" algn="tl">
              <a:srgbClr val="000000">
                <a:alpha val="14000"/>
              </a:srgbClr>
            </a:outerShdw>
          </a:effectLst>
        </p:spPr>
        <p:txBody>
          <a:bodyPr wrap="square" lIns="18000" tIns="18000" rIns="18000" bIns="18000" anchor="ctr"/>
          <a:lstStyle/>
          <a:p>
            <a:pPr algn="ctr"/>
            <a:r>
              <a:rPr lang="en-US" sz="900" b="1" dirty="0">
                <a:solidFill>
                  <a:srgbClr val="1E2761"/>
                </a:solidFill>
                <a:latin typeface="Calibri"/>
              </a:rPr>
              <a:t>research-assistant</a:t>
            </a:r>
            <a:br/>
            <a:r>
              <a:rPr lang="en-US" sz="750" dirty="0">
                <a:solidFill>
                  <a:srgbClr val="64748B"/>
                </a:solidFill>
                <a:latin typeface="Calibri"/>
              </a:rPr>
              <a:t>runs research · owns the knowledge base</a:t>
            </a:r>
          </a:p>
        </p:txBody>
      </p:sp>
      <p:sp>
        <p:nvSpPr>
          <p:cNvPr id="202" name="Chip4"/>
          <p:cNvSpPr/>
          <p:nvPr/>
        </p:nvSpPr>
        <p:spPr>
          <a:xfrm>
            <a:off x="7269480" y="4000500"/>
            <a:ext cx="1600200" cy="685800"/>
          </a:xfrm>
          <a:prstGeom prst="roundRect">
            <a:avLst>
              <a:gd name="adj" fmla="val 11000"/>
            </a:avLst>
          </a:prstGeom>
          <a:solidFill>
            <a:srgbClr val="EEF4FE"/>
          </a:solidFill>
          <a:ln>
            <a:noFill/>
          </a:ln>
          <a:effectLst>
            <a:outerShdw blurRad="88900" dist="25400" dir="2700000" algn="tl">
              <a:srgbClr val="000000">
                <a:alpha val="14000"/>
              </a:srgbClr>
            </a:outerShdw>
          </a:effectLst>
        </p:spPr>
        <p:txBody>
          <a:bodyPr wrap="square" lIns="18000" tIns="18000" rIns="18000" bIns="18000" anchor="ctr"/>
          <a:lstStyle/>
          <a:p>
            <a:pPr algn="ctr"/>
            <a:r>
              <a:rPr lang="en-US" sz="900" b="1" dirty="0">
                <a:solidFill>
                  <a:srgbClr val="1E2761"/>
                </a:solidFill>
                <a:latin typeface="Calibri"/>
              </a:rPr>
              <a:t>agent-manager</a:t>
            </a:r>
            <a:br/>
            <a:r>
              <a:rPr lang="en-US" sz="750" dirty="0">
                <a:solidFill>
                  <a:srgbClr val="64748B"/>
                </a:solidFill>
                <a:latin typeface="Calibri"/>
              </a:rPr>
              <a:t>the Agent Resource Manager</a:t>
            </a:r>
          </a:p>
        </p:txBody>
      </p:sp>
      <p:sp>
        <p:nvSpPr>
          <p:cNvPr id="147" name="PanelLink"/>
          <p:cNvSpPr/>
          <p:nvPr/>
        </p:nvSpPr>
        <p:spPr>
          <a:xfrm>
            <a:off x="6830981" y="1897380"/>
            <a:ext cx="377517" cy="0"/>
          </a:xfrm>
          <a:prstGeom prst="line">
            <a:avLst/>
          </a:prstGeom>
          <a:ln w="19050">
            <a:solidFill>
              <a:srgbClr val="1E2761"/>
            </a:solidFill>
            <a:prstDash val="solid"/>
            <a:headEnd type="triangle"/>
            <a:tailEnd type="triangle"/>
          </a:ln>
        </p:spPr>
        <p:txBody>
          <a:bodyPr/>
          <a:lstStyle/>
          <a:p>
            <a:endParaRPr lang="en-US"/>
          </a:p>
        </p:txBody>
      </p:sp>
      <p:sp>
        <p:nvSpPr>
          <p:cNvPr id="3" name="GapLoop6"/>
          <p:cNvSpPr/>
          <p:nvPr/>
        </p:nvSpPr>
        <p:spPr>
          <a:xfrm>
            <a:off x="2984500" y="2171700"/>
            <a:ext cx="444312" cy="723900"/>
          </a:xfrm>
          <a:custGeom>
            <a:avLst/>
            <a:gdLst/>
            <a:ahLst/>
            <a:cxnLst/>
            <a:rect l="0" t="0" r="444312" b="723900"/>
            <a:pathLst>
              <a:path w="444312" h="723900">
                <a:moveTo>
                  <a:pt x="215900" y="76200"/>
                </a:moveTo>
                <a:quadBezTo>
                  <a:pt x="368112" y="416232"/>
                  <a:pt x="76200" y="647700"/>
                </a:quadBezTo>
              </a:path>
            </a:pathLst>
          </a:custGeom>
          <a:noFill/>
          <a:ln w="22225" cap="rnd">
            <a:solidFill>
              <a:srgbClr val="E8A33D"/>
            </a:solidFill>
            <a:round/>
            <a:headEnd type="none"/>
            <a:tailEnd type="triangle" w="med" len="med"/>
          </a:ln>
        </p:spPr>
        <p:txBody>
          <a:bodyPr/>
          <a:lstStyle/>
          <a:p>
            <a:endParaRPr lang="en-US"/>
          </a:p>
        </p:txBody>
      </p:sp>
      <p:sp>
        <p:nvSpPr>
          <p:cNvPr id="4" name="GapLoop7"/>
          <p:cNvSpPr/>
          <p:nvPr/>
        </p:nvSpPr>
        <p:spPr>
          <a:xfrm rot="20580000">
            <a:off x="3175516" y="1202774"/>
            <a:ext cx="1099329" cy="576072"/>
          </a:xfrm>
          <a:custGeom>
            <a:avLst/>
            <a:gdLst/>
            <a:ahLst/>
            <a:cxnLst/>
            <a:rect l="0" t="0" r="457200" b="328464"/>
            <a:pathLst>
              <a:path w="457200" h="328464">
                <a:moveTo>
                  <a:pt x="381000" y="76200"/>
                </a:moveTo>
                <a:quadBezTo>
                  <a:pt x="273193" y="252264"/>
                  <a:pt x="76200" y="190500"/>
                </a:quadBezTo>
              </a:path>
            </a:pathLst>
          </a:custGeom>
          <a:noFill/>
          <a:ln w="22225" cap="rnd">
            <a:solidFill>
              <a:srgbClr val="E8A33D"/>
            </a:solidFill>
            <a:round/>
            <a:headEnd type="none"/>
            <a:tailEnd type="triangle" w="med" len="med"/>
          </a:ln>
        </p:spPr>
        <p:txBody>
          <a:bodyPr/>
          <a:lstStyle/>
          <a:p>
            <a:endParaRPr lang="en-US"/>
          </a:p>
        </p:txBody>
      </p:sp>
      <p:sp>
        <p:nvSpPr>
          <p:cNvPr id="5" name="GapLoop1"/>
          <p:cNvSpPr/>
          <p:nvPr/>
        </p:nvSpPr>
        <p:spPr>
          <a:xfrm>
            <a:off x="5003800" y="1460500"/>
            <a:ext cx="533400" cy="506278"/>
          </a:xfrm>
          <a:custGeom>
            <a:avLst/>
            <a:gdLst/>
            <a:ahLst/>
            <a:cxnLst/>
            <a:rect l="0" t="0" r="533400" b="506278"/>
            <a:pathLst>
              <a:path w="533400" h="506278">
                <a:moveTo>
                  <a:pt x="457200" y="393700"/>
                </a:moveTo>
                <a:quadBezTo>
                  <a:pt x="104093" y="430078"/>
                  <a:pt x="76200" y="76200"/>
                </a:quadBezTo>
              </a:path>
            </a:pathLst>
          </a:custGeom>
          <a:noFill/>
          <a:ln w="22225" cap="rnd">
            <a:solidFill>
              <a:srgbClr val="E8A33D"/>
            </a:solidFill>
            <a:round/>
            <a:headEnd type="none"/>
            <a:tailEnd type="triangle" w="med" len="med"/>
          </a:ln>
        </p:spPr>
        <p:txBody>
          <a:bodyPr/>
          <a:lstStyle/>
          <a:p>
            <a:endParaRPr lang="en-US"/>
          </a:p>
        </p:txBody>
      </p:sp>
      <p:sp>
        <p:nvSpPr>
          <p:cNvPr id="6" name="GapLoop2"/>
          <p:cNvSpPr/>
          <p:nvPr/>
        </p:nvSpPr>
        <p:spPr>
          <a:xfrm>
            <a:off x="5526448" y="2273300"/>
            <a:ext cx="391752" cy="1003300"/>
          </a:xfrm>
          <a:custGeom>
            <a:avLst/>
            <a:gdLst/>
            <a:ahLst/>
            <a:cxnLst/>
            <a:rect l="0" t="0" r="391752" b="1003300"/>
            <a:pathLst>
              <a:path w="391752" h="1003300">
                <a:moveTo>
                  <a:pt x="188552" y="927100"/>
                </a:moveTo>
                <a:quadBezTo>
                  <a:pt x="76200" y="475403"/>
                  <a:pt x="315552" y="76200"/>
                </a:quadBezTo>
              </a:path>
            </a:pathLst>
          </a:custGeom>
          <a:noFill/>
          <a:ln w="22225" cap="rnd">
            <a:solidFill>
              <a:srgbClr val="E8A33D"/>
            </a:solidFill>
            <a:round/>
            <a:headEnd type="none"/>
            <a:tailEnd type="triangle" w="med" len="med"/>
          </a:ln>
        </p:spPr>
        <p:txBody>
          <a:bodyPr/>
          <a:lstStyle/>
          <a:p>
            <a:endParaRPr lang="en-US"/>
          </a:p>
        </p:txBody>
      </p:sp>
      <p:sp>
        <p:nvSpPr>
          <p:cNvPr id="7" name="GapLoop3"/>
          <p:cNvSpPr/>
          <p:nvPr/>
        </p:nvSpPr>
        <p:spPr>
          <a:xfrm rot="1200000">
            <a:off x="4824263" y="3623609"/>
            <a:ext cx="824012" cy="699540"/>
          </a:xfrm>
          <a:custGeom>
            <a:avLst/>
            <a:gdLst/>
            <a:ahLst/>
            <a:cxnLst/>
            <a:rect l="0" t="0" r="533400" b="609600"/>
            <a:pathLst>
              <a:path w="533400" h="609600">
                <a:moveTo>
                  <a:pt x="76200" y="533400"/>
                </a:moveTo>
                <a:quadBezTo>
                  <a:pt x="149623" y="207236"/>
                  <a:pt x="457200" y="76200"/>
                </a:quadBezTo>
              </a:path>
            </a:pathLst>
          </a:custGeom>
          <a:noFill/>
          <a:ln w="22225" cap="rnd">
            <a:solidFill>
              <a:srgbClr val="E8A33D"/>
            </a:solidFill>
            <a:round/>
            <a:headEnd type="none"/>
            <a:tailEnd type="triangle" w="med" len="med"/>
          </a:ln>
        </p:spPr>
        <p:txBody>
          <a:bodyPr/>
          <a:lstStyle/>
          <a:p>
            <a:endParaRPr lang="en-US"/>
          </a:p>
        </p:txBody>
      </p:sp>
      <p:sp>
        <p:nvSpPr>
          <p:cNvPr id="8" name="ChordArchEng"/>
          <p:cNvSpPr/>
          <p:nvPr/>
        </p:nvSpPr>
        <p:spPr>
          <a:xfrm>
            <a:off x="4317999" y="2273300"/>
            <a:ext cx="1320801" cy="1676400"/>
          </a:xfrm>
          <a:custGeom>
            <a:avLst/>
            <a:gdLst/>
            <a:ahLst/>
            <a:cxnLst/>
            <a:rect l="0" t="0" r="1219200" b="1638300"/>
            <a:pathLst>
              <a:path w="1219200" h="1638300">
                <a:moveTo>
                  <a:pt x="76200" y="1562100"/>
                </a:moveTo>
                <a:quadBezTo>
                  <a:pt x="403270" y="671015"/>
                  <a:pt x="1143000" y="76200"/>
                </a:quadBezTo>
              </a:path>
            </a:pathLst>
          </a:custGeom>
          <a:noFill/>
          <a:ln w="22225" cap="rnd">
            <a:solidFill>
              <a:srgbClr val="E8A33D"/>
            </a:solidFill>
            <a:round/>
            <a:headEnd type="none"/>
            <a:tailEnd type="triangle" w="med" len="med"/>
          </a:ln>
        </p:spPr>
        <p:txBody>
          <a:bodyPr/>
          <a:lstStyle/>
          <a:p>
            <a:endParaRPr lang="en-US"/>
          </a:p>
        </p:txBody>
      </p:sp>
      <p:sp>
        <p:nvSpPr>
          <p:cNvPr id="9" name="GapLoop4"/>
          <p:cNvSpPr/>
          <p:nvPr/>
        </p:nvSpPr>
        <p:spPr>
          <a:xfrm>
            <a:off x="3746500" y="2006600"/>
            <a:ext cx="1803400" cy="463541"/>
          </a:xfrm>
          <a:custGeom>
            <a:avLst/>
            <a:gdLst/>
            <a:ahLst/>
            <a:cxnLst/>
            <a:rect l="0" t="0" r="1803400" b="463541"/>
            <a:pathLst>
              <a:path w="1803400" h="463541">
                <a:moveTo>
                  <a:pt x="1727200" y="76200"/>
                </a:moveTo>
                <a:quadBezTo>
                  <a:pt x="904045" y="387341"/>
                  <a:pt x="76200" y="88900"/>
                </a:quadBezTo>
              </a:path>
            </a:pathLst>
          </a:custGeom>
          <a:noFill/>
          <a:ln w="22225" cap="rnd">
            <a:solidFill>
              <a:srgbClr val="E8A33D"/>
            </a:solidFill>
            <a:round/>
            <a:headEnd type="none"/>
            <a:tailEnd type="triangle" w="med" len="med"/>
          </a:ln>
        </p:spPr>
        <p:txBody>
          <a:bodyPr/>
          <a:lstStyle/>
          <a:p>
            <a:endParaRPr lang="en-US"/>
          </a:p>
        </p:txBody>
      </p:sp>
      <p:sp>
        <p:nvSpPr>
          <p:cNvPr id="16" name="PanelLink">
            <a:extLst>
              <a:ext uri="{FF2B5EF4-FFF2-40B4-BE49-F238E27FC236}">
                <a16:creationId xmlns:a16="http://schemas.microsoft.com/office/drawing/2014/main" id="{7424048E-88E8-442F-4356-611F290C0E3B}"/>
              </a:ext>
            </a:extLst>
          </p:cNvPr>
          <p:cNvSpPr/>
          <p:nvPr/>
        </p:nvSpPr>
        <p:spPr>
          <a:xfrm>
            <a:off x="6830981" y="4343400"/>
            <a:ext cx="377517" cy="0"/>
          </a:xfrm>
          <a:prstGeom prst="line">
            <a:avLst/>
          </a:prstGeom>
          <a:ln w="19050">
            <a:solidFill>
              <a:srgbClr val="1E2761"/>
            </a:solidFill>
            <a:prstDash val="solid"/>
            <a:headEnd type="triangle"/>
            <a:tailEnd type="triangle"/>
          </a:ln>
        </p:spPr>
        <p:txBody>
          <a:bodyPr/>
          <a:lstStyle/>
          <a:p>
            <a:endParaRPr lang="en-US"/>
          </a:p>
        </p:txBody>
      </p:sp>
      <p:sp>
        <p:nvSpPr>
          <p:cNvPr id="18" name="PanelLink">
            <a:extLst>
              <a:ext uri="{FF2B5EF4-FFF2-40B4-BE49-F238E27FC236}">
                <a16:creationId xmlns:a16="http://schemas.microsoft.com/office/drawing/2014/main" id="{7D07C17D-96EC-BB79-883A-FD95011331CD}"/>
              </a:ext>
            </a:extLst>
          </p:cNvPr>
          <p:cNvSpPr/>
          <p:nvPr/>
        </p:nvSpPr>
        <p:spPr>
          <a:xfrm flipH="1" flipV="1">
            <a:off x="8069580" y="2265426"/>
            <a:ext cx="0" cy="155448"/>
          </a:xfrm>
          <a:prstGeom prst="line">
            <a:avLst/>
          </a:prstGeom>
          <a:ln w="19050">
            <a:solidFill>
              <a:srgbClr val="1E2761"/>
            </a:solidFill>
            <a:prstDash val="solid"/>
            <a:headEnd type="triangle"/>
            <a:tailEnd type="triangle"/>
          </a:ln>
        </p:spPr>
        <p:txBody>
          <a:bodyPr/>
          <a:lstStyle/>
          <a:p>
            <a:endParaRPr lang="en-US"/>
          </a:p>
        </p:txBody>
      </p:sp>
      <p:sp>
        <p:nvSpPr>
          <p:cNvPr id="11" name="Shape 17">
            <a:extLst>
              <a:ext uri="{FF2B5EF4-FFF2-40B4-BE49-F238E27FC236}">
                <a16:creationId xmlns:a16="http://schemas.microsoft.com/office/drawing/2014/main" id="{03712E3E-8EB7-0B24-0F85-81F904BA706C}"/>
              </a:ext>
            </a:extLst>
          </p:cNvPr>
          <p:cNvSpPr/>
          <p:nvPr/>
        </p:nvSpPr>
        <p:spPr>
          <a:xfrm>
            <a:off x="296133" y="3839540"/>
            <a:ext cx="3492432" cy="1202717"/>
          </a:xfrm>
          <a:prstGeom prst="roundRect">
            <a:avLst>
              <a:gd name="adj" fmla="val 6207"/>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13" name="Shape 18">
            <a:extLst>
              <a:ext uri="{FF2B5EF4-FFF2-40B4-BE49-F238E27FC236}">
                <a16:creationId xmlns:a16="http://schemas.microsoft.com/office/drawing/2014/main" id="{DD0C32EE-485D-8826-D358-2F9CEAD1036C}"/>
              </a:ext>
            </a:extLst>
          </p:cNvPr>
          <p:cNvSpPr/>
          <p:nvPr/>
        </p:nvSpPr>
        <p:spPr>
          <a:xfrm>
            <a:off x="334409" y="4060594"/>
            <a:ext cx="603504" cy="603504"/>
          </a:xfrm>
          <a:prstGeom prst="ellipse">
            <a:avLst/>
          </a:prstGeom>
          <a:solidFill>
            <a:srgbClr val="2EC4B6"/>
          </a:solidFill>
          <a:ln/>
        </p:spPr>
        <p:txBody>
          <a:bodyPr/>
          <a:lstStyle/>
          <a:p>
            <a:endParaRPr lang="en-US"/>
          </a:p>
        </p:txBody>
      </p:sp>
      <p:sp>
        <p:nvSpPr>
          <p:cNvPr id="15" name="Text 19">
            <a:extLst>
              <a:ext uri="{FF2B5EF4-FFF2-40B4-BE49-F238E27FC236}">
                <a16:creationId xmlns:a16="http://schemas.microsoft.com/office/drawing/2014/main" id="{DABD40B9-13B2-5077-494E-6BC0D2D7DCE7}"/>
              </a:ext>
            </a:extLst>
          </p:cNvPr>
          <p:cNvSpPr/>
          <p:nvPr/>
        </p:nvSpPr>
        <p:spPr>
          <a:xfrm>
            <a:off x="1157369" y="3886200"/>
            <a:ext cx="2560029" cy="1115568"/>
          </a:xfrm>
          <a:prstGeom prst="rect">
            <a:avLst/>
          </a:prstGeom>
          <a:noFill/>
          <a:ln/>
        </p:spPr>
        <p:txBody>
          <a:bodyPr wrap="square" lIns="0" tIns="0" rIns="0" bIns="0" rtlCol="0" anchor="ctr"/>
          <a:lstStyle/>
          <a:p>
            <a:pPr marL="0" indent="0" algn="l">
              <a:buNone/>
            </a:pPr>
            <a:r>
              <a:rPr lang="en-US" sz="1350" b="1" dirty="0">
                <a:solidFill>
                  <a:srgbClr val="1E2761"/>
                </a:solidFill>
                <a:latin typeface="Calibri" pitchFamily="34" charset="0"/>
                <a:ea typeface="Calibri" pitchFamily="34" charset="-122"/>
                <a:cs typeface="Calibri" pitchFamily="34" charset="-120"/>
              </a:rPr>
              <a:t>Every handoff is an artifact</a:t>
            </a:r>
            <a:endParaRPr lang="en-US" sz="1350" dirty="0"/>
          </a:p>
          <a:p>
            <a:pPr marL="0" indent="0" algn="l">
              <a:buNone/>
            </a:pPr>
            <a:r>
              <a:rPr lang="en-US" sz="1050" dirty="0">
                <a:solidFill>
                  <a:srgbClr val="334155"/>
                </a:solidFill>
                <a:latin typeface="Calibri" pitchFamily="34" charset="0"/>
                <a:ea typeface="Calibri" pitchFamily="34" charset="-122"/>
                <a:cs typeface="Calibri" pitchFamily="34" charset="-120"/>
              </a:rPr>
              <a:t>User stories, specs &amp; ADRs, low-level design, code, test plan, findings report. The orchestrator verifies the artifact before the next agent starts — agents are trusted to work, never trusted blindly.</a:t>
            </a:r>
            <a:endParaRPr lang="en-US" sz="1350" dirty="0"/>
          </a:p>
        </p:txBody>
      </p:sp>
      <p:sp>
        <p:nvSpPr>
          <p:cNvPr id="300" name="HumanCard"/>
          <p:cNvSpPr/>
          <p:nvPr/>
        </p:nvSpPr>
        <p:spPr>
          <a:xfrm>
            <a:off x="279400" y="1066800"/>
            <a:ext cx="1651000" cy="711200"/>
          </a:xfrm>
          <a:prstGeom prst="roundRect">
            <a:avLst>
              <a:gd name="adj" fmla="val 11000"/>
            </a:avLst>
          </a:prstGeom>
          <a:solidFill>
            <a:srgbClr val="EEF4FE"/>
          </a:solidFill>
          <a:ln>
            <a:noFill/>
          </a:ln>
          <a:effectLst>
            <a:outerShdw blurRad="88900" dist="25400" dir="2700000" algn="tl">
              <a:srgbClr val="000000">
                <a:alpha val="14000"/>
              </a:srgbClr>
            </a:outerShdw>
          </a:effectLst>
        </p:spPr>
        <p:txBody>
          <a:bodyPr wrap="square" lIns="18000" tIns="18000" rIns="18000" bIns="18000" anchor="ctr"/>
          <a:lstStyle/>
          <a:p>
            <a:pPr algn="ctr"/>
            <a:endParaRPr/>
          </a:p>
        </p:txBody>
      </p:sp>
      <p:sp>
        <p:nvSpPr>
          <p:cNvPr id="301" name="HumanIconCircle"/>
          <p:cNvSpPr/>
          <p:nvPr/>
        </p:nvSpPr>
        <p:spPr>
          <a:xfrm>
            <a:off x="419100" y="1219200"/>
            <a:ext cx="406400" cy="406400"/>
          </a:xfrm>
          <a:prstGeom prst="ellipse">
            <a:avLst/>
          </a:prstGeom>
          <a:solidFill>
            <a:srgbClr val="2EC4B6"/>
          </a:solidFill>
          <a:ln>
            <a:noFill/>
          </a:ln>
        </p:spPr>
        <p:txBody>
          <a:bodyPr/>
          <a:lstStyle/>
          <a:p>
            <a:endParaRPr lang="en-US"/>
          </a:p>
        </p:txBody>
      </p:sp>
      <p:sp>
        <p:nvSpPr>
          <p:cNvPr id="302" name="HumanText"/>
          <p:cNvSpPr txBox="1"/>
          <p:nvPr/>
        </p:nvSpPr>
        <p:spPr>
          <a:xfrm>
            <a:off x="889000" y="1219200"/>
            <a:ext cx="965200" cy="431800"/>
          </a:xfrm>
          <a:prstGeom prst="rect">
            <a:avLst/>
          </a:prstGeom>
        </p:spPr>
        <p:txBody>
          <a:bodyPr wrap="square" lIns="0" tIns="0" rIns="0" bIns="0" anchor="ctr"/>
          <a:lstStyle/>
          <a:p>
            <a:r>
              <a:rPr lang="en-US" sz="1050" b="1" dirty="0">
                <a:solidFill>
                  <a:srgbClr val="1E2761"/>
                </a:solidFill>
                <a:latin typeface="Calibri"/>
              </a:rPr>
              <a:t>Human</a:t>
            </a:r>
          </a:p>
          <a:p>
            <a:r>
              <a:rPr lang="en-US" sz="800" dirty="0">
                <a:solidFill>
                  <a:srgbClr val="334155"/>
                </a:solidFill>
                <a:latin typeface="Calibri"/>
              </a:rPr>
              <a:t>sets intent · approves</a:t>
            </a:r>
          </a:p>
        </p:txBody>
      </p:sp>
      <p:sp>
        <p:nvSpPr>
          <p:cNvPr id="305" name="HumanWord"/>
          <p:cNvSpPr txBox="1"/>
          <p:nvPr/>
        </p:nvSpPr>
        <p:spPr>
          <a:xfrm>
            <a:off x="1358900" y="1841500"/>
            <a:ext cx="1117600" cy="177800"/>
          </a:xfrm>
          <a:prstGeom prst="rect">
            <a:avLst/>
          </a:prstGeom>
        </p:spPr>
        <p:txBody>
          <a:bodyPr wrap="square" lIns="0" tIns="0" rIns="0" bIns="0" anchor="ctr"/>
          <a:lstStyle/>
          <a:p>
            <a:r>
              <a:rPr lang="en-US" sz="800" i="1" dirty="0">
                <a:solidFill>
                  <a:srgbClr val="B4762A"/>
                </a:solidFill>
                <a:latin typeface="Calibri"/>
              </a:rPr>
              <a:t>brief · sign-off</a:t>
            </a:r>
          </a:p>
        </p:txBody>
      </p:sp>
      <p:sp>
        <p:nvSpPr>
          <p:cNvPr id="303" name="HumanLoopDown"/>
          <p:cNvSpPr/>
          <p:nvPr/>
        </p:nvSpPr>
        <p:spPr>
          <a:xfrm>
            <a:off x="685800" y="1727200"/>
            <a:ext cx="279400" cy="431800"/>
          </a:xfrm>
          <a:custGeom>
            <a:avLst/>
            <a:gdLst/>
            <a:ahLst/>
            <a:cxnLst/>
            <a:rect l="0" t="0" r="279400" b="431800"/>
            <a:pathLst>
              <a:path w="279400" h="431800">
                <a:moveTo>
                  <a:pt x="203200" y="76200"/>
                </a:moveTo>
                <a:quadBezTo>
                  <a:pt x="76200" y="215900"/>
                  <a:pt x="203200" y="355600"/>
                </a:quadBezTo>
              </a:path>
            </a:pathLst>
          </a:custGeom>
          <a:noFill/>
          <a:ln w="22225" cap="rnd">
            <a:solidFill>
              <a:srgbClr val="E8A33D"/>
            </a:solidFill>
            <a:round/>
            <a:headEnd type="none"/>
            <a:tailEnd type="triangle" w="med" len="med"/>
          </a:ln>
        </p:spPr>
        <p:txBody>
          <a:bodyPr/>
          <a:lstStyle/>
          <a:p>
            <a:endParaRPr lang="en-US"/>
          </a:p>
        </p:txBody>
      </p:sp>
      <p:sp>
        <p:nvSpPr>
          <p:cNvPr id="304" name="HumanLoopUp"/>
          <p:cNvSpPr/>
          <p:nvPr/>
        </p:nvSpPr>
        <p:spPr>
          <a:xfrm>
            <a:off x="1168400" y="1727200"/>
            <a:ext cx="279400" cy="431800"/>
          </a:xfrm>
          <a:custGeom>
            <a:avLst/>
            <a:gdLst/>
            <a:ahLst/>
            <a:cxnLst/>
            <a:rect l="0" t="0" r="279400" b="431800"/>
            <a:pathLst>
              <a:path w="279400" h="431800">
                <a:moveTo>
                  <a:pt x="76200" y="355600"/>
                </a:moveTo>
                <a:quadBezTo>
                  <a:pt x="203200" y="215900"/>
                  <a:pt x="76200" y="76200"/>
                </a:quadBezTo>
              </a:path>
            </a:pathLst>
          </a:custGeom>
          <a:noFill/>
          <a:ln w="22225" cap="rnd">
            <a:solidFill>
              <a:srgbClr val="E8A33D"/>
            </a:solidFill>
            <a:round/>
            <a:headEnd type="none"/>
            <a:tailEnd type="triangle" w="med" len="med"/>
          </a:ln>
        </p:spPr>
        <p:txBody>
          <a:bodyPr/>
          <a:lstStyle/>
          <a:p>
            <a:endParaRPr lang="en-US"/>
          </a:p>
        </p:txBody>
      </p:sp>
      <p:pic>
        <p:nvPicPr>
          <p:cNvPr id="306" name="Graphic 306" descr="Huma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0700" y="1320800"/>
            <a:ext cx="203200" cy="203200"/>
          </a:xfrm>
          <a:prstGeom prst="rect">
            <a:avLst/>
          </a:prstGeom>
        </p:spPr>
      </p:pic>
    </p:spTree>
    <p:extLst>
      <p:ext uri="{BB962C8B-B14F-4D97-AF65-F5344CB8AC3E}">
        <p14:creationId xmlns:p14="http://schemas.microsoft.com/office/powerpoint/2010/main" val="1114942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wipe(left)">
                                      <p:cBhvr>
                                        <p:cTn id="7" dur="500"/>
                                        <p:tgtEl>
                                          <p:spTgt spid="115"/>
                                        </p:tgtEl>
                                      </p:cBhvr>
                                    </p:animEffect>
                                  </p:childTnLst>
                                </p:cTn>
                              </p:par>
                              <p:par>
                                <p:cTn id="8" presetID="22" presetClass="entr" presetSubtype="2"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wipe(right)">
                                      <p:cBhvr>
                                        <p:cTn id="10" dur="50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120"/>
                                        </p:tgtEl>
                                        <p:attrNameLst>
                                          <p:attrName>style.visibility</p:attrName>
                                        </p:attrNameLst>
                                      </p:cBhvr>
                                      <p:to>
                                        <p:strVal val="visible"/>
                                      </p:to>
                                    </p:set>
                                    <p:animEffect transition="in" filter="fade">
                                      <p:cBhvr>
                                        <p:cTn id="13" dur="300"/>
                                        <p:tgtEl>
                                          <p:spTgt spid="120"/>
                                        </p:tgtEl>
                                      </p:cBhvr>
                                    </p:animEffect>
                                  </p:childTnLst>
                                </p:cTn>
                              </p:par>
                              <p:par>
                                <p:cTn id="14" presetID="22" presetClass="entr" presetSubtype="8" fill="hold" nodeType="withEffect">
                                  <p:stCondLst>
                                    <p:cond delay="350"/>
                                  </p:stCondLst>
                                  <p:childTnLst>
                                    <p:set>
                                      <p:cBhvr>
                                        <p:cTn id="15" dur="1" fill="hold">
                                          <p:stCondLst>
                                            <p:cond delay="0"/>
                                          </p:stCondLst>
                                        </p:cTn>
                                        <p:tgtEl>
                                          <p:spTgt spid="116"/>
                                        </p:tgtEl>
                                        <p:attrNameLst>
                                          <p:attrName>style.visibility</p:attrName>
                                        </p:attrNameLst>
                                      </p:cBhvr>
                                      <p:to>
                                        <p:strVal val="visible"/>
                                      </p:to>
                                    </p:set>
                                    <p:animEffect transition="in" filter="wipe(left)">
                                      <p:cBhvr>
                                        <p:cTn id="16" dur="500"/>
                                        <p:tgtEl>
                                          <p:spTgt spid="116"/>
                                        </p:tgtEl>
                                      </p:cBhvr>
                                    </p:animEffect>
                                  </p:childTnLst>
                                </p:cTn>
                              </p:par>
                              <p:par>
                                <p:cTn id="17" presetID="22" presetClass="entr" presetSubtype="2" fill="hold" nodeType="withEffect">
                                  <p:stCondLst>
                                    <p:cond delay="350"/>
                                  </p:stCondLst>
                                  <p:childTnLst>
                                    <p:set>
                                      <p:cBhvr>
                                        <p:cTn id="18" dur="1" fill="hold">
                                          <p:stCondLst>
                                            <p:cond delay="0"/>
                                          </p:stCondLst>
                                        </p:cTn>
                                        <p:tgtEl>
                                          <p:spTgt spid="4"/>
                                        </p:tgtEl>
                                        <p:attrNameLst>
                                          <p:attrName>style.visibility</p:attrName>
                                        </p:attrNameLst>
                                      </p:cBhvr>
                                      <p:to>
                                        <p:strVal val="visible"/>
                                      </p:to>
                                    </p:set>
                                    <p:animEffect transition="in" filter="wipe(right)">
                                      <p:cBhvr>
                                        <p:cTn id="19" dur="500"/>
                                        <p:tgtEl>
                                          <p:spTgt spid="4"/>
                                        </p:tgtEl>
                                      </p:cBhvr>
                                    </p:animEffect>
                                  </p:childTnLst>
                                </p:cTn>
                              </p:par>
                              <p:par>
                                <p:cTn id="20" presetID="10" presetClass="entr" presetSubtype="0" fill="hold" nodeType="withEffect">
                                  <p:stCondLst>
                                    <p:cond delay="350"/>
                                  </p:stCondLst>
                                  <p:childTnLst>
                                    <p:set>
                                      <p:cBhvr>
                                        <p:cTn id="21" dur="1" fill="hold">
                                          <p:stCondLst>
                                            <p:cond delay="0"/>
                                          </p:stCondLst>
                                        </p:cTn>
                                        <p:tgtEl>
                                          <p:spTgt spid="121"/>
                                        </p:tgtEl>
                                        <p:attrNameLst>
                                          <p:attrName>style.visibility</p:attrName>
                                        </p:attrNameLst>
                                      </p:cBhvr>
                                      <p:to>
                                        <p:strVal val="visible"/>
                                      </p:to>
                                    </p:set>
                                    <p:animEffect transition="in" filter="fade">
                                      <p:cBhvr>
                                        <p:cTn id="22" dur="300"/>
                                        <p:tgtEl>
                                          <p:spTgt spid="121"/>
                                        </p:tgtEl>
                                      </p:cBhvr>
                                    </p:animEffect>
                                  </p:childTnLst>
                                </p:cTn>
                              </p:par>
                              <p:par>
                                <p:cTn id="23" presetID="22" presetClass="entr" presetSubtype="8" fill="hold" nodeType="withEffect">
                                  <p:stCondLst>
                                    <p:cond delay="700"/>
                                  </p:stCondLst>
                                  <p:childTnLst>
                                    <p:set>
                                      <p:cBhvr>
                                        <p:cTn id="24" dur="1" fill="hold">
                                          <p:stCondLst>
                                            <p:cond delay="0"/>
                                          </p:stCondLst>
                                        </p:cTn>
                                        <p:tgtEl>
                                          <p:spTgt spid="110"/>
                                        </p:tgtEl>
                                        <p:attrNameLst>
                                          <p:attrName>style.visibility</p:attrName>
                                        </p:attrNameLst>
                                      </p:cBhvr>
                                      <p:to>
                                        <p:strVal val="visible"/>
                                      </p:to>
                                    </p:set>
                                    <p:animEffect transition="in" filter="wipe(left)">
                                      <p:cBhvr>
                                        <p:cTn id="25" dur="500"/>
                                        <p:tgtEl>
                                          <p:spTgt spid="110"/>
                                        </p:tgtEl>
                                      </p:cBhvr>
                                    </p:animEffect>
                                  </p:childTnLst>
                                </p:cTn>
                              </p:par>
                              <p:par>
                                <p:cTn id="26" presetID="22" presetClass="entr" presetSubtype="2" fill="hold" nodeType="withEffect">
                                  <p:stCondLst>
                                    <p:cond delay="700"/>
                                  </p:stCondLst>
                                  <p:childTnLst>
                                    <p:set>
                                      <p:cBhvr>
                                        <p:cTn id="27" dur="1" fill="hold">
                                          <p:stCondLst>
                                            <p:cond delay="0"/>
                                          </p:stCondLst>
                                        </p:cTn>
                                        <p:tgtEl>
                                          <p:spTgt spid="5"/>
                                        </p:tgtEl>
                                        <p:attrNameLst>
                                          <p:attrName>style.visibility</p:attrName>
                                        </p:attrNameLst>
                                      </p:cBhvr>
                                      <p:to>
                                        <p:strVal val="visible"/>
                                      </p:to>
                                    </p:set>
                                    <p:animEffect transition="in" filter="wipe(right)">
                                      <p:cBhvr>
                                        <p:cTn id="28" dur="500"/>
                                        <p:tgtEl>
                                          <p:spTgt spid="5"/>
                                        </p:tgtEl>
                                      </p:cBhvr>
                                    </p:animEffect>
                                  </p:childTnLst>
                                </p:cTn>
                              </p:par>
                              <p:par>
                                <p:cTn id="29" presetID="10" presetClass="entr" presetSubtype="0" fill="hold" nodeType="withEffect">
                                  <p:stCondLst>
                                    <p:cond delay="700"/>
                                  </p:stCondLst>
                                  <p:childTnLst>
                                    <p:set>
                                      <p:cBhvr>
                                        <p:cTn id="30" dur="1" fill="hold">
                                          <p:stCondLst>
                                            <p:cond delay="0"/>
                                          </p:stCondLst>
                                        </p:cTn>
                                        <p:tgtEl>
                                          <p:spTgt spid="122"/>
                                        </p:tgtEl>
                                        <p:attrNameLst>
                                          <p:attrName>style.visibility</p:attrName>
                                        </p:attrNameLst>
                                      </p:cBhvr>
                                      <p:to>
                                        <p:strVal val="visible"/>
                                      </p:to>
                                    </p:set>
                                    <p:animEffect transition="in" filter="fade">
                                      <p:cBhvr>
                                        <p:cTn id="31" dur="300"/>
                                        <p:tgtEl>
                                          <p:spTgt spid="122"/>
                                        </p:tgtEl>
                                      </p:cBhvr>
                                    </p:animEffect>
                                  </p:childTnLst>
                                </p:cTn>
                              </p:par>
                              <p:par>
                                <p:cTn id="32" presetID="22" presetClass="entr" presetSubtype="2" fill="hold" nodeType="withEffect">
                                  <p:stCondLst>
                                    <p:cond delay="1050"/>
                                  </p:stCondLst>
                                  <p:childTnLst>
                                    <p:set>
                                      <p:cBhvr>
                                        <p:cTn id="33" dur="1" fill="hold">
                                          <p:stCondLst>
                                            <p:cond delay="0"/>
                                          </p:stCondLst>
                                        </p:cTn>
                                        <p:tgtEl>
                                          <p:spTgt spid="111"/>
                                        </p:tgtEl>
                                        <p:attrNameLst>
                                          <p:attrName>style.visibility</p:attrName>
                                        </p:attrNameLst>
                                      </p:cBhvr>
                                      <p:to>
                                        <p:strVal val="visible"/>
                                      </p:to>
                                    </p:set>
                                    <p:animEffect transition="in" filter="wipe(right)">
                                      <p:cBhvr>
                                        <p:cTn id="34" dur="500"/>
                                        <p:tgtEl>
                                          <p:spTgt spid="111"/>
                                        </p:tgtEl>
                                      </p:cBhvr>
                                    </p:animEffect>
                                  </p:childTnLst>
                                </p:cTn>
                              </p:par>
                              <p:par>
                                <p:cTn id="35" presetID="22" presetClass="entr" presetSubtype="8" fill="hold" nodeType="withEffect">
                                  <p:stCondLst>
                                    <p:cond delay="1050"/>
                                  </p:stCondLst>
                                  <p:childTnLst>
                                    <p:set>
                                      <p:cBhvr>
                                        <p:cTn id="36" dur="1" fill="hold">
                                          <p:stCondLst>
                                            <p:cond delay="0"/>
                                          </p:stCondLst>
                                        </p:cTn>
                                        <p:tgtEl>
                                          <p:spTgt spid="6"/>
                                        </p:tgtEl>
                                        <p:attrNameLst>
                                          <p:attrName>style.visibility</p:attrName>
                                        </p:attrNameLst>
                                      </p:cBhvr>
                                      <p:to>
                                        <p:strVal val="visible"/>
                                      </p:to>
                                    </p:set>
                                    <p:animEffect transition="in" filter="wipe(left)">
                                      <p:cBhvr>
                                        <p:cTn id="37" dur="500"/>
                                        <p:tgtEl>
                                          <p:spTgt spid="6"/>
                                        </p:tgtEl>
                                      </p:cBhvr>
                                    </p:animEffect>
                                  </p:childTnLst>
                                </p:cTn>
                              </p:par>
                              <p:par>
                                <p:cTn id="38" presetID="10" presetClass="entr" presetSubtype="0" fill="hold" nodeType="withEffect">
                                  <p:stCondLst>
                                    <p:cond delay="1050"/>
                                  </p:stCondLst>
                                  <p:childTnLst>
                                    <p:set>
                                      <p:cBhvr>
                                        <p:cTn id="39" dur="1" fill="hold">
                                          <p:stCondLst>
                                            <p:cond delay="0"/>
                                          </p:stCondLst>
                                        </p:cTn>
                                        <p:tgtEl>
                                          <p:spTgt spid="123"/>
                                        </p:tgtEl>
                                        <p:attrNameLst>
                                          <p:attrName>style.visibility</p:attrName>
                                        </p:attrNameLst>
                                      </p:cBhvr>
                                      <p:to>
                                        <p:strVal val="visible"/>
                                      </p:to>
                                    </p:set>
                                    <p:animEffect transition="in" filter="fade">
                                      <p:cBhvr>
                                        <p:cTn id="40" dur="300"/>
                                        <p:tgtEl>
                                          <p:spTgt spid="123"/>
                                        </p:tgtEl>
                                      </p:cBhvr>
                                    </p:animEffect>
                                  </p:childTnLst>
                                </p:cTn>
                              </p:par>
                              <p:par>
                                <p:cTn id="41" presetID="22" presetClass="entr" presetSubtype="2" fill="hold" nodeType="withEffect">
                                  <p:stCondLst>
                                    <p:cond delay="1400"/>
                                  </p:stCondLst>
                                  <p:childTnLst>
                                    <p:set>
                                      <p:cBhvr>
                                        <p:cTn id="42" dur="1" fill="hold">
                                          <p:stCondLst>
                                            <p:cond delay="0"/>
                                          </p:stCondLst>
                                        </p:cTn>
                                        <p:tgtEl>
                                          <p:spTgt spid="112"/>
                                        </p:tgtEl>
                                        <p:attrNameLst>
                                          <p:attrName>style.visibility</p:attrName>
                                        </p:attrNameLst>
                                      </p:cBhvr>
                                      <p:to>
                                        <p:strVal val="visible"/>
                                      </p:to>
                                    </p:set>
                                    <p:animEffect transition="in" filter="wipe(right)">
                                      <p:cBhvr>
                                        <p:cTn id="43" dur="500"/>
                                        <p:tgtEl>
                                          <p:spTgt spid="112"/>
                                        </p:tgtEl>
                                      </p:cBhvr>
                                    </p:animEffect>
                                  </p:childTnLst>
                                </p:cTn>
                              </p:par>
                              <p:par>
                                <p:cTn id="44" presetID="22" presetClass="entr" presetSubtype="8" fill="hold" nodeType="withEffect">
                                  <p:stCondLst>
                                    <p:cond delay="1400"/>
                                  </p:stCondLst>
                                  <p:childTnLst>
                                    <p:set>
                                      <p:cBhvr>
                                        <p:cTn id="45" dur="1" fill="hold">
                                          <p:stCondLst>
                                            <p:cond delay="0"/>
                                          </p:stCondLst>
                                        </p:cTn>
                                        <p:tgtEl>
                                          <p:spTgt spid="7"/>
                                        </p:tgtEl>
                                        <p:attrNameLst>
                                          <p:attrName>style.visibility</p:attrName>
                                        </p:attrNameLst>
                                      </p:cBhvr>
                                      <p:to>
                                        <p:strVal val="visible"/>
                                      </p:to>
                                    </p:set>
                                    <p:animEffect transition="in" filter="wipe(left)">
                                      <p:cBhvr>
                                        <p:cTn id="46" dur="500"/>
                                        <p:tgtEl>
                                          <p:spTgt spid="7"/>
                                        </p:tgtEl>
                                      </p:cBhvr>
                                    </p:animEffect>
                                  </p:childTnLst>
                                </p:cTn>
                              </p:par>
                              <p:par>
                                <p:cTn id="47" presetID="10" presetClass="entr" presetSubtype="0" fill="hold" nodeType="withEffect">
                                  <p:stCondLst>
                                    <p:cond delay="1400"/>
                                  </p:stCondLst>
                                  <p:childTnLst>
                                    <p:set>
                                      <p:cBhvr>
                                        <p:cTn id="48" dur="1" fill="hold">
                                          <p:stCondLst>
                                            <p:cond delay="0"/>
                                          </p:stCondLst>
                                        </p:cTn>
                                        <p:tgtEl>
                                          <p:spTgt spid="124"/>
                                        </p:tgtEl>
                                        <p:attrNameLst>
                                          <p:attrName>style.visibility</p:attrName>
                                        </p:attrNameLst>
                                      </p:cBhvr>
                                      <p:to>
                                        <p:strVal val="visible"/>
                                      </p:to>
                                    </p:set>
                                    <p:animEffect transition="in" filter="fade">
                                      <p:cBhvr>
                                        <p:cTn id="49" dur="300"/>
                                        <p:tgtEl>
                                          <p:spTgt spid="124"/>
                                        </p:tgtEl>
                                      </p:cBhvr>
                                    </p:animEffect>
                                  </p:childTnLst>
                                </p:cTn>
                              </p:par>
                              <p:par>
                                <p:cTn id="50" presetID="10" presetClass="entr" presetSubtype="0" fill="hold" nodeType="withEffect">
                                  <p:stCondLst>
                                    <p:cond delay="1750"/>
                                  </p:stCondLst>
                                  <p:childTnLst>
                                    <p:set>
                                      <p:cBhvr>
                                        <p:cTn id="51" dur="1" fill="hold">
                                          <p:stCondLst>
                                            <p:cond delay="0"/>
                                          </p:stCondLst>
                                        </p:cTn>
                                        <p:tgtEl>
                                          <p:spTgt spid="125"/>
                                        </p:tgtEl>
                                        <p:attrNameLst>
                                          <p:attrName>style.visibility</p:attrName>
                                        </p:attrNameLst>
                                      </p:cBhvr>
                                      <p:to>
                                        <p:strVal val="visible"/>
                                      </p:to>
                                    </p:set>
                                    <p:animEffect transition="in" filter="fade">
                                      <p:cBhvr>
                                        <p:cTn id="52" dur="300"/>
                                        <p:tgtEl>
                                          <p:spTgt spid="125"/>
                                        </p:tgtEl>
                                      </p:cBhvr>
                                    </p:animEffect>
                                  </p:childTnLst>
                                </p:cTn>
                              </p:par>
                              <p:par>
                                <p:cTn id="53" presetID="22" presetClass="entr" presetSubtype="8" fill="hold" nodeType="withEffect">
                                  <p:stCondLst>
                                    <p:cond delay="2100"/>
                                  </p:stCondLst>
                                  <p:childTnLst>
                                    <p:set>
                                      <p:cBhvr>
                                        <p:cTn id="54" dur="1" fill="hold">
                                          <p:stCondLst>
                                            <p:cond delay="0"/>
                                          </p:stCondLst>
                                        </p:cTn>
                                        <p:tgtEl>
                                          <p:spTgt spid="113"/>
                                        </p:tgtEl>
                                        <p:attrNameLst>
                                          <p:attrName>style.visibility</p:attrName>
                                        </p:attrNameLst>
                                      </p:cBhvr>
                                      <p:to>
                                        <p:strVal val="visible"/>
                                      </p:to>
                                    </p:set>
                                    <p:animEffect transition="in" filter="wipe(left)">
                                      <p:cBhvr>
                                        <p:cTn id="55" dur="500"/>
                                        <p:tgtEl>
                                          <p:spTgt spid="113"/>
                                        </p:tgtEl>
                                      </p:cBhvr>
                                    </p:animEffect>
                                  </p:childTnLst>
                                </p:cTn>
                              </p:par>
                              <p:par>
                                <p:cTn id="56" presetID="22" presetClass="entr" presetSubtype="2" fill="hold" nodeType="withEffect">
                                  <p:stCondLst>
                                    <p:cond delay="2100"/>
                                  </p:stCondLst>
                                  <p:childTnLst>
                                    <p:set>
                                      <p:cBhvr>
                                        <p:cTn id="57" dur="1" fill="hold">
                                          <p:stCondLst>
                                            <p:cond delay="0"/>
                                          </p:stCondLst>
                                        </p:cTn>
                                        <p:tgtEl>
                                          <p:spTgt spid="9"/>
                                        </p:tgtEl>
                                        <p:attrNameLst>
                                          <p:attrName>style.visibility</p:attrName>
                                        </p:attrNameLst>
                                      </p:cBhvr>
                                      <p:to>
                                        <p:strVal val="visible"/>
                                      </p:to>
                                    </p:set>
                                    <p:animEffect transition="in" filter="wipe(right)">
                                      <p:cBhvr>
                                        <p:cTn id="58" dur="500"/>
                                        <p:tgtEl>
                                          <p:spTgt spid="9"/>
                                        </p:tgtEl>
                                      </p:cBhvr>
                                    </p:animEffect>
                                  </p:childTnLst>
                                </p:cTn>
                              </p:par>
                              <p:par>
                                <p:cTn id="59" presetID="10" presetClass="entr" presetSubtype="0" fill="hold" nodeType="withEffect">
                                  <p:stCondLst>
                                    <p:cond delay="2100"/>
                                  </p:stCondLst>
                                  <p:childTnLst>
                                    <p:set>
                                      <p:cBhvr>
                                        <p:cTn id="60" dur="1" fill="hold">
                                          <p:stCondLst>
                                            <p:cond delay="0"/>
                                          </p:stCondLst>
                                        </p:cTn>
                                        <p:tgtEl>
                                          <p:spTgt spid="132"/>
                                        </p:tgtEl>
                                        <p:attrNameLst>
                                          <p:attrName>style.visibility</p:attrName>
                                        </p:attrNameLst>
                                      </p:cBhvr>
                                      <p:to>
                                        <p:strVal val="visible"/>
                                      </p:to>
                                    </p:set>
                                    <p:animEffect transition="in" filter="fade">
                                      <p:cBhvr>
                                        <p:cTn id="61" dur="300"/>
                                        <p:tgtEl>
                                          <p:spTgt spid="132"/>
                                        </p:tgtEl>
                                      </p:cBhvr>
                                    </p:animEffect>
                                  </p:childTnLst>
                                </p:cTn>
                              </p:par>
                              <p:par>
                                <p:cTn id="62" presetID="22" presetClass="entr" presetSubtype="2" fill="hold" nodeType="withEffect">
                                  <p:stCondLst>
                                    <p:cond delay="2450"/>
                                  </p:stCondLst>
                                  <p:childTnLst>
                                    <p:set>
                                      <p:cBhvr>
                                        <p:cTn id="63" dur="1" fill="hold">
                                          <p:stCondLst>
                                            <p:cond delay="0"/>
                                          </p:stCondLst>
                                        </p:cTn>
                                        <p:tgtEl>
                                          <p:spTgt spid="130"/>
                                        </p:tgtEl>
                                        <p:attrNameLst>
                                          <p:attrName>style.visibility</p:attrName>
                                        </p:attrNameLst>
                                      </p:cBhvr>
                                      <p:to>
                                        <p:strVal val="visible"/>
                                      </p:to>
                                    </p:set>
                                    <p:animEffect transition="in" filter="wipe(right)">
                                      <p:cBhvr>
                                        <p:cTn id="64" dur="500"/>
                                        <p:tgtEl>
                                          <p:spTgt spid="130"/>
                                        </p:tgtEl>
                                      </p:cBhvr>
                                    </p:animEffect>
                                  </p:childTnLst>
                                </p:cTn>
                              </p:par>
                              <p:par>
                                <p:cTn id="65" presetID="22" presetClass="entr" presetSubtype="8" fill="hold" nodeType="withEffect">
                                  <p:stCondLst>
                                    <p:cond delay="2450"/>
                                  </p:stCondLst>
                                  <p:childTnLst>
                                    <p:set>
                                      <p:cBhvr>
                                        <p:cTn id="66" dur="1" fill="hold">
                                          <p:stCondLst>
                                            <p:cond delay="0"/>
                                          </p:stCondLst>
                                        </p:cTn>
                                        <p:tgtEl>
                                          <p:spTgt spid="8"/>
                                        </p:tgtEl>
                                        <p:attrNameLst>
                                          <p:attrName>style.visibility</p:attrName>
                                        </p:attrNameLst>
                                      </p:cBhvr>
                                      <p:to>
                                        <p:strVal val="visible"/>
                                      </p:to>
                                    </p:set>
                                    <p:animEffect transition="in" filter="wipe(left)">
                                      <p:cBhvr>
                                        <p:cTn id="67" dur="500"/>
                                        <p:tgtEl>
                                          <p:spTgt spid="8"/>
                                        </p:tgtEl>
                                      </p:cBhvr>
                                    </p:animEffect>
                                  </p:childTnLst>
                                </p:cTn>
                              </p:par>
                              <p:par>
                                <p:cTn id="68" presetID="10" presetClass="entr" presetSubtype="0" fill="hold" nodeType="withEffect">
                                  <p:stCondLst>
                                    <p:cond delay="2450"/>
                                  </p:stCondLst>
                                  <p:childTnLst>
                                    <p:set>
                                      <p:cBhvr>
                                        <p:cTn id="69" dur="1" fill="hold">
                                          <p:stCondLst>
                                            <p:cond delay="0"/>
                                          </p:stCondLst>
                                        </p:cTn>
                                        <p:tgtEl>
                                          <p:spTgt spid="133"/>
                                        </p:tgtEl>
                                        <p:attrNameLst>
                                          <p:attrName>style.visibility</p:attrName>
                                        </p:attrNameLst>
                                      </p:cBhvr>
                                      <p:to>
                                        <p:strVal val="visible"/>
                                      </p:to>
                                    </p:set>
                                    <p:animEffect transition="in" filter="fade">
                                      <p:cBhvr>
                                        <p:cTn id="70" dur="300"/>
                                        <p:tgtEl>
                                          <p:spTgt spid="133"/>
                                        </p:tgtEl>
                                      </p:cBhvr>
                                    </p:animEffect>
                                  </p:childTnLst>
                                </p:cTn>
                              </p:par>
                              <p:par>
                                <p:cTn id="71" presetID="22" presetClass="entr" presetSubtype="1" fill="hold" grpId="0" nodeType="withEffect">
                                  <p:stCondLst>
                                    <p:cond delay="0"/>
                                  </p:stCondLst>
                                  <p:childTnLst>
                                    <p:set>
                                      <p:cBhvr>
                                        <p:cTn id="72" dur="1" fill="hold">
                                          <p:stCondLst>
                                            <p:cond delay="0"/>
                                          </p:stCondLst>
                                        </p:cTn>
                                        <p:tgtEl>
                                          <p:spTgt spid="303"/>
                                        </p:tgtEl>
                                        <p:attrNameLst>
                                          <p:attrName>style.visibility</p:attrName>
                                        </p:attrNameLst>
                                      </p:cBhvr>
                                      <p:to>
                                        <p:strVal val="visible"/>
                                      </p:to>
                                    </p:set>
                                    <p:animEffect transition="in" filter="wipe(up)">
                                      <p:cBhvr>
                                        <p:cTn id="73" dur="500"/>
                                        <p:tgtEl>
                                          <p:spTgt spid="303"/>
                                        </p:tgtEl>
                                      </p:cBhvr>
                                    </p:animEffect>
                                  </p:childTnLst>
                                </p:cTn>
                              </p:par>
                              <p:par>
                                <p:cTn id="74" presetID="22" presetClass="entr" presetSubtype="4" fill="hold" grpId="0" nodeType="withEffect">
                                  <p:stCondLst>
                                    <p:cond delay="0"/>
                                  </p:stCondLst>
                                  <p:childTnLst>
                                    <p:set>
                                      <p:cBhvr>
                                        <p:cTn id="75" dur="1" fill="hold">
                                          <p:stCondLst>
                                            <p:cond delay="0"/>
                                          </p:stCondLst>
                                        </p:cTn>
                                        <p:tgtEl>
                                          <p:spTgt spid="304"/>
                                        </p:tgtEl>
                                        <p:attrNameLst>
                                          <p:attrName>style.visibility</p:attrName>
                                        </p:attrNameLst>
                                      </p:cBhvr>
                                      <p:to>
                                        <p:strVal val="visible"/>
                                      </p:to>
                                    </p:set>
                                    <p:animEffect transition="in" filter="wipe(down)">
                                      <p:cBhvr>
                                        <p:cTn id="76" dur="500"/>
                                        <p:tgtEl>
                                          <p:spTgt spid="3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3" grpId="0" animBg="1"/>
      <p:bldP spid="30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Context Engineering: Feed Each Agent Only What It Needs</a:t>
            </a:r>
            <a:endParaRPr lang="en-US" sz="3000" dirty="0"/>
          </a:p>
        </p:txBody>
      </p:sp>
      <p:sp>
        <p:nvSpPr>
          <p:cNvPr id="3" name="Text 1"/>
          <p:cNvSpPr/>
          <p:nvPr/>
        </p:nvSpPr>
        <p:spPr>
          <a:xfrm>
            <a:off x="457200" y="1051560"/>
            <a:ext cx="2194560" cy="777240"/>
          </a:xfrm>
          <a:prstGeom prst="rect">
            <a:avLst/>
          </a:prstGeom>
          <a:noFill/>
          <a:ln/>
        </p:spPr>
        <p:txBody>
          <a:bodyPr wrap="square" lIns="0" tIns="0" rIns="0" bIns="0" rtlCol="0" anchor="ctr"/>
          <a:lstStyle/>
          <a:p>
            <a:pPr marL="0" indent="0" algn="l">
              <a:buNone/>
            </a:pPr>
            <a:r>
              <a:rPr lang="en-US" sz="5400" b="1" dirty="0">
                <a:solidFill>
                  <a:srgbClr val="1E2761"/>
                </a:solidFill>
                <a:latin typeface="Cambria" pitchFamily="34" charset="0"/>
                <a:ea typeface="Cambria" pitchFamily="34" charset="-122"/>
                <a:cs typeface="Cambria" pitchFamily="34" charset="-120"/>
              </a:rPr>
              <a:t>99.8%</a:t>
            </a:r>
            <a:endParaRPr lang="en-US" sz="5400" dirty="0"/>
          </a:p>
        </p:txBody>
      </p:sp>
      <p:sp>
        <p:nvSpPr>
          <p:cNvPr id="4" name="Text 2"/>
          <p:cNvSpPr/>
          <p:nvPr/>
        </p:nvSpPr>
        <p:spPr>
          <a:xfrm>
            <a:off x="457200" y="1828800"/>
            <a:ext cx="2194560" cy="594360"/>
          </a:xfrm>
          <a:prstGeom prst="rect">
            <a:avLst/>
          </a:prstGeom>
          <a:noFill/>
          <a:ln/>
        </p:spPr>
        <p:txBody>
          <a:bodyPr wrap="square" lIns="0" tIns="0" rIns="0" bIns="0" rtlCol="0" anchor="t"/>
          <a:lstStyle/>
          <a:p>
            <a:pPr marL="0" indent="0" algn="l">
              <a:buNone/>
            </a:pPr>
            <a:r>
              <a:rPr lang="en-US" sz="1150" dirty="0">
                <a:solidFill>
                  <a:srgbClr val="334155"/>
                </a:solidFill>
                <a:latin typeface="Calibri" pitchFamily="34" charset="0"/>
                <a:ea typeface="Calibri" pitchFamily="34" charset="-122"/>
                <a:cs typeface="Calibri" pitchFamily="34" charset="-120"/>
              </a:rPr>
              <a:t>prompt-cache hit rate from stable, layered context</a:t>
            </a:r>
            <a:endParaRPr lang="en-US" sz="1150" dirty="0"/>
          </a:p>
        </p:txBody>
      </p:sp>
      <p:sp>
        <p:nvSpPr>
          <p:cNvPr id="5" name="Text 3"/>
          <p:cNvSpPr/>
          <p:nvPr/>
        </p:nvSpPr>
        <p:spPr>
          <a:xfrm>
            <a:off x="457200" y="2304506"/>
            <a:ext cx="2194560" cy="788126"/>
          </a:xfrm>
          <a:prstGeom prst="rect">
            <a:avLst/>
          </a:prstGeom>
          <a:noFill/>
          <a:ln/>
        </p:spPr>
        <p:txBody>
          <a:bodyPr wrap="square" lIns="0" tIns="0" rIns="0" bIns="0" rtlCol="0" anchor="ctr"/>
          <a:lstStyle/>
          <a:p>
            <a:pPr marL="0" indent="0" algn="l">
              <a:buNone/>
            </a:pPr>
            <a:r>
              <a:rPr lang="en-US" sz="2400" b="1" strike="sngStrike" dirty="0">
                <a:solidFill>
                  <a:srgbClr val="64748B"/>
                </a:solidFill>
                <a:latin typeface="Cambria"/>
                <a:ea typeface="Cambria"/>
                <a:cs typeface="Cambria" pitchFamily="34" charset="-120"/>
              </a:rPr>
              <a:t>$1,000 </a:t>
            </a:r>
            <a:r>
              <a:rPr lang="en-US" sz="3000" b="1">
                <a:solidFill>
                  <a:srgbClr val="2EC4B6"/>
                </a:solidFill>
                <a:latin typeface="Cambria"/>
                <a:ea typeface="Cambria"/>
                <a:cs typeface="Cambria" pitchFamily="34" charset="-120"/>
              </a:rPr>
              <a:t> →$95</a:t>
            </a:r>
            <a:endParaRPr lang="en-US" sz="2400">
              <a:latin typeface="Cambria"/>
              <a:ea typeface="Cambria"/>
            </a:endParaRPr>
          </a:p>
        </p:txBody>
      </p:sp>
      <p:sp>
        <p:nvSpPr>
          <p:cNvPr id="6" name="Text 4"/>
          <p:cNvSpPr/>
          <p:nvPr/>
        </p:nvSpPr>
        <p:spPr>
          <a:xfrm>
            <a:off x="457200" y="3154680"/>
            <a:ext cx="2194560" cy="640080"/>
          </a:xfrm>
          <a:prstGeom prst="rect">
            <a:avLst/>
          </a:prstGeom>
          <a:noFill/>
          <a:ln/>
        </p:spPr>
        <p:txBody>
          <a:bodyPr wrap="square" lIns="0" tIns="0" rIns="0" bIns="0" rtlCol="0" anchor="t"/>
          <a:lstStyle/>
          <a:p>
            <a:pPr marL="0" indent="0" algn="l">
              <a:buNone/>
            </a:pPr>
            <a:r>
              <a:rPr lang="en-US" sz="1150" dirty="0">
                <a:solidFill>
                  <a:srgbClr val="334155"/>
                </a:solidFill>
                <a:latin typeface="Calibri" pitchFamily="34" charset="0"/>
                <a:ea typeface="Calibri" pitchFamily="34" charset="-122"/>
                <a:cs typeface="Calibri" pitchFamily="34" charset="-120"/>
              </a:rPr>
              <a:t>token cost for the same workload after cache optimization</a:t>
            </a:r>
            <a:endParaRPr lang="en-US" sz="1150" dirty="0"/>
          </a:p>
        </p:txBody>
      </p:sp>
      <p:sp>
        <p:nvSpPr>
          <p:cNvPr id="7" name="Shape 5"/>
          <p:cNvSpPr/>
          <p:nvPr/>
        </p:nvSpPr>
        <p:spPr>
          <a:xfrm>
            <a:off x="2880360" y="1005840"/>
            <a:ext cx="2999232" cy="1298448"/>
          </a:xfrm>
          <a:prstGeom prst="roundRect">
            <a:avLst>
              <a:gd name="adj" fmla="val 5634"/>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8" name="Shape 6"/>
          <p:cNvSpPr/>
          <p:nvPr/>
        </p:nvSpPr>
        <p:spPr>
          <a:xfrm>
            <a:off x="3063240" y="1152144"/>
            <a:ext cx="457200" cy="457200"/>
          </a:xfrm>
          <a:prstGeom prst="ellipse">
            <a:avLst/>
          </a:prstGeom>
          <a:solidFill>
            <a:srgbClr val="1E2761"/>
          </a:solidFill>
          <a:ln/>
        </p:spPr>
        <p:txBody>
          <a:bodyPr/>
          <a:lstStyle/>
          <a:p>
            <a:endParaRPr lang="en-US"/>
          </a:p>
        </p:txBody>
      </p:sp>
      <p:pic>
        <p:nvPicPr>
          <p:cNvPr id="9" name="Image 0" descr="preencoded.png"/>
          <p:cNvPicPr>
            <a:picLocks noChangeAspect="1"/>
          </p:cNvPicPr>
          <p:nvPr/>
        </p:nvPicPr>
        <p:blipFill>
          <a:blip r:embed="rId3"/>
          <a:stretch>
            <a:fillRect/>
          </a:stretch>
        </p:blipFill>
        <p:spPr>
          <a:xfrm>
            <a:off x="3182112" y="1271016"/>
            <a:ext cx="219456" cy="219456"/>
          </a:xfrm>
          <a:prstGeom prst="rect">
            <a:avLst/>
          </a:prstGeom>
        </p:spPr>
      </p:pic>
      <p:sp>
        <p:nvSpPr>
          <p:cNvPr id="10" name="Text 7"/>
          <p:cNvSpPr/>
          <p:nvPr/>
        </p:nvSpPr>
        <p:spPr>
          <a:xfrm>
            <a:off x="3657600" y="1170432"/>
            <a:ext cx="2039112" cy="411480"/>
          </a:xfrm>
          <a:prstGeom prst="rect">
            <a:avLst/>
          </a:prstGeom>
          <a:noFill/>
          <a:ln/>
        </p:spPr>
        <p:txBody>
          <a:bodyPr wrap="square" lIns="0" tIns="0" rIns="0" bIns="0" rtlCol="0" anchor="ctr"/>
          <a:lstStyle/>
          <a:p>
            <a:pPr marL="0" indent="0" algn="l">
              <a:buNone/>
            </a:pPr>
            <a:r>
              <a:rPr lang="en-US" sz="1350" b="1" dirty="0">
                <a:solidFill>
                  <a:srgbClr val="1E2761"/>
                </a:solidFill>
                <a:latin typeface="Calibri" pitchFamily="34" charset="0"/>
                <a:ea typeface="Calibri" pitchFamily="34" charset="-122"/>
                <a:cs typeface="Calibri" pitchFamily="34" charset="-120"/>
              </a:rPr>
              <a:t>Layered instructions</a:t>
            </a:r>
            <a:endParaRPr lang="en-US" sz="1350" dirty="0"/>
          </a:p>
        </p:txBody>
      </p:sp>
      <p:sp>
        <p:nvSpPr>
          <p:cNvPr id="11" name="Text 8"/>
          <p:cNvSpPr/>
          <p:nvPr/>
        </p:nvSpPr>
        <p:spPr>
          <a:xfrm>
            <a:off x="3108960" y="1682496"/>
            <a:ext cx="2542032" cy="566928"/>
          </a:xfrm>
          <a:prstGeom prst="rect">
            <a:avLst/>
          </a:prstGeom>
          <a:noFill/>
          <a:ln/>
        </p:spPr>
        <p:txBody>
          <a:bodyPr wrap="square" lIns="0" tIns="0" rIns="0" bIns="0" rtlCol="0" anchor="t"/>
          <a:lstStyle/>
          <a:p>
            <a:pPr marL="0" indent="0" algn="l">
              <a:buNone/>
            </a:pPr>
            <a:r>
              <a:rPr lang="en-US" sz="1050" dirty="0">
                <a:solidFill>
                  <a:srgbClr val="334155"/>
                </a:solidFill>
                <a:latin typeface="Calibri" pitchFamily="34" charset="0"/>
                <a:ea typeface="Calibri" pitchFamily="34" charset="-122"/>
                <a:cs typeface="Calibri" pitchFamily="34" charset="-120"/>
              </a:rPr>
              <a:t>CLAUDE.md + rules files give every agent the same ground truth — a stable prefix the cache loves.</a:t>
            </a:r>
            <a:endParaRPr lang="en-US" sz="1050" dirty="0"/>
          </a:p>
        </p:txBody>
      </p:sp>
      <p:sp>
        <p:nvSpPr>
          <p:cNvPr id="12" name="Shape 9"/>
          <p:cNvSpPr/>
          <p:nvPr/>
        </p:nvSpPr>
        <p:spPr>
          <a:xfrm>
            <a:off x="6035040" y="1005840"/>
            <a:ext cx="2999232" cy="1298448"/>
          </a:xfrm>
          <a:prstGeom prst="roundRect">
            <a:avLst>
              <a:gd name="adj" fmla="val 5634"/>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13" name="Shape 10"/>
          <p:cNvSpPr/>
          <p:nvPr/>
        </p:nvSpPr>
        <p:spPr>
          <a:xfrm>
            <a:off x="6217920" y="1152144"/>
            <a:ext cx="457200" cy="457200"/>
          </a:xfrm>
          <a:prstGeom prst="ellipse">
            <a:avLst/>
          </a:prstGeom>
          <a:solidFill>
            <a:srgbClr val="1E2761"/>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6336792" y="1271016"/>
            <a:ext cx="219456" cy="219456"/>
          </a:xfrm>
          <a:prstGeom prst="rect">
            <a:avLst/>
          </a:prstGeom>
        </p:spPr>
      </p:pic>
      <p:sp>
        <p:nvSpPr>
          <p:cNvPr id="15" name="Text 11"/>
          <p:cNvSpPr/>
          <p:nvPr/>
        </p:nvSpPr>
        <p:spPr>
          <a:xfrm>
            <a:off x="6812280" y="1170432"/>
            <a:ext cx="2039112" cy="411480"/>
          </a:xfrm>
          <a:prstGeom prst="rect">
            <a:avLst/>
          </a:prstGeom>
          <a:noFill/>
          <a:ln/>
        </p:spPr>
        <p:txBody>
          <a:bodyPr wrap="square" lIns="0" tIns="0" rIns="0" bIns="0" rtlCol="0" anchor="ctr"/>
          <a:lstStyle/>
          <a:p>
            <a:pPr marL="0" indent="0" algn="l">
              <a:buNone/>
            </a:pPr>
            <a:r>
              <a:rPr lang="en-US" sz="1350" b="1" dirty="0">
                <a:solidFill>
                  <a:srgbClr val="1E2761"/>
                </a:solidFill>
                <a:latin typeface="Calibri" pitchFamily="34" charset="0"/>
                <a:ea typeface="Calibri" pitchFamily="34" charset="-122"/>
                <a:cs typeface="Calibri" pitchFamily="34" charset="-120"/>
              </a:rPr>
              <a:t>Progressive disclosure</a:t>
            </a:r>
            <a:endParaRPr lang="en-US" sz="1350" dirty="0"/>
          </a:p>
        </p:txBody>
      </p:sp>
      <p:sp>
        <p:nvSpPr>
          <p:cNvPr id="16" name="Text 12"/>
          <p:cNvSpPr/>
          <p:nvPr/>
        </p:nvSpPr>
        <p:spPr>
          <a:xfrm>
            <a:off x="6263640" y="1682496"/>
            <a:ext cx="2542032" cy="566928"/>
          </a:xfrm>
          <a:prstGeom prst="rect">
            <a:avLst/>
          </a:prstGeom>
          <a:noFill/>
          <a:ln/>
        </p:spPr>
        <p:txBody>
          <a:bodyPr wrap="square" lIns="0" tIns="0" rIns="0" bIns="0" rtlCol="0" anchor="t"/>
          <a:lstStyle/>
          <a:p>
            <a:pPr marL="0" indent="0" algn="l">
              <a:buNone/>
            </a:pPr>
            <a:r>
              <a:rPr lang="en-US" sz="1050" dirty="0">
                <a:solidFill>
                  <a:srgbClr val="334155"/>
                </a:solidFill>
                <a:latin typeface="Calibri" pitchFamily="34" charset="0"/>
                <a:ea typeface="Calibri" pitchFamily="34" charset="-122"/>
                <a:cs typeface="Calibri" pitchFamily="34" charset="-120"/>
              </a:rPr>
              <a:t>Skills and docs load on demand, not upfront — context stays small and relevant.</a:t>
            </a:r>
            <a:endParaRPr lang="en-US" sz="1050" dirty="0"/>
          </a:p>
        </p:txBody>
      </p:sp>
      <p:sp>
        <p:nvSpPr>
          <p:cNvPr id="17" name="Shape 13"/>
          <p:cNvSpPr/>
          <p:nvPr/>
        </p:nvSpPr>
        <p:spPr>
          <a:xfrm>
            <a:off x="2880360" y="2432304"/>
            <a:ext cx="2999232" cy="1298448"/>
          </a:xfrm>
          <a:prstGeom prst="roundRect">
            <a:avLst>
              <a:gd name="adj" fmla="val 5634"/>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18" name="Shape 14"/>
          <p:cNvSpPr/>
          <p:nvPr/>
        </p:nvSpPr>
        <p:spPr>
          <a:xfrm>
            <a:off x="3063240" y="2578608"/>
            <a:ext cx="457200" cy="457200"/>
          </a:xfrm>
          <a:prstGeom prst="ellipse">
            <a:avLst/>
          </a:prstGeom>
          <a:solidFill>
            <a:srgbClr val="1E2761"/>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3182112" y="2697480"/>
            <a:ext cx="219456" cy="219456"/>
          </a:xfrm>
          <a:prstGeom prst="rect">
            <a:avLst/>
          </a:prstGeom>
        </p:spPr>
      </p:pic>
      <p:sp>
        <p:nvSpPr>
          <p:cNvPr id="20" name="Text 15"/>
          <p:cNvSpPr/>
          <p:nvPr/>
        </p:nvSpPr>
        <p:spPr>
          <a:xfrm>
            <a:off x="3657600" y="2596896"/>
            <a:ext cx="2039112" cy="411480"/>
          </a:xfrm>
          <a:prstGeom prst="rect">
            <a:avLst/>
          </a:prstGeom>
          <a:noFill/>
          <a:ln/>
        </p:spPr>
        <p:txBody>
          <a:bodyPr wrap="square" lIns="0" tIns="0" rIns="0" bIns="0" rtlCol="0" anchor="ctr"/>
          <a:lstStyle/>
          <a:p>
            <a:pPr marL="0" indent="0" algn="l">
              <a:buNone/>
            </a:pPr>
            <a:r>
              <a:rPr lang="en-US" sz="1350" b="1" dirty="0">
                <a:solidFill>
                  <a:srgbClr val="1E2761"/>
                </a:solidFill>
                <a:latin typeface="Calibri" pitchFamily="34" charset="0"/>
                <a:ea typeface="Calibri" pitchFamily="34" charset="-122"/>
                <a:cs typeface="Calibri" pitchFamily="34" charset="-120"/>
              </a:rPr>
              <a:t>Context isolation</a:t>
            </a:r>
            <a:endParaRPr lang="en-US" sz="1350" dirty="0"/>
          </a:p>
        </p:txBody>
      </p:sp>
      <p:sp>
        <p:nvSpPr>
          <p:cNvPr id="21" name="Text 16"/>
          <p:cNvSpPr/>
          <p:nvPr/>
        </p:nvSpPr>
        <p:spPr>
          <a:xfrm>
            <a:off x="3108960" y="3108960"/>
            <a:ext cx="2542032" cy="566928"/>
          </a:xfrm>
          <a:prstGeom prst="rect">
            <a:avLst/>
          </a:prstGeom>
          <a:noFill/>
          <a:ln/>
        </p:spPr>
        <p:txBody>
          <a:bodyPr wrap="square" lIns="0" tIns="0" rIns="0" bIns="0" rtlCol="0" anchor="t"/>
          <a:lstStyle/>
          <a:p>
            <a:pPr marL="0" indent="0" algn="l">
              <a:buNone/>
            </a:pPr>
            <a:r>
              <a:rPr lang="en-US" sz="1050" dirty="0">
                <a:solidFill>
                  <a:srgbClr val="334155"/>
                </a:solidFill>
                <a:latin typeface="Calibri" pitchFamily="34" charset="0"/>
                <a:ea typeface="Calibri" pitchFamily="34" charset="-122"/>
                <a:cs typeface="Calibri" pitchFamily="34" charset="-120"/>
              </a:rPr>
              <a:t>Each subagent gets its own window scoped to its role — no 200k-token soup.</a:t>
            </a:r>
            <a:endParaRPr lang="en-US" sz="1050" dirty="0"/>
          </a:p>
        </p:txBody>
      </p:sp>
      <p:sp>
        <p:nvSpPr>
          <p:cNvPr id="22" name="Shape 17"/>
          <p:cNvSpPr/>
          <p:nvPr/>
        </p:nvSpPr>
        <p:spPr>
          <a:xfrm>
            <a:off x="6035040" y="2432304"/>
            <a:ext cx="2999232" cy="1298448"/>
          </a:xfrm>
          <a:prstGeom prst="roundRect">
            <a:avLst>
              <a:gd name="adj" fmla="val 5634"/>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23" name="Shape 18"/>
          <p:cNvSpPr/>
          <p:nvPr/>
        </p:nvSpPr>
        <p:spPr>
          <a:xfrm>
            <a:off x="6217920" y="2578608"/>
            <a:ext cx="457200" cy="457200"/>
          </a:xfrm>
          <a:prstGeom prst="ellipse">
            <a:avLst/>
          </a:prstGeom>
          <a:solidFill>
            <a:srgbClr val="1E2761"/>
          </a:solidFill>
          <a:ln/>
        </p:spPr>
        <p:txBody>
          <a:bodyPr/>
          <a:lstStyle/>
          <a:p>
            <a:endParaRPr lang="en-US"/>
          </a:p>
        </p:txBody>
      </p:sp>
      <p:pic>
        <p:nvPicPr>
          <p:cNvPr id="24" name="Image 3" descr="preencoded.png"/>
          <p:cNvPicPr>
            <a:picLocks noChangeAspect="1"/>
          </p:cNvPicPr>
          <p:nvPr/>
        </p:nvPicPr>
        <p:blipFill>
          <a:blip r:embed="rId6"/>
          <a:stretch>
            <a:fillRect/>
          </a:stretch>
        </p:blipFill>
        <p:spPr>
          <a:xfrm>
            <a:off x="6336792" y="2697480"/>
            <a:ext cx="219456" cy="219456"/>
          </a:xfrm>
          <a:prstGeom prst="rect">
            <a:avLst/>
          </a:prstGeom>
        </p:spPr>
      </p:pic>
      <p:sp>
        <p:nvSpPr>
          <p:cNvPr id="25" name="Text 19"/>
          <p:cNvSpPr/>
          <p:nvPr/>
        </p:nvSpPr>
        <p:spPr>
          <a:xfrm>
            <a:off x="6812280" y="2596896"/>
            <a:ext cx="2039112" cy="411480"/>
          </a:xfrm>
          <a:prstGeom prst="rect">
            <a:avLst/>
          </a:prstGeom>
          <a:noFill/>
          <a:ln/>
        </p:spPr>
        <p:txBody>
          <a:bodyPr wrap="square" lIns="0" tIns="0" rIns="0" bIns="0" rtlCol="0" anchor="ctr"/>
          <a:lstStyle/>
          <a:p>
            <a:pPr marL="0" indent="0" algn="l">
              <a:buNone/>
            </a:pPr>
            <a:r>
              <a:rPr lang="en-US" sz="1350" b="1" dirty="0">
                <a:solidFill>
                  <a:srgbClr val="1E2761"/>
                </a:solidFill>
                <a:latin typeface="Calibri" pitchFamily="34" charset="0"/>
                <a:ea typeface="Calibri" pitchFamily="34" charset="-122"/>
                <a:cs typeface="Calibri" pitchFamily="34" charset="-120"/>
              </a:rPr>
              <a:t>Persistent memory</a:t>
            </a:r>
            <a:endParaRPr lang="en-US" sz="1350" dirty="0"/>
          </a:p>
        </p:txBody>
      </p:sp>
      <p:sp>
        <p:nvSpPr>
          <p:cNvPr id="26" name="Text 20"/>
          <p:cNvSpPr/>
          <p:nvPr/>
        </p:nvSpPr>
        <p:spPr>
          <a:xfrm>
            <a:off x="6263640" y="3108960"/>
            <a:ext cx="2542032" cy="566928"/>
          </a:xfrm>
          <a:prstGeom prst="rect">
            <a:avLst/>
          </a:prstGeom>
          <a:noFill/>
          <a:ln/>
        </p:spPr>
        <p:txBody>
          <a:bodyPr wrap="square" lIns="0" tIns="0" rIns="0" bIns="0" rtlCol="0" anchor="t"/>
          <a:lstStyle/>
          <a:p>
            <a:pPr marL="0" indent="0" algn="l">
              <a:buNone/>
            </a:pPr>
            <a:r>
              <a:rPr lang="en-US" sz="1050" dirty="0">
                <a:solidFill>
                  <a:srgbClr val="334155"/>
                </a:solidFill>
                <a:latin typeface="Calibri" pitchFamily="34" charset="0"/>
                <a:ea typeface="Calibri" pitchFamily="34" charset="-122"/>
                <a:cs typeface="Calibri" pitchFamily="34" charset="-120"/>
              </a:rPr>
              <a:t>Learnings live in files, not chat history — sessions start fresh but informed.</a:t>
            </a:r>
            <a:endParaRPr lang="en-US" sz="1050" dirty="0"/>
          </a:p>
        </p:txBody>
      </p:sp>
      <p:sp>
        <p:nvSpPr>
          <p:cNvPr id="27" name="Shape 21"/>
          <p:cNvSpPr/>
          <p:nvPr/>
        </p:nvSpPr>
        <p:spPr>
          <a:xfrm>
            <a:off x="457200" y="3950208"/>
            <a:ext cx="8229600" cy="841248"/>
          </a:xfrm>
          <a:prstGeom prst="roundRect">
            <a:avLst>
              <a:gd name="adj" fmla="val 9783"/>
            </a:avLst>
          </a:prstGeom>
          <a:solidFill>
            <a:srgbClr val="1E2761"/>
          </a:solidFill>
          <a:ln/>
          <a:effectLst>
            <a:outerShdw blurRad="88900" dist="25400" dir="2700000" algn="bl" rotWithShape="0">
              <a:srgbClr val="000000">
                <a:alpha val="14000"/>
              </a:srgbClr>
            </a:outerShdw>
          </a:effectLst>
        </p:spPr>
        <p:txBody>
          <a:bodyPr/>
          <a:lstStyle/>
          <a:p>
            <a:endParaRPr lang="en-US"/>
          </a:p>
        </p:txBody>
      </p:sp>
      <p:sp>
        <p:nvSpPr>
          <p:cNvPr id="28" name="Shape 22"/>
          <p:cNvSpPr/>
          <p:nvPr/>
        </p:nvSpPr>
        <p:spPr>
          <a:xfrm>
            <a:off x="685800" y="4133088"/>
            <a:ext cx="475488" cy="475488"/>
          </a:xfrm>
          <a:prstGeom prst="ellipse">
            <a:avLst/>
          </a:prstGeom>
          <a:solidFill>
            <a:srgbClr val="2EC4B6"/>
          </a:solidFill>
          <a:ln/>
        </p:spPr>
        <p:txBody>
          <a:bodyPr/>
          <a:lstStyle/>
          <a:p>
            <a:endParaRPr lang="en-US"/>
          </a:p>
        </p:txBody>
      </p:sp>
      <p:pic>
        <p:nvPicPr>
          <p:cNvPr id="29" name="Image 4" descr="preencoded.png"/>
          <p:cNvPicPr>
            <a:picLocks noChangeAspect="1"/>
          </p:cNvPicPr>
          <p:nvPr/>
        </p:nvPicPr>
        <p:blipFill>
          <a:blip r:embed="rId5"/>
          <a:stretch>
            <a:fillRect/>
          </a:stretch>
        </p:blipFill>
        <p:spPr>
          <a:xfrm>
            <a:off x="809427" y="4256715"/>
            <a:ext cx="228234" cy="228234"/>
          </a:xfrm>
          <a:prstGeom prst="rect">
            <a:avLst/>
          </a:prstGeom>
        </p:spPr>
      </p:pic>
      <p:sp>
        <p:nvSpPr>
          <p:cNvPr id="30" name="Text 23"/>
          <p:cNvSpPr/>
          <p:nvPr/>
        </p:nvSpPr>
        <p:spPr>
          <a:xfrm>
            <a:off x="1371600" y="4041648"/>
            <a:ext cx="7178040" cy="658368"/>
          </a:xfrm>
          <a:prstGeom prst="rect">
            <a:avLst/>
          </a:prstGeom>
          <a:noFill/>
          <a:ln/>
        </p:spPr>
        <p:txBody>
          <a:bodyPr wrap="square" lIns="0" tIns="0" rIns="0" bIns="0" rtlCol="0" anchor="ctr"/>
          <a:lstStyle/>
          <a:p>
            <a:pPr marL="0" indent="0" algn="l">
              <a:buNone/>
            </a:pPr>
            <a:r>
              <a:rPr lang="en-US" sz="1300" b="1" dirty="0">
                <a:solidFill>
                  <a:srgbClr val="2EC4B6"/>
                </a:solidFill>
                <a:latin typeface="Calibri" pitchFamily="34" charset="0"/>
                <a:ea typeface="Calibri" pitchFamily="34" charset="-122"/>
                <a:cs typeface="Calibri" pitchFamily="34" charset="-120"/>
              </a:rPr>
              <a:t>AGENTS.md — the orchestration authority</a:t>
            </a:r>
            <a:endParaRPr lang="en-US" sz="1300" dirty="0"/>
          </a:p>
          <a:p>
            <a:pPr marL="0" indent="0" algn="l">
              <a:buNone/>
            </a:pPr>
            <a:r>
              <a:rPr lang="en-US" sz="1100" dirty="0">
                <a:solidFill>
                  <a:srgbClr val="FFFFFF"/>
                </a:solidFill>
                <a:latin typeface="Calibri" pitchFamily="34" charset="0"/>
                <a:ea typeface="Calibri" pitchFamily="34" charset="-122"/>
                <a:cs typeface="Calibri" pitchFamily="34" charset="-120"/>
              </a:rPr>
              <a:t>One versioned file rules all delegation: AI-DLC workflow selection, product-owner-first routing, agent roles, test-gate ownership, memory protocol.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101" name="S101"/>
          <p:cNvSpPr/>
          <p:nvPr/>
        </p:nvSpPr>
        <p:spPr>
          <a:xfrm>
            <a:off x="457200" y="292100"/>
            <a:ext cx="8229600" cy="571500"/>
          </a:xfrm>
          <a:prstGeom prst="rect">
            <a:avLst/>
          </a:prstGeom>
          <a:noFill/>
          <a:ln>
            <a:noFill/>
          </a:ln>
        </p:spPr>
        <p:txBody>
          <a:bodyPr wrap="square" lIns="0" tIns="76200" rIns="0" bIns="76200" anchor="ctr"/>
          <a:lstStyle/>
          <a:p>
            <a:pPr marL="0" indent="0" algn="l">
              <a:buNone/>
            </a:pPr>
            <a:r>
              <a:rPr lang="en-US" sz="3000" b="1" i="0" dirty="0">
                <a:solidFill>
                  <a:srgbClr val="1E2761"/>
                </a:solidFill>
                <a:latin typeface="Cambria"/>
              </a:rPr>
              <a:t>Agent Teams vs. Parallel Subagents</a:t>
            </a:r>
          </a:p>
        </p:txBody>
      </p:sp>
      <p:sp>
        <p:nvSpPr>
          <p:cNvPr id="102" name="S102"/>
          <p:cNvSpPr/>
          <p:nvPr/>
        </p:nvSpPr>
        <p:spPr>
          <a:xfrm>
            <a:off x="457200" y="838200"/>
            <a:ext cx="8229600" cy="254000"/>
          </a:xfrm>
          <a:prstGeom prst="rect">
            <a:avLst/>
          </a:prstGeom>
          <a:noFill/>
          <a:ln>
            <a:noFill/>
          </a:ln>
        </p:spPr>
        <p:txBody>
          <a:bodyPr wrap="square" lIns="0" tIns="76200" rIns="0" bIns="76200" anchor="ctr"/>
          <a:lstStyle/>
          <a:p>
            <a:pPr marL="0" indent="0" algn="l">
              <a:buNone/>
            </a:pPr>
            <a:r>
              <a:rPr lang="en-US" sz="1400" b="0" i="0" dirty="0">
                <a:solidFill>
                  <a:srgbClr val="5A6485"/>
                </a:solidFill>
                <a:latin typeface="Calibri"/>
              </a:rPr>
              <a:t>Two ways to scale agentic work — one adds structure, the other adds throughput</a:t>
            </a:r>
          </a:p>
        </p:txBody>
      </p:sp>
      <p:sp>
        <p:nvSpPr>
          <p:cNvPr id="103" name="S103"/>
          <p:cNvSpPr/>
          <p:nvPr/>
        </p:nvSpPr>
        <p:spPr>
          <a:xfrm>
            <a:off x="279400" y="1219200"/>
            <a:ext cx="4013200" cy="2540000"/>
          </a:xfrm>
          <a:prstGeom prst="roundRect">
            <a:avLst>
              <a:gd name="adj" fmla="val 6000"/>
            </a:avLst>
          </a:prstGeom>
          <a:solidFill>
            <a:srgbClr val="EAF2FB"/>
          </a:solidFill>
          <a:ln>
            <a:noFill/>
          </a:ln>
        </p:spPr>
        <p:txBody>
          <a:bodyPr wrap="square" lIns="101600" tIns="76200" rIns="101600" bIns="76200" anchor="ctr"/>
          <a:lstStyle/>
          <a:p>
            <a:endParaRPr lang="en-US"/>
          </a:p>
        </p:txBody>
      </p:sp>
      <p:sp>
        <p:nvSpPr>
          <p:cNvPr id="104" name="S104"/>
          <p:cNvSpPr/>
          <p:nvPr/>
        </p:nvSpPr>
        <p:spPr>
          <a:xfrm>
            <a:off x="4851400" y="1219200"/>
            <a:ext cx="4013200" cy="2540000"/>
          </a:xfrm>
          <a:prstGeom prst="roundRect">
            <a:avLst>
              <a:gd name="adj" fmla="val 6000"/>
            </a:avLst>
          </a:prstGeom>
          <a:solidFill>
            <a:srgbClr val="F3F1FB"/>
          </a:solidFill>
          <a:ln>
            <a:noFill/>
          </a:ln>
        </p:spPr>
        <p:txBody>
          <a:bodyPr wrap="square" lIns="101600" tIns="76200" rIns="101600" bIns="76200" anchor="ctr"/>
          <a:lstStyle/>
          <a:p>
            <a:endParaRPr lang="en-US"/>
          </a:p>
        </p:txBody>
      </p:sp>
      <p:sp>
        <p:nvSpPr>
          <p:cNvPr id="105" name="S105"/>
          <p:cNvSpPr/>
          <p:nvPr/>
        </p:nvSpPr>
        <p:spPr>
          <a:xfrm>
            <a:off x="431800" y="1346200"/>
            <a:ext cx="3708400" cy="330200"/>
          </a:xfrm>
          <a:prstGeom prst="rect">
            <a:avLst/>
          </a:prstGeom>
          <a:noFill/>
          <a:ln>
            <a:noFill/>
          </a:ln>
        </p:spPr>
        <p:txBody>
          <a:bodyPr wrap="square" lIns="0" tIns="76200" rIns="0" bIns="76200" anchor="ctr"/>
          <a:lstStyle/>
          <a:p>
            <a:pPr marL="0" indent="0" algn="l">
              <a:buNone/>
            </a:pPr>
            <a:r>
              <a:rPr lang="en-US" sz="1800" b="1" i="0" dirty="0">
                <a:solidFill>
                  <a:srgbClr val="1E2761"/>
                </a:solidFill>
                <a:latin typeface="Cambria"/>
              </a:rPr>
              <a:t>Agent Teams (Experimental)</a:t>
            </a:r>
          </a:p>
        </p:txBody>
      </p:sp>
      <p:sp>
        <p:nvSpPr>
          <p:cNvPr id="106" name="S106"/>
          <p:cNvSpPr/>
          <p:nvPr/>
        </p:nvSpPr>
        <p:spPr>
          <a:xfrm>
            <a:off x="5003800" y="1346200"/>
            <a:ext cx="3708400" cy="330200"/>
          </a:xfrm>
          <a:prstGeom prst="rect">
            <a:avLst/>
          </a:prstGeom>
          <a:noFill/>
          <a:ln>
            <a:noFill/>
          </a:ln>
        </p:spPr>
        <p:txBody>
          <a:bodyPr wrap="square" lIns="0" tIns="76200" rIns="0" bIns="76200" anchor="ctr"/>
          <a:lstStyle/>
          <a:p>
            <a:pPr marL="0" indent="0" algn="l">
              <a:buNone/>
            </a:pPr>
            <a:r>
              <a:rPr lang="en-US" sz="1800" b="1" i="0" dirty="0">
                <a:solidFill>
                  <a:srgbClr val="4A3B8C"/>
                </a:solidFill>
                <a:latin typeface="Cambria"/>
              </a:rPr>
              <a:t>Parallel Subagents</a:t>
            </a:r>
          </a:p>
        </p:txBody>
      </p:sp>
      <p:sp>
        <p:nvSpPr>
          <p:cNvPr id="107" name="S107"/>
          <p:cNvSpPr/>
          <p:nvPr/>
        </p:nvSpPr>
        <p:spPr>
          <a:xfrm>
            <a:off x="431800" y="1701800"/>
            <a:ext cx="762000" cy="38100"/>
          </a:xfrm>
          <a:prstGeom prst="rect">
            <a:avLst/>
          </a:prstGeom>
          <a:solidFill>
            <a:srgbClr val="2BB6A3"/>
          </a:solidFill>
          <a:ln>
            <a:noFill/>
          </a:ln>
        </p:spPr>
        <p:txBody>
          <a:bodyPr wrap="square" lIns="101600" tIns="76200" rIns="101600" bIns="76200" anchor="ctr"/>
          <a:lstStyle/>
          <a:p>
            <a:endParaRPr lang="en-US"/>
          </a:p>
        </p:txBody>
      </p:sp>
      <p:sp>
        <p:nvSpPr>
          <p:cNvPr id="108" name="S108"/>
          <p:cNvSpPr/>
          <p:nvPr/>
        </p:nvSpPr>
        <p:spPr>
          <a:xfrm>
            <a:off x="5003800" y="1701800"/>
            <a:ext cx="762000" cy="38100"/>
          </a:xfrm>
          <a:prstGeom prst="rect">
            <a:avLst/>
          </a:prstGeom>
          <a:solidFill>
            <a:srgbClr val="7C6BD1"/>
          </a:solidFill>
          <a:ln>
            <a:noFill/>
          </a:ln>
        </p:spPr>
        <p:txBody>
          <a:bodyPr wrap="square" lIns="101600" tIns="76200" rIns="101600" bIns="76200" anchor="ctr"/>
          <a:lstStyle/>
          <a:p>
            <a:endParaRPr lang="en-US"/>
          </a:p>
        </p:txBody>
      </p:sp>
      <p:sp>
        <p:nvSpPr>
          <p:cNvPr id="109" name="S109"/>
          <p:cNvSpPr/>
          <p:nvPr/>
        </p:nvSpPr>
        <p:spPr>
          <a:xfrm>
            <a:off x="431800" y="1854200"/>
            <a:ext cx="1016000" cy="431800"/>
          </a:xfrm>
          <a:prstGeom prst="rect">
            <a:avLst/>
          </a:prstGeom>
          <a:noFill/>
          <a:ln>
            <a:noFill/>
          </a:ln>
        </p:spPr>
        <p:txBody>
          <a:bodyPr wrap="square" lIns="0" tIns="76200" rIns="0" bIns="76200" anchor="t"/>
          <a:lstStyle/>
          <a:p>
            <a:pPr marL="0" indent="0" algn="l">
              <a:buNone/>
            </a:pPr>
            <a:r>
              <a:rPr lang="en-US" sz="1200" b="1" i="0" dirty="0">
                <a:solidFill>
                  <a:srgbClr val="5A6485"/>
                </a:solidFill>
                <a:latin typeface="Calibri"/>
              </a:rPr>
              <a:t>Structure</a:t>
            </a:r>
          </a:p>
        </p:txBody>
      </p:sp>
      <p:sp>
        <p:nvSpPr>
          <p:cNvPr id="110" name="S110"/>
          <p:cNvSpPr/>
          <p:nvPr/>
        </p:nvSpPr>
        <p:spPr>
          <a:xfrm>
            <a:off x="1498600" y="1854200"/>
            <a:ext cx="2641600" cy="431800"/>
          </a:xfrm>
          <a:prstGeom prst="rect">
            <a:avLst/>
          </a:prstGeom>
          <a:noFill/>
          <a:ln>
            <a:noFill/>
          </a:ln>
        </p:spPr>
        <p:txBody>
          <a:bodyPr wrap="square" lIns="0" tIns="76200" rIns="0" bIns="76200" anchor="t"/>
          <a:lstStyle/>
          <a:p>
            <a:pPr marL="0" indent="0" algn="l">
              <a:buNone/>
            </a:pPr>
            <a:r>
              <a:rPr lang="en-US" sz="1300" b="0" i="0" dirty="0">
                <a:solidFill>
                  <a:srgbClr val="1E2761"/>
                </a:solidFill>
                <a:latin typeface="Calibri"/>
              </a:rPr>
              <a:t>Named roles with persistent identity</a:t>
            </a:r>
          </a:p>
        </p:txBody>
      </p:sp>
      <p:sp>
        <p:nvSpPr>
          <p:cNvPr id="111" name="S111"/>
          <p:cNvSpPr/>
          <p:nvPr/>
        </p:nvSpPr>
        <p:spPr>
          <a:xfrm>
            <a:off x="5003800" y="1854200"/>
            <a:ext cx="1016000" cy="431800"/>
          </a:xfrm>
          <a:prstGeom prst="rect">
            <a:avLst/>
          </a:prstGeom>
          <a:noFill/>
          <a:ln>
            <a:noFill/>
          </a:ln>
        </p:spPr>
        <p:txBody>
          <a:bodyPr wrap="square" lIns="0" tIns="76200" rIns="0" bIns="76200" anchor="t"/>
          <a:lstStyle/>
          <a:p>
            <a:pPr marL="0" indent="0" algn="l">
              <a:buNone/>
            </a:pPr>
            <a:r>
              <a:rPr lang="en-US" sz="1200" b="1" i="0" dirty="0">
                <a:solidFill>
                  <a:srgbClr val="5A6485"/>
                </a:solidFill>
                <a:latin typeface="Calibri"/>
              </a:rPr>
              <a:t>Structure</a:t>
            </a:r>
          </a:p>
        </p:txBody>
      </p:sp>
      <p:sp>
        <p:nvSpPr>
          <p:cNvPr id="112" name="S112"/>
          <p:cNvSpPr/>
          <p:nvPr/>
        </p:nvSpPr>
        <p:spPr>
          <a:xfrm>
            <a:off x="6070600" y="1854200"/>
            <a:ext cx="2641600" cy="431800"/>
          </a:xfrm>
          <a:prstGeom prst="rect">
            <a:avLst/>
          </a:prstGeom>
          <a:noFill/>
          <a:ln>
            <a:noFill/>
          </a:ln>
        </p:spPr>
        <p:txBody>
          <a:bodyPr wrap="square" lIns="0" tIns="76200" rIns="0" bIns="76200" anchor="t"/>
          <a:lstStyle/>
          <a:p>
            <a:pPr marL="0" indent="0" algn="l">
              <a:buNone/>
            </a:pPr>
            <a:r>
              <a:rPr lang="en-US" sz="1300" b="0" i="0" dirty="0">
                <a:solidFill>
                  <a:srgbClr val="1E2761"/>
                </a:solidFill>
                <a:latin typeface="Calibri"/>
              </a:rPr>
              <a:t>Anonymous workers spawned on demand</a:t>
            </a:r>
          </a:p>
        </p:txBody>
      </p:sp>
      <p:sp>
        <p:nvSpPr>
          <p:cNvPr id="113" name="S113"/>
          <p:cNvSpPr/>
          <p:nvPr/>
        </p:nvSpPr>
        <p:spPr>
          <a:xfrm>
            <a:off x="431800" y="2260600"/>
            <a:ext cx="1016000" cy="431800"/>
          </a:xfrm>
          <a:prstGeom prst="rect">
            <a:avLst/>
          </a:prstGeom>
          <a:noFill/>
          <a:ln>
            <a:noFill/>
          </a:ln>
        </p:spPr>
        <p:txBody>
          <a:bodyPr wrap="square" lIns="0" tIns="76200" rIns="0" bIns="76200" anchor="t"/>
          <a:lstStyle/>
          <a:p>
            <a:pPr marL="0" indent="0" algn="l">
              <a:buNone/>
            </a:pPr>
            <a:r>
              <a:rPr lang="en-US" sz="1200" b="1" i="0" dirty="0">
                <a:solidFill>
                  <a:srgbClr val="5A6485"/>
                </a:solidFill>
                <a:latin typeface="Calibri"/>
              </a:rPr>
              <a:t>Coordination</a:t>
            </a:r>
          </a:p>
        </p:txBody>
      </p:sp>
      <p:sp>
        <p:nvSpPr>
          <p:cNvPr id="114" name="S114"/>
          <p:cNvSpPr/>
          <p:nvPr/>
        </p:nvSpPr>
        <p:spPr>
          <a:xfrm>
            <a:off x="1498600" y="2260600"/>
            <a:ext cx="2641600" cy="431800"/>
          </a:xfrm>
          <a:prstGeom prst="rect">
            <a:avLst/>
          </a:prstGeom>
          <a:noFill/>
          <a:ln>
            <a:noFill/>
          </a:ln>
        </p:spPr>
        <p:txBody>
          <a:bodyPr wrap="square" lIns="0" tIns="76200" rIns="0" bIns="76200" anchor="t"/>
          <a:lstStyle/>
          <a:p>
            <a:pPr marL="0" indent="0" algn="l">
              <a:buNone/>
            </a:pPr>
            <a:r>
              <a:rPr lang="en-US" sz="1300" b="0" i="0" dirty="0">
                <a:solidFill>
                  <a:srgbClr val="1E2761"/>
                </a:solidFill>
                <a:latin typeface="Calibri"/>
              </a:rPr>
              <a:t>Agents hand off artifacts to each other</a:t>
            </a:r>
          </a:p>
        </p:txBody>
      </p:sp>
      <p:sp>
        <p:nvSpPr>
          <p:cNvPr id="115" name="S115"/>
          <p:cNvSpPr/>
          <p:nvPr/>
        </p:nvSpPr>
        <p:spPr>
          <a:xfrm>
            <a:off x="5003800" y="2260600"/>
            <a:ext cx="1016000" cy="431800"/>
          </a:xfrm>
          <a:prstGeom prst="rect">
            <a:avLst/>
          </a:prstGeom>
          <a:noFill/>
          <a:ln>
            <a:noFill/>
          </a:ln>
        </p:spPr>
        <p:txBody>
          <a:bodyPr wrap="square" lIns="0" tIns="76200" rIns="0" bIns="76200" anchor="t"/>
          <a:lstStyle/>
          <a:p>
            <a:pPr marL="0" indent="0" algn="l">
              <a:buNone/>
            </a:pPr>
            <a:r>
              <a:rPr lang="en-US" sz="1200" b="1" i="0" dirty="0">
                <a:solidFill>
                  <a:srgbClr val="5A6485"/>
                </a:solidFill>
                <a:latin typeface="Calibri"/>
              </a:rPr>
              <a:t>Coordination</a:t>
            </a:r>
          </a:p>
        </p:txBody>
      </p:sp>
      <p:sp>
        <p:nvSpPr>
          <p:cNvPr id="116" name="S116"/>
          <p:cNvSpPr/>
          <p:nvPr/>
        </p:nvSpPr>
        <p:spPr>
          <a:xfrm>
            <a:off x="6070600" y="2260600"/>
            <a:ext cx="2641600" cy="431800"/>
          </a:xfrm>
          <a:prstGeom prst="rect">
            <a:avLst/>
          </a:prstGeom>
          <a:noFill/>
          <a:ln>
            <a:noFill/>
          </a:ln>
        </p:spPr>
        <p:txBody>
          <a:bodyPr wrap="square" lIns="0" tIns="76200" rIns="0" bIns="76200" anchor="t"/>
          <a:lstStyle/>
          <a:p>
            <a:pPr marL="0" indent="0" algn="l">
              <a:buNone/>
            </a:pPr>
            <a:r>
              <a:rPr lang="en-US" sz="1300" b="0" i="0" dirty="0">
                <a:solidFill>
                  <a:srgbClr val="1E2761"/>
                </a:solidFill>
                <a:latin typeface="Calibri"/>
              </a:rPr>
              <a:t>Orchestrator fans out, then merges results</a:t>
            </a:r>
          </a:p>
        </p:txBody>
      </p:sp>
      <p:sp>
        <p:nvSpPr>
          <p:cNvPr id="117" name="S117"/>
          <p:cNvSpPr/>
          <p:nvPr/>
        </p:nvSpPr>
        <p:spPr>
          <a:xfrm>
            <a:off x="431800" y="2692400"/>
            <a:ext cx="1016000" cy="431800"/>
          </a:xfrm>
          <a:prstGeom prst="rect">
            <a:avLst/>
          </a:prstGeom>
          <a:noFill/>
          <a:ln>
            <a:noFill/>
          </a:ln>
        </p:spPr>
        <p:txBody>
          <a:bodyPr wrap="square" lIns="0" tIns="76200" rIns="0" bIns="76200" anchor="t"/>
          <a:lstStyle/>
          <a:p>
            <a:pPr marL="0" indent="0" algn="l">
              <a:buNone/>
            </a:pPr>
            <a:r>
              <a:rPr lang="en-US" sz="1200" b="1" i="0" dirty="0">
                <a:solidFill>
                  <a:srgbClr val="5A6485"/>
                </a:solidFill>
                <a:latin typeface="Calibri"/>
              </a:rPr>
              <a:t>State</a:t>
            </a:r>
          </a:p>
        </p:txBody>
      </p:sp>
      <p:sp>
        <p:nvSpPr>
          <p:cNvPr id="118" name="S118"/>
          <p:cNvSpPr/>
          <p:nvPr/>
        </p:nvSpPr>
        <p:spPr>
          <a:xfrm>
            <a:off x="1498600" y="2692400"/>
            <a:ext cx="2641600" cy="431800"/>
          </a:xfrm>
          <a:prstGeom prst="rect">
            <a:avLst/>
          </a:prstGeom>
          <a:noFill/>
          <a:ln>
            <a:noFill/>
          </a:ln>
        </p:spPr>
        <p:txBody>
          <a:bodyPr wrap="square" lIns="0" tIns="76200" rIns="0" bIns="76200" anchor="t"/>
          <a:lstStyle/>
          <a:p>
            <a:pPr marL="0" indent="0" algn="l">
              <a:buNone/>
            </a:pPr>
            <a:r>
              <a:rPr lang="en-US" sz="1300" b="0" i="0" dirty="0">
                <a:solidFill>
                  <a:srgbClr val="1E2761"/>
                </a:solidFill>
                <a:latin typeface="Calibri"/>
              </a:rPr>
              <a:t>Shared, durable context across the run</a:t>
            </a:r>
          </a:p>
        </p:txBody>
      </p:sp>
      <p:sp>
        <p:nvSpPr>
          <p:cNvPr id="119" name="S119"/>
          <p:cNvSpPr/>
          <p:nvPr/>
        </p:nvSpPr>
        <p:spPr>
          <a:xfrm>
            <a:off x="5003800" y="2692400"/>
            <a:ext cx="1016000" cy="431800"/>
          </a:xfrm>
          <a:prstGeom prst="rect">
            <a:avLst/>
          </a:prstGeom>
          <a:noFill/>
          <a:ln>
            <a:noFill/>
          </a:ln>
        </p:spPr>
        <p:txBody>
          <a:bodyPr wrap="square" lIns="0" tIns="76200" rIns="0" bIns="76200" anchor="t"/>
          <a:lstStyle/>
          <a:p>
            <a:pPr marL="0" indent="0" algn="l">
              <a:buNone/>
            </a:pPr>
            <a:r>
              <a:rPr lang="en-US" sz="1200" b="1" i="0" dirty="0">
                <a:solidFill>
                  <a:srgbClr val="5A6485"/>
                </a:solidFill>
                <a:latin typeface="Calibri"/>
              </a:rPr>
              <a:t>State</a:t>
            </a:r>
          </a:p>
        </p:txBody>
      </p:sp>
      <p:sp>
        <p:nvSpPr>
          <p:cNvPr id="120" name="S120"/>
          <p:cNvSpPr/>
          <p:nvPr/>
        </p:nvSpPr>
        <p:spPr>
          <a:xfrm>
            <a:off x="6070600" y="2692400"/>
            <a:ext cx="2641600" cy="431800"/>
          </a:xfrm>
          <a:prstGeom prst="rect">
            <a:avLst/>
          </a:prstGeom>
          <a:noFill/>
          <a:ln>
            <a:noFill/>
          </a:ln>
        </p:spPr>
        <p:txBody>
          <a:bodyPr wrap="square" lIns="0" tIns="76200" rIns="0" bIns="76200" anchor="t"/>
          <a:lstStyle/>
          <a:p>
            <a:pPr marL="0" indent="0" algn="l">
              <a:buNone/>
            </a:pPr>
            <a:r>
              <a:rPr lang="en-US" sz="1300" b="0" i="0" dirty="0">
                <a:solidFill>
                  <a:srgbClr val="1E2761"/>
                </a:solidFill>
                <a:latin typeface="Calibri"/>
              </a:rPr>
              <a:t>Isolated context per subagent</a:t>
            </a:r>
          </a:p>
        </p:txBody>
      </p:sp>
      <p:sp>
        <p:nvSpPr>
          <p:cNvPr id="121" name="S121"/>
          <p:cNvSpPr/>
          <p:nvPr/>
        </p:nvSpPr>
        <p:spPr>
          <a:xfrm>
            <a:off x="431800" y="3124200"/>
            <a:ext cx="1016000" cy="431800"/>
          </a:xfrm>
          <a:prstGeom prst="rect">
            <a:avLst/>
          </a:prstGeom>
          <a:noFill/>
          <a:ln>
            <a:noFill/>
          </a:ln>
        </p:spPr>
        <p:txBody>
          <a:bodyPr wrap="square" lIns="0" tIns="76200" rIns="0" bIns="76200" anchor="t"/>
          <a:lstStyle/>
          <a:p>
            <a:pPr marL="0" indent="0" algn="l">
              <a:buNone/>
            </a:pPr>
            <a:r>
              <a:rPr lang="en-US" sz="1200" b="1" i="0" dirty="0">
                <a:solidFill>
                  <a:srgbClr val="5A6485"/>
                </a:solidFill>
                <a:latin typeface="Calibri"/>
              </a:rPr>
              <a:t>Best for</a:t>
            </a:r>
          </a:p>
        </p:txBody>
      </p:sp>
      <p:sp>
        <p:nvSpPr>
          <p:cNvPr id="122" name="S122"/>
          <p:cNvSpPr/>
          <p:nvPr/>
        </p:nvSpPr>
        <p:spPr>
          <a:xfrm>
            <a:off x="1498600" y="3124200"/>
            <a:ext cx="2641600" cy="431800"/>
          </a:xfrm>
          <a:prstGeom prst="rect">
            <a:avLst/>
          </a:prstGeom>
          <a:noFill/>
          <a:ln>
            <a:noFill/>
          </a:ln>
        </p:spPr>
        <p:txBody>
          <a:bodyPr wrap="square" lIns="0" tIns="76200" rIns="0" bIns="76200" anchor="t"/>
          <a:lstStyle/>
          <a:p>
            <a:pPr marL="0" indent="0" algn="l">
              <a:buNone/>
            </a:pPr>
            <a:r>
              <a:rPr lang="en-US" sz="1300" b="0" i="0" dirty="0">
                <a:solidFill>
                  <a:srgbClr val="1E2761"/>
                </a:solidFill>
                <a:latin typeface="Calibri"/>
              </a:rPr>
              <a:t>Multi-stage delivery: spec to code to review</a:t>
            </a:r>
          </a:p>
        </p:txBody>
      </p:sp>
      <p:sp>
        <p:nvSpPr>
          <p:cNvPr id="123" name="S123"/>
          <p:cNvSpPr/>
          <p:nvPr/>
        </p:nvSpPr>
        <p:spPr>
          <a:xfrm>
            <a:off x="5003800" y="3124200"/>
            <a:ext cx="1016000" cy="431800"/>
          </a:xfrm>
          <a:prstGeom prst="rect">
            <a:avLst/>
          </a:prstGeom>
          <a:noFill/>
          <a:ln>
            <a:noFill/>
          </a:ln>
        </p:spPr>
        <p:txBody>
          <a:bodyPr wrap="square" lIns="0" tIns="76200" rIns="0" bIns="76200" anchor="t"/>
          <a:lstStyle/>
          <a:p>
            <a:pPr marL="0" indent="0" algn="l">
              <a:buNone/>
            </a:pPr>
            <a:r>
              <a:rPr lang="en-US" sz="1200" b="1" i="0" dirty="0">
                <a:solidFill>
                  <a:srgbClr val="5A6485"/>
                </a:solidFill>
                <a:latin typeface="Calibri"/>
              </a:rPr>
              <a:t>Best for</a:t>
            </a:r>
          </a:p>
        </p:txBody>
      </p:sp>
      <p:sp>
        <p:nvSpPr>
          <p:cNvPr id="124" name="S124"/>
          <p:cNvSpPr/>
          <p:nvPr/>
        </p:nvSpPr>
        <p:spPr>
          <a:xfrm>
            <a:off x="6070600" y="3124200"/>
            <a:ext cx="2641600" cy="431800"/>
          </a:xfrm>
          <a:prstGeom prst="rect">
            <a:avLst/>
          </a:prstGeom>
          <a:noFill/>
          <a:ln>
            <a:noFill/>
          </a:ln>
        </p:spPr>
        <p:txBody>
          <a:bodyPr wrap="square" lIns="0" tIns="76200" rIns="0" bIns="76200" anchor="t"/>
          <a:lstStyle/>
          <a:p>
            <a:pPr marL="0" indent="0" algn="l">
              <a:buNone/>
            </a:pPr>
            <a:r>
              <a:rPr lang="en-US" sz="1300" b="0" i="0" dirty="0">
                <a:solidFill>
                  <a:srgbClr val="1E2761"/>
                </a:solidFill>
                <a:latin typeface="Calibri"/>
              </a:rPr>
              <a:t>Wide, independent tasks: research, critique, scans</a:t>
            </a:r>
          </a:p>
        </p:txBody>
      </p:sp>
      <p:sp>
        <p:nvSpPr>
          <p:cNvPr id="125" name="S125"/>
          <p:cNvSpPr/>
          <p:nvPr/>
        </p:nvSpPr>
        <p:spPr>
          <a:xfrm>
            <a:off x="279400" y="3937000"/>
            <a:ext cx="8585200" cy="965200"/>
          </a:xfrm>
          <a:prstGeom prst="roundRect">
            <a:avLst>
              <a:gd name="adj" fmla="val 8000"/>
            </a:avLst>
          </a:prstGeom>
          <a:solidFill>
            <a:srgbClr val="1E2761"/>
          </a:solidFill>
          <a:ln>
            <a:noFill/>
          </a:ln>
        </p:spPr>
        <p:txBody>
          <a:bodyPr wrap="square" lIns="101600" tIns="76200" rIns="101600" bIns="76200" anchor="ctr"/>
          <a:lstStyle/>
          <a:p>
            <a:endParaRPr lang="en-US"/>
          </a:p>
        </p:txBody>
      </p:sp>
      <p:sp>
        <p:nvSpPr>
          <p:cNvPr id="126" name="S126"/>
          <p:cNvSpPr/>
          <p:nvPr/>
        </p:nvSpPr>
        <p:spPr>
          <a:xfrm>
            <a:off x="533400" y="4064000"/>
            <a:ext cx="330200" cy="330200"/>
          </a:xfrm>
          <a:prstGeom prst="ellipse">
            <a:avLst/>
          </a:prstGeom>
          <a:solidFill>
            <a:srgbClr val="2BB6A3"/>
          </a:solidFill>
          <a:ln>
            <a:noFill/>
          </a:ln>
        </p:spPr>
        <p:txBody>
          <a:bodyPr wrap="square" lIns="101600" tIns="76200" rIns="101600" bIns="76200" anchor="ctr"/>
          <a:lstStyle/>
          <a:p>
            <a:endParaRPr lang="en-US"/>
          </a:p>
        </p:txBody>
      </p:sp>
      <p:sp>
        <p:nvSpPr>
          <p:cNvPr id="127" name="S127"/>
          <p:cNvSpPr/>
          <p:nvPr/>
        </p:nvSpPr>
        <p:spPr>
          <a:xfrm>
            <a:off x="1016000" y="4038600"/>
            <a:ext cx="7620000" cy="254000"/>
          </a:xfrm>
          <a:prstGeom prst="rect">
            <a:avLst/>
          </a:prstGeom>
          <a:noFill/>
          <a:ln>
            <a:noFill/>
          </a:ln>
        </p:spPr>
        <p:txBody>
          <a:bodyPr wrap="square" lIns="0" tIns="76200" rIns="0" bIns="76200" anchor="ctr"/>
          <a:lstStyle/>
          <a:p>
            <a:pPr marL="0" indent="0" algn="l">
              <a:buNone/>
            </a:pPr>
            <a:r>
              <a:rPr lang="en-US" sz="1500" b="1" i="0" dirty="0">
                <a:solidFill>
                  <a:srgbClr val="FFFFFF"/>
                </a:solidFill>
                <a:latin typeface="Cambria"/>
              </a:rPr>
              <a:t>They compose, not compete</a:t>
            </a:r>
          </a:p>
        </p:txBody>
      </p:sp>
      <p:sp>
        <p:nvSpPr>
          <p:cNvPr id="128" name="S128"/>
          <p:cNvSpPr/>
          <p:nvPr/>
        </p:nvSpPr>
        <p:spPr>
          <a:xfrm>
            <a:off x="1016000" y="4318000"/>
            <a:ext cx="7620000" cy="508000"/>
          </a:xfrm>
          <a:prstGeom prst="rect">
            <a:avLst/>
          </a:prstGeom>
          <a:noFill/>
          <a:ln>
            <a:noFill/>
          </a:ln>
        </p:spPr>
        <p:txBody>
          <a:bodyPr wrap="square" lIns="0" tIns="76200" rIns="0" bIns="76200" anchor="t"/>
          <a:lstStyle/>
          <a:p>
            <a:pPr marL="0" indent="0" algn="l">
              <a:buNone/>
            </a:pPr>
            <a:r>
              <a:rPr lang="en-US" sz="1300" b="0" i="0" dirty="0">
                <a:solidFill>
                  <a:srgbClr val="C9D3EA"/>
                </a:solidFill>
                <a:latin typeface="Calibri"/>
              </a:rPr>
              <a:t>Use an Agent Team for the delivery spine — architect, engineer, reviewer. Fan out parallel subagents inside any single step where the work splits cleanly and results can be merged.</a:t>
            </a:r>
          </a:p>
        </p:txBody>
      </p:sp>
    </p:spTree>
    <p:extLst>
      <p:ext uri="{BB962C8B-B14F-4D97-AF65-F5344CB8AC3E}">
        <p14:creationId xmlns:p14="http://schemas.microsoft.com/office/powerpoint/2010/main" val="25957394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Not One Loop — Eight Named Lifecycles</a:t>
            </a:r>
            <a:endParaRPr lang="en-US" sz="3000" dirty="0"/>
          </a:p>
        </p:txBody>
      </p:sp>
      <p:sp>
        <p:nvSpPr>
          <p:cNvPr id="3" name="Card 1"/>
          <p:cNvSpPr/>
          <p:nvPr/>
        </p:nvSpPr>
        <p:spPr>
          <a:xfrm>
            <a:off x="457200" y="914400"/>
            <a:ext cx="4023360" cy="749300"/>
          </a:xfrm>
          <a:prstGeom prst="roundRect">
            <a:avLst>
              <a:gd name="adj" fmla="val 6364"/>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4" name="Badge 1"/>
          <p:cNvSpPr/>
          <p:nvPr/>
        </p:nvSpPr>
        <p:spPr>
          <a:xfrm>
            <a:off x="594360" y="1151890"/>
            <a:ext cx="274320" cy="274320"/>
          </a:xfrm>
          <a:prstGeom prst="ellipse">
            <a:avLst/>
          </a:prstGeom>
          <a:solidFill>
            <a:srgbClr val="1E2761"/>
          </a:solidFill>
          <a:ln/>
        </p:spPr>
        <p:txBody>
          <a:bodyPr/>
          <a:lstStyle/>
          <a:p>
            <a:endParaRPr lang="en-US"/>
          </a:p>
        </p:txBody>
      </p:sp>
      <p:sp>
        <p:nvSpPr>
          <p:cNvPr id="5" name="BadgeText 1"/>
          <p:cNvSpPr/>
          <p:nvPr/>
        </p:nvSpPr>
        <p:spPr>
          <a:xfrm>
            <a:off x="594360" y="115189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Body 1"/>
          <p:cNvSpPr/>
          <p:nvPr/>
        </p:nvSpPr>
        <p:spPr>
          <a:xfrm>
            <a:off x="1005840" y="974400"/>
            <a:ext cx="3337560" cy="629300"/>
          </a:xfrm>
          <a:prstGeom prst="rect">
            <a:avLst/>
          </a:prstGeom>
          <a:noFill/>
          <a:ln/>
        </p:spPr>
        <p:txBody>
          <a:bodyPr wrap="square" lIns="0" tIns="0" rIns="0" bIns="0" rtlCol="0" anchor="ctr"/>
          <a:lstStyle/>
          <a:p>
            <a:pPr marL="0" indent="0" algn="l">
              <a:buNone/>
            </a:pPr>
            <a:r>
              <a:rPr lang="en-US" sz="1000" b="1" dirty="0">
                <a:solidFill>
                  <a:srgbClr val="1E2761"/>
                </a:solidFill>
                <a:latin typeface="Calibri" pitchFamily="34" charset="0"/>
                <a:ea typeface="Calibri" pitchFamily="34" charset="-122"/>
                <a:cs typeface="Calibri" pitchFamily="34" charset="-120"/>
              </a:rPr>
              <a:t>PDLC · Product Design</a:t>
            </a:r>
            <a:r>
              <a:rPr lang="en-US" sz="800" i="1" dirty="0">
                <a:solidFill>
                  <a:srgbClr val="64748B"/>
                </a:solidFill>
                <a:latin typeface="Calibri" pitchFamily="34" charset="0"/>
                <a:ea typeface="Calibri" pitchFamily="34" charset="-122"/>
                <a:cs typeface="Calibri" pitchFamily="34" charset="-120"/>
              </a:rPr>
              <a:t>   PO                                                               </a:t>
            </a:r>
          </a:p>
          <a:p>
            <a:pPr marL="0" indent="0" algn="l">
              <a:buNone/>
            </a:pPr>
            <a:r>
              <a:rPr lang="en-US" sz="800" i="1" dirty="0">
                <a:solidFill>
                  <a:srgbClr val="64748B"/>
                </a:solidFill>
                <a:latin typeface="Calibri" pitchFamily="34" charset="0"/>
                <a:ea typeface="Calibri" pitchFamily="34" charset="-122"/>
                <a:cs typeface="Calibri" pitchFamily="34" charset="-120"/>
              </a:rPr>
              <a:t>DW ↔ BC</a:t>
            </a:r>
            <a:endParaRPr lang="en-US" sz="1000" dirty="0"/>
          </a:p>
          <a:p>
            <a:pPr marL="0" indent="0" algn="l">
              <a:buNone/>
            </a:pPr>
            <a:r>
              <a:rPr lang="en-US" sz="850" dirty="0">
                <a:solidFill>
                  <a:srgbClr val="334155"/>
                </a:solidFill>
                <a:latin typeface="Calibri" pitchFamily="34" charset="0"/>
                <a:ea typeface="Calibri" pitchFamily="34" charset="-122"/>
                <a:cs typeface="Calibri" pitchFamily="34" charset="-120"/>
              </a:rPr>
              <a:t>Vague idea → features, use-case diagrams, stories with numbered acceptance criteria.</a:t>
            </a:r>
            <a:endParaRPr lang="en-US" sz="850" dirty="0"/>
          </a:p>
        </p:txBody>
      </p:sp>
      <p:sp>
        <p:nvSpPr>
          <p:cNvPr id="7" name="Card 2"/>
          <p:cNvSpPr/>
          <p:nvPr/>
        </p:nvSpPr>
        <p:spPr>
          <a:xfrm>
            <a:off x="457200" y="1790700"/>
            <a:ext cx="4023360" cy="749300"/>
          </a:xfrm>
          <a:prstGeom prst="roundRect">
            <a:avLst>
              <a:gd name="adj" fmla="val 6364"/>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8" name="Badge 2"/>
          <p:cNvSpPr/>
          <p:nvPr/>
        </p:nvSpPr>
        <p:spPr>
          <a:xfrm>
            <a:off x="594360" y="2028190"/>
            <a:ext cx="274320" cy="274320"/>
          </a:xfrm>
          <a:prstGeom prst="ellipse">
            <a:avLst/>
          </a:prstGeom>
          <a:solidFill>
            <a:srgbClr val="1E2761"/>
          </a:solidFill>
          <a:ln/>
        </p:spPr>
        <p:txBody>
          <a:bodyPr/>
          <a:lstStyle/>
          <a:p>
            <a:endParaRPr lang="en-US"/>
          </a:p>
        </p:txBody>
      </p:sp>
      <p:sp>
        <p:nvSpPr>
          <p:cNvPr id="9" name="BadgeText 2"/>
          <p:cNvSpPr/>
          <p:nvPr/>
        </p:nvSpPr>
        <p:spPr>
          <a:xfrm>
            <a:off x="594360" y="202819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Body 2"/>
          <p:cNvSpPr/>
          <p:nvPr/>
        </p:nvSpPr>
        <p:spPr>
          <a:xfrm>
            <a:off x="1005840" y="1850700"/>
            <a:ext cx="3337560" cy="629300"/>
          </a:xfrm>
          <a:prstGeom prst="rect">
            <a:avLst/>
          </a:prstGeom>
          <a:noFill/>
          <a:ln/>
        </p:spPr>
        <p:txBody>
          <a:bodyPr wrap="square" lIns="0" tIns="0" rIns="0" bIns="0" rtlCol="0" anchor="ctr"/>
          <a:lstStyle/>
          <a:p>
            <a:r>
              <a:rPr lang="en-US" sz="1000" b="1" dirty="0">
                <a:solidFill>
                  <a:srgbClr val="1E2761"/>
                </a:solidFill>
                <a:latin typeface="Calibri" pitchFamily="34" charset="0"/>
                <a:ea typeface="Calibri" pitchFamily="34" charset="-122"/>
                <a:cs typeface="Calibri" pitchFamily="34" charset="-120"/>
              </a:rPr>
              <a:t>ASDLC · Architecture &amp; Design</a:t>
            </a:r>
            <a:r>
              <a:rPr lang="en-US" sz="800" i="1" dirty="0">
                <a:solidFill>
                  <a:srgbClr val="64748B"/>
                </a:solidFill>
                <a:latin typeface="Calibri" pitchFamily="34" charset="0"/>
                <a:ea typeface="Calibri" pitchFamily="34" charset="-122"/>
                <a:cs typeface="Calibri" pitchFamily="34" charset="-120"/>
              </a:rPr>
              <a:t>   PO ↔ SA ↔ SDE </a:t>
            </a:r>
            <a:r>
              <a:rPr lang="en-US" sz="800" i="1" dirty="0">
                <a:latin typeface="+mj-lt"/>
              </a:rPr>
              <a:t>↔ RA</a:t>
            </a:r>
            <a:r>
              <a:rPr lang="en-US" sz="800" i="1" dirty="0">
                <a:solidFill>
                  <a:srgbClr val="64748B"/>
                </a:solidFill>
                <a:latin typeface="+mj-lt"/>
                <a:ea typeface="Calibri" pitchFamily="34" charset="-122"/>
                <a:cs typeface="Calibri" pitchFamily="34" charset="-120"/>
              </a:rPr>
              <a:t> </a:t>
            </a:r>
            <a:r>
              <a:rPr lang="en-US" sz="800" i="1" dirty="0">
                <a:solidFill>
                  <a:srgbClr val="64748B"/>
                </a:solidFill>
                <a:latin typeface="Calibri" pitchFamily="34" charset="0"/>
                <a:ea typeface="Calibri" pitchFamily="34" charset="-122"/>
                <a:cs typeface="Calibri" pitchFamily="34" charset="-120"/>
              </a:rPr>
              <a:t>    </a:t>
            </a:r>
          </a:p>
          <a:p>
            <a:r>
              <a:rPr lang="en-US" sz="800" i="1" dirty="0">
                <a:solidFill>
                  <a:srgbClr val="64748B"/>
                </a:solidFill>
                <a:latin typeface="Calibri" pitchFamily="34" charset="0"/>
                <a:ea typeface="Calibri" pitchFamily="34" charset="-122"/>
                <a:cs typeface="Calibri" pitchFamily="34" charset="-120"/>
              </a:rPr>
              <a:t>DW ↔ BC</a:t>
            </a:r>
            <a:endParaRPr lang="en-US" sz="1000" dirty="0"/>
          </a:p>
          <a:p>
            <a:pPr marL="0" indent="0" algn="l">
              <a:buNone/>
            </a:pPr>
            <a:r>
              <a:rPr lang="en-US" sz="850" dirty="0">
                <a:solidFill>
                  <a:srgbClr val="334155"/>
                </a:solidFill>
                <a:latin typeface="Calibri" pitchFamily="34" charset="0"/>
                <a:ea typeface="Calibri" pitchFamily="34" charset="-122"/>
                <a:cs typeface="Calibri" pitchFamily="34" charset="-120"/>
              </a:rPr>
              <a:t>ADRs plus a frozen spec.md per story, co-owned by architect and system engineer.</a:t>
            </a:r>
            <a:endParaRPr lang="en-US" sz="850" dirty="0"/>
          </a:p>
        </p:txBody>
      </p:sp>
      <p:sp>
        <p:nvSpPr>
          <p:cNvPr id="11" name="Card 3"/>
          <p:cNvSpPr/>
          <p:nvPr/>
        </p:nvSpPr>
        <p:spPr>
          <a:xfrm>
            <a:off x="457200" y="2667000"/>
            <a:ext cx="4023360" cy="749300"/>
          </a:xfrm>
          <a:prstGeom prst="roundRect">
            <a:avLst>
              <a:gd name="adj" fmla="val 6364"/>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12" name="Badge 3"/>
          <p:cNvSpPr/>
          <p:nvPr/>
        </p:nvSpPr>
        <p:spPr>
          <a:xfrm>
            <a:off x="594360" y="2904490"/>
            <a:ext cx="274320" cy="274320"/>
          </a:xfrm>
          <a:prstGeom prst="ellipse">
            <a:avLst/>
          </a:prstGeom>
          <a:solidFill>
            <a:srgbClr val="1E2761"/>
          </a:solidFill>
          <a:ln/>
        </p:spPr>
        <p:txBody>
          <a:bodyPr/>
          <a:lstStyle/>
          <a:p>
            <a:endParaRPr lang="en-US"/>
          </a:p>
        </p:txBody>
      </p:sp>
      <p:sp>
        <p:nvSpPr>
          <p:cNvPr id="13" name="BadgeText 3"/>
          <p:cNvSpPr/>
          <p:nvPr/>
        </p:nvSpPr>
        <p:spPr>
          <a:xfrm>
            <a:off x="594360" y="290449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Body 3"/>
          <p:cNvSpPr/>
          <p:nvPr/>
        </p:nvSpPr>
        <p:spPr>
          <a:xfrm>
            <a:off x="1005840" y="2727000"/>
            <a:ext cx="3337560" cy="629300"/>
          </a:xfrm>
          <a:prstGeom prst="rect">
            <a:avLst/>
          </a:prstGeom>
          <a:noFill/>
          <a:ln/>
        </p:spPr>
        <p:txBody>
          <a:bodyPr wrap="square" lIns="0" tIns="0" rIns="0" bIns="0" rtlCol="0" anchor="ctr"/>
          <a:lstStyle/>
          <a:p>
            <a:r>
              <a:rPr lang="en-US" sz="1000" b="1" dirty="0">
                <a:solidFill>
                  <a:srgbClr val="1E2761"/>
                </a:solidFill>
                <a:latin typeface="Calibri" pitchFamily="34" charset="0"/>
                <a:ea typeface="Calibri" pitchFamily="34" charset="-122"/>
                <a:cs typeface="Calibri" pitchFamily="34" charset="-120"/>
              </a:rPr>
              <a:t>STBLC · Story &amp; Task Breakdown</a:t>
            </a:r>
            <a:r>
              <a:rPr lang="en-US" sz="800" i="1" dirty="0">
                <a:solidFill>
                  <a:srgbClr val="64748B"/>
                </a:solidFill>
                <a:latin typeface="Calibri" pitchFamily="34" charset="0"/>
                <a:ea typeface="Calibri" pitchFamily="34" charset="-122"/>
                <a:cs typeface="Calibri" pitchFamily="34" charset="-120"/>
              </a:rPr>
              <a:t>   PO ↔ SA ↔ SDE ↔ SWE </a:t>
            </a:r>
          </a:p>
          <a:p>
            <a:r>
              <a:rPr lang="en-US" sz="800" i="1" dirty="0">
                <a:solidFill>
                  <a:srgbClr val="64748B"/>
                </a:solidFill>
                <a:latin typeface="Calibri" pitchFamily="34" charset="0"/>
                <a:ea typeface="Calibri" pitchFamily="34" charset="-122"/>
                <a:cs typeface="Calibri" pitchFamily="34" charset="-120"/>
              </a:rPr>
              <a:t>DW ↔ BC</a:t>
            </a:r>
            <a:endParaRPr lang="en-US" sz="1000" dirty="0"/>
          </a:p>
          <a:p>
            <a:pPr marL="0" indent="0" algn="l">
              <a:buNone/>
            </a:pPr>
            <a:r>
              <a:rPr lang="en-US" sz="850" dirty="0">
                <a:solidFill>
                  <a:srgbClr val="334155"/>
                </a:solidFill>
                <a:latin typeface="Calibri" pitchFamily="34" charset="0"/>
                <a:ea typeface="Calibri" pitchFamily="34" charset="-122"/>
                <a:cs typeface="Calibri" pitchFamily="34" charset="-120"/>
              </a:rPr>
              <a:t>Estimated, dependency-ordered tasks, each carrying its own technical DoD.</a:t>
            </a:r>
            <a:endParaRPr lang="en-US" sz="850" dirty="0"/>
          </a:p>
        </p:txBody>
      </p:sp>
      <p:sp>
        <p:nvSpPr>
          <p:cNvPr id="15" name="Card 4"/>
          <p:cNvSpPr/>
          <p:nvPr/>
        </p:nvSpPr>
        <p:spPr>
          <a:xfrm>
            <a:off x="457200" y="3543300"/>
            <a:ext cx="4023360" cy="749300"/>
          </a:xfrm>
          <a:prstGeom prst="roundRect">
            <a:avLst>
              <a:gd name="adj" fmla="val 6364"/>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16" name="Badge 4"/>
          <p:cNvSpPr/>
          <p:nvPr/>
        </p:nvSpPr>
        <p:spPr>
          <a:xfrm>
            <a:off x="594360" y="3780790"/>
            <a:ext cx="274320" cy="274320"/>
          </a:xfrm>
          <a:prstGeom prst="ellipse">
            <a:avLst/>
          </a:prstGeom>
          <a:solidFill>
            <a:srgbClr val="1E2761"/>
          </a:solidFill>
          <a:ln/>
        </p:spPr>
        <p:txBody>
          <a:bodyPr/>
          <a:lstStyle/>
          <a:p>
            <a:endParaRPr lang="en-US"/>
          </a:p>
        </p:txBody>
      </p:sp>
      <p:sp>
        <p:nvSpPr>
          <p:cNvPr id="17" name="BadgeText 4"/>
          <p:cNvSpPr/>
          <p:nvPr/>
        </p:nvSpPr>
        <p:spPr>
          <a:xfrm>
            <a:off x="594360" y="378079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Body 4"/>
          <p:cNvSpPr/>
          <p:nvPr/>
        </p:nvSpPr>
        <p:spPr>
          <a:xfrm>
            <a:off x="1005840" y="3603300"/>
            <a:ext cx="3337560" cy="629300"/>
          </a:xfrm>
          <a:prstGeom prst="rect">
            <a:avLst/>
          </a:prstGeom>
          <a:noFill/>
          <a:ln/>
        </p:spPr>
        <p:txBody>
          <a:bodyPr wrap="square" lIns="0" tIns="0" rIns="0" bIns="0" rtlCol="0" anchor="ctr"/>
          <a:lstStyle/>
          <a:p>
            <a:r>
              <a:rPr lang="en-US" sz="1000" b="1" dirty="0">
                <a:solidFill>
                  <a:srgbClr val="1E2761"/>
                </a:solidFill>
                <a:latin typeface="Calibri" pitchFamily="34" charset="0"/>
                <a:ea typeface="Calibri" pitchFamily="34" charset="-122"/>
                <a:cs typeface="Calibri" pitchFamily="34" charset="-120"/>
              </a:rPr>
              <a:t>FDLC · Feature Development</a:t>
            </a:r>
            <a:r>
              <a:rPr lang="en-US" sz="800" i="1" dirty="0">
                <a:solidFill>
                  <a:srgbClr val="64748B"/>
                </a:solidFill>
                <a:latin typeface="Calibri" pitchFamily="34" charset="0"/>
                <a:ea typeface="Calibri" pitchFamily="34" charset="-122"/>
                <a:cs typeface="Calibri" pitchFamily="34" charset="-120"/>
              </a:rPr>
              <a:t>   SA + SDE ↔ SWE ↔ SQA ↔ CR </a:t>
            </a:r>
          </a:p>
          <a:p>
            <a:r>
              <a:rPr lang="en-US" sz="800" i="1" dirty="0">
                <a:solidFill>
                  <a:srgbClr val="64748B"/>
                </a:solidFill>
                <a:latin typeface="Calibri" pitchFamily="34" charset="0"/>
                <a:ea typeface="Calibri" pitchFamily="34" charset="-122"/>
                <a:cs typeface="Calibri" pitchFamily="34" charset="-120"/>
              </a:rPr>
              <a:t>DW ↔ BC</a:t>
            </a:r>
            <a:endParaRPr lang="en-US" sz="800" dirty="0"/>
          </a:p>
          <a:p>
            <a:pPr marL="0" indent="0" algn="l">
              <a:buNone/>
            </a:pPr>
            <a:r>
              <a:rPr lang="en-US" sz="850" dirty="0">
                <a:solidFill>
                  <a:srgbClr val="334155"/>
                </a:solidFill>
                <a:latin typeface="Calibri" pitchFamily="34" charset="0"/>
                <a:ea typeface="Calibri" pitchFamily="34" charset="-122"/>
                <a:cs typeface="Calibri" pitchFamily="34" charset="-120"/>
              </a:rPr>
              <a:t>The build loop on the previous slide — the one lifecycle where code lands.</a:t>
            </a:r>
            <a:endParaRPr lang="en-US" sz="850" dirty="0"/>
          </a:p>
        </p:txBody>
      </p:sp>
      <p:sp>
        <p:nvSpPr>
          <p:cNvPr id="19" name="Card 5"/>
          <p:cNvSpPr/>
          <p:nvPr/>
        </p:nvSpPr>
        <p:spPr>
          <a:xfrm>
            <a:off x="4663440" y="914400"/>
            <a:ext cx="4023360" cy="749300"/>
          </a:xfrm>
          <a:prstGeom prst="roundRect">
            <a:avLst>
              <a:gd name="adj" fmla="val 6364"/>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20" name="Badge 5"/>
          <p:cNvSpPr/>
          <p:nvPr/>
        </p:nvSpPr>
        <p:spPr>
          <a:xfrm>
            <a:off x="4800600" y="1151890"/>
            <a:ext cx="274320" cy="274320"/>
          </a:xfrm>
          <a:prstGeom prst="ellipse">
            <a:avLst/>
          </a:prstGeom>
          <a:solidFill>
            <a:srgbClr val="1E2761"/>
          </a:solidFill>
          <a:ln/>
        </p:spPr>
        <p:txBody>
          <a:bodyPr/>
          <a:lstStyle/>
          <a:p>
            <a:endParaRPr lang="en-US"/>
          </a:p>
        </p:txBody>
      </p:sp>
      <p:sp>
        <p:nvSpPr>
          <p:cNvPr id="21" name="BadgeText 5"/>
          <p:cNvSpPr/>
          <p:nvPr/>
        </p:nvSpPr>
        <p:spPr>
          <a:xfrm>
            <a:off x="4800600" y="115189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2" name="Body 5"/>
          <p:cNvSpPr/>
          <p:nvPr/>
        </p:nvSpPr>
        <p:spPr>
          <a:xfrm>
            <a:off x="5212080" y="974400"/>
            <a:ext cx="3337560" cy="629300"/>
          </a:xfrm>
          <a:prstGeom prst="rect">
            <a:avLst/>
          </a:prstGeom>
          <a:noFill/>
          <a:ln/>
        </p:spPr>
        <p:txBody>
          <a:bodyPr wrap="square" lIns="0" tIns="0" rIns="0" bIns="0" rtlCol="0" anchor="ctr"/>
          <a:lstStyle/>
          <a:p>
            <a:r>
              <a:rPr lang="en-US" sz="1000" b="1" dirty="0">
                <a:solidFill>
                  <a:srgbClr val="1E2761"/>
                </a:solidFill>
                <a:latin typeface="Calibri" pitchFamily="34" charset="0"/>
                <a:ea typeface="Calibri" pitchFamily="34" charset="-122"/>
                <a:cs typeface="Calibri" pitchFamily="34" charset="-120"/>
              </a:rPr>
              <a:t>BFLC · Bug Fixing</a:t>
            </a:r>
            <a:r>
              <a:rPr lang="en-US" sz="800" i="1" dirty="0">
                <a:solidFill>
                  <a:srgbClr val="64748B"/>
                </a:solidFill>
                <a:latin typeface="Calibri" pitchFamily="34" charset="0"/>
                <a:ea typeface="Calibri" pitchFamily="34" charset="-122"/>
                <a:cs typeface="Calibri" pitchFamily="34" charset="-120"/>
              </a:rPr>
              <a:t>   SA ↔ SDE ↔ SWE ↔ SQA ↔ CR </a:t>
            </a:r>
            <a:r>
              <a:rPr lang="en-US" sz="800" i="1" dirty="0">
                <a:latin typeface="+mj-lt"/>
              </a:rPr>
              <a:t> ↔ RA</a:t>
            </a:r>
            <a:endParaRPr lang="en-US" sz="800" i="1" dirty="0">
              <a:solidFill>
                <a:srgbClr val="64748B"/>
              </a:solidFill>
              <a:latin typeface="+mj-lt"/>
              <a:ea typeface="Calibri" pitchFamily="34" charset="-122"/>
              <a:cs typeface="Calibri" pitchFamily="34" charset="-120"/>
            </a:endParaRPr>
          </a:p>
          <a:p>
            <a:r>
              <a:rPr lang="en-US" sz="800" i="1" dirty="0"/>
              <a:t>DW ↔ BC</a:t>
            </a:r>
            <a:endParaRPr lang="en-US" sz="1000" dirty="0"/>
          </a:p>
          <a:p>
            <a:pPr marL="0" indent="0" algn="l">
              <a:buNone/>
            </a:pPr>
            <a:r>
              <a:rPr lang="en-US" sz="850" dirty="0">
                <a:solidFill>
                  <a:srgbClr val="334155"/>
                </a:solidFill>
                <a:latin typeface="Calibri" pitchFamily="34" charset="0"/>
                <a:ea typeface="Calibri" pitchFamily="34" charset="-122"/>
                <a:cs typeface="Calibri" pitchFamily="34" charset="-120"/>
              </a:rPr>
              <a:t>Root cause first, minimal fix, a regression test that fails before it passes.</a:t>
            </a:r>
            <a:endParaRPr lang="en-US" sz="850" dirty="0"/>
          </a:p>
        </p:txBody>
      </p:sp>
      <p:sp>
        <p:nvSpPr>
          <p:cNvPr id="23" name="Card 6"/>
          <p:cNvSpPr/>
          <p:nvPr/>
        </p:nvSpPr>
        <p:spPr>
          <a:xfrm>
            <a:off x="4663440" y="1790700"/>
            <a:ext cx="4023360" cy="749300"/>
          </a:xfrm>
          <a:prstGeom prst="roundRect">
            <a:avLst>
              <a:gd name="adj" fmla="val 6364"/>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24" name="Badge 6"/>
          <p:cNvSpPr/>
          <p:nvPr/>
        </p:nvSpPr>
        <p:spPr>
          <a:xfrm>
            <a:off x="4800600" y="2028190"/>
            <a:ext cx="274320" cy="274320"/>
          </a:xfrm>
          <a:prstGeom prst="ellipse">
            <a:avLst/>
          </a:prstGeom>
          <a:solidFill>
            <a:srgbClr val="1E2761"/>
          </a:solidFill>
          <a:ln/>
        </p:spPr>
        <p:txBody>
          <a:bodyPr/>
          <a:lstStyle/>
          <a:p>
            <a:endParaRPr lang="en-US"/>
          </a:p>
        </p:txBody>
      </p:sp>
      <p:sp>
        <p:nvSpPr>
          <p:cNvPr id="25" name="BadgeText 6"/>
          <p:cNvSpPr/>
          <p:nvPr/>
        </p:nvSpPr>
        <p:spPr>
          <a:xfrm>
            <a:off x="4800600" y="202819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6" name="Body 6"/>
          <p:cNvSpPr/>
          <p:nvPr/>
        </p:nvSpPr>
        <p:spPr>
          <a:xfrm>
            <a:off x="5212080" y="1850700"/>
            <a:ext cx="3337560" cy="629300"/>
          </a:xfrm>
          <a:prstGeom prst="rect">
            <a:avLst/>
          </a:prstGeom>
          <a:noFill/>
          <a:ln/>
        </p:spPr>
        <p:txBody>
          <a:bodyPr wrap="square" lIns="0" tIns="0" rIns="0" bIns="0" rtlCol="0" anchor="ctr"/>
          <a:lstStyle/>
          <a:p>
            <a:r>
              <a:rPr lang="en-US" sz="1000" b="1" dirty="0">
                <a:solidFill>
                  <a:srgbClr val="1E2761"/>
                </a:solidFill>
                <a:latin typeface="Calibri" pitchFamily="34" charset="0"/>
                <a:ea typeface="Calibri" pitchFamily="34" charset="-122"/>
                <a:cs typeface="Calibri" pitchFamily="34" charset="-120"/>
              </a:rPr>
              <a:t>RLC · Refactoring</a:t>
            </a:r>
            <a:r>
              <a:rPr lang="en-US" sz="800" i="1" dirty="0">
                <a:solidFill>
                  <a:srgbClr val="64748B"/>
                </a:solidFill>
                <a:latin typeface="Calibri" pitchFamily="34" charset="0"/>
                <a:ea typeface="Calibri" pitchFamily="34" charset="-122"/>
                <a:cs typeface="Calibri" pitchFamily="34" charset="-120"/>
              </a:rPr>
              <a:t>   SA ↔ SDE ↔ SWE ↔ SQA ↔ </a:t>
            </a:r>
            <a:r>
              <a:rPr lang="en-US" sz="800" i="1" dirty="0">
                <a:solidFill>
                  <a:srgbClr val="64748B"/>
                </a:solidFill>
                <a:latin typeface="+mj-lt"/>
                <a:ea typeface="Calibri" pitchFamily="34" charset="-122"/>
                <a:cs typeface="Calibri" pitchFamily="34" charset="-120"/>
              </a:rPr>
              <a:t>CR</a:t>
            </a:r>
            <a:r>
              <a:rPr lang="en-US" sz="800" i="1" dirty="0">
                <a:latin typeface="+mj-lt"/>
              </a:rPr>
              <a:t> ↔ RA</a:t>
            </a:r>
            <a:endParaRPr lang="en-US" sz="800" dirty="0">
              <a:latin typeface="+mj-lt"/>
            </a:endParaRPr>
          </a:p>
          <a:p>
            <a:pPr marL="0" indent="0" algn="l">
              <a:buNone/>
            </a:pPr>
            <a:r>
              <a:rPr lang="en-US" sz="850" dirty="0">
                <a:solidFill>
                  <a:srgbClr val="334155"/>
                </a:solidFill>
                <a:latin typeface="Calibri" pitchFamily="34" charset="0"/>
                <a:ea typeface="Calibri" pitchFamily="34" charset="-122"/>
                <a:cs typeface="Calibri" pitchFamily="34" charset="-120"/>
              </a:rPr>
              <a:t>Structure changes, behaviour does not — mutation score must not regress.</a:t>
            </a:r>
            <a:endParaRPr lang="en-US" sz="850" dirty="0"/>
          </a:p>
        </p:txBody>
      </p:sp>
      <p:sp>
        <p:nvSpPr>
          <p:cNvPr id="27" name="Card 7"/>
          <p:cNvSpPr/>
          <p:nvPr/>
        </p:nvSpPr>
        <p:spPr>
          <a:xfrm>
            <a:off x="4663440" y="2667000"/>
            <a:ext cx="4023360" cy="749300"/>
          </a:xfrm>
          <a:prstGeom prst="roundRect">
            <a:avLst>
              <a:gd name="adj" fmla="val 6364"/>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28" name="Badge 7"/>
          <p:cNvSpPr/>
          <p:nvPr/>
        </p:nvSpPr>
        <p:spPr>
          <a:xfrm>
            <a:off x="4800600" y="2904490"/>
            <a:ext cx="274320" cy="274320"/>
          </a:xfrm>
          <a:prstGeom prst="ellipse">
            <a:avLst/>
          </a:prstGeom>
          <a:solidFill>
            <a:srgbClr val="1E2761"/>
          </a:solidFill>
          <a:ln/>
        </p:spPr>
        <p:txBody>
          <a:bodyPr/>
          <a:lstStyle/>
          <a:p>
            <a:endParaRPr lang="en-US"/>
          </a:p>
        </p:txBody>
      </p:sp>
      <p:sp>
        <p:nvSpPr>
          <p:cNvPr id="29" name="BadgeText 7"/>
          <p:cNvSpPr/>
          <p:nvPr/>
        </p:nvSpPr>
        <p:spPr>
          <a:xfrm>
            <a:off x="4800600" y="290449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0" name="Body 7"/>
          <p:cNvSpPr/>
          <p:nvPr/>
        </p:nvSpPr>
        <p:spPr>
          <a:xfrm>
            <a:off x="5212080" y="2727000"/>
            <a:ext cx="3337560" cy="629300"/>
          </a:xfrm>
          <a:prstGeom prst="rect">
            <a:avLst/>
          </a:prstGeom>
          <a:noFill/>
          <a:ln/>
        </p:spPr>
        <p:txBody>
          <a:bodyPr wrap="square" lIns="0" tIns="0" rIns="0" bIns="0" rtlCol="0" anchor="ctr"/>
          <a:lstStyle/>
          <a:p>
            <a:r>
              <a:rPr lang="en-US" sz="1000" b="1" dirty="0">
                <a:solidFill>
                  <a:srgbClr val="1E2761"/>
                </a:solidFill>
                <a:latin typeface="Calibri" pitchFamily="34" charset="0"/>
                <a:ea typeface="Calibri" pitchFamily="34" charset="-122"/>
                <a:cs typeface="Calibri" pitchFamily="34" charset="-120"/>
              </a:rPr>
              <a:t>TLC · Testing</a:t>
            </a:r>
            <a:r>
              <a:rPr lang="en-US" sz="800" i="1" dirty="0">
                <a:solidFill>
                  <a:srgbClr val="64748B"/>
                </a:solidFill>
                <a:latin typeface="Calibri" pitchFamily="34" charset="0"/>
                <a:ea typeface="Calibri" pitchFamily="34" charset="-122"/>
                <a:cs typeface="Calibri" pitchFamily="34" charset="-120"/>
              </a:rPr>
              <a:t>   PO ↔ SA </a:t>
            </a:r>
            <a:r>
              <a:rPr lang="en-US" sz="800" i="1" dirty="0">
                <a:latin typeface="+mj-lt"/>
              </a:rPr>
              <a:t> ↔ </a:t>
            </a:r>
            <a:r>
              <a:rPr lang="en-US" sz="800" i="1" dirty="0">
                <a:solidFill>
                  <a:srgbClr val="64748B"/>
                </a:solidFill>
                <a:latin typeface="Calibri" pitchFamily="34" charset="0"/>
                <a:ea typeface="Calibri" pitchFamily="34" charset="-122"/>
                <a:cs typeface="Calibri" pitchFamily="34" charset="-120"/>
              </a:rPr>
              <a:t> SDE ↔ SWE ↔ SQA ↔ CR</a:t>
            </a:r>
          </a:p>
          <a:p>
            <a:r>
              <a:rPr lang="en-US" sz="800" i="1" dirty="0"/>
              <a:t>DW ↔ BC</a:t>
            </a:r>
            <a:endParaRPr lang="en-US" sz="800" dirty="0"/>
          </a:p>
          <a:p>
            <a:pPr marL="0" indent="0" algn="l">
              <a:buNone/>
            </a:pPr>
            <a:r>
              <a:rPr lang="en-US" sz="850" dirty="0">
                <a:solidFill>
                  <a:srgbClr val="334155"/>
                </a:solidFill>
                <a:latin typeface="Calibri" pitchFamily="34" charset="0"/>
                <a:ea typeface="Calibri" pitchFamily="34" charset="-122"/>
                <a:cs typeface="Calibri" pitchFamily="34" charset="-120"/>
              </a:rPr>
              <a:t>Coverage, AC traceability and mutation hardening on code that already exists.</a:t>
            </a:r>
            <a:endParaRPr lang="en-US" sz="850" dirty="0"/>
          </a:p>
        </p:txBody>
      </p:sp>
      <p:sp>
        <p:nvSpPr>
          <p:cNvPr id="31" name="Card 8"/>
          <p:cNvSpPr/>
          <p:nvPr/>
        </p:nvSpPr>
        <p:spPr>
          <a:xfrm>
            <a:off x="4663440" y="3543300"/>
            <a:ext cx="4023360" cy="749300"/>
          </a:xfrm>
          <a:prstGeom prst="roundRect">
            <a:avLst>
              <a:gd name="adj" fmla="val 6364"/>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32" name="Badge 8"/>
          <p:cNvSpPr/>
          <p:nvPr/>
        </p:nvSpPr>
        <p:spPr>
          <a:xfrm>
            <a:off x="4800600" y="3780790"/>
            <a:ext cx="274320" cy="274320"/>
          </a:xfrm>
          <a:prstGeom prst="ellipse">
            <a:avLst/>
          </a:prstGeom>
          <a:solidFill>
            <a:srgbClr val="1E2761"/>
          </a:solidFill>
          <a:ln/>
        </p:spPr>
        <p:txBody>
          <a:bodyPr/>
          <a:lstStyle/>
          <a:p>
            <a:endParaRPr lang="en-US"/>
          </a:p>
        </p:txBody>
      </p:sp>
      <p:sp>
        <p:nvSpPr>
          <p:cNvPr id="33" name="BadgeText 8"/>
          <p:cNvSpPr/>
          <p:nvPr/>
        </p:nvSpPr>
        <p:spPr>
          <a:xfrm>
            <a:off x="4800600" y="378079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4" name="Body 8"/>
          <p:cNvSpPr/>
          <p:nvPr/>
        </p:nvSpPr>
        <p:spPr>
          <a:xfrm>
            <a:off x="5212080" y="3603300"/>
            <a:ext cx="3337560" cy="629300"/>
          </a:xfrm>
          <a:prstGeom prst="rect">
            <a:avLst/>
          </a:prstGeom>
          <a:noFill/>
          <a:ln/>
        </p:spPr>
        <p:txBody>
          <a:bodyPr wrap="square" lIns="0" tIns="0" rIns="0" bIns="0" rtlCol="0" anchor="ctr"/>
          <a:lstStyle/>
          <a:p>
            <a:pPr marL="0" indent="0" algn="l">
              <a:buNone/>
            </a:pPr>
            <a:r>
              <a:rPr lang="en-US" sz="1000" b="1" dirty="0">
                <a:solidFill>
                  <a:srgbClr val="1E2761"/>
                </a:solidFill>
                <a:latin typeface="Calibri" pitchFamily="34" charset="0"/>
                <a:ea typeface="Calibri" pitchFamily="34" charset="-122"/>
                <a:cs typeface="Calibri" pitchFamily="34" charset="-120"/>
              </a:rPr>
              <a:t>CRLC · Code Review</a:t>
            </a:r>
            <a:r>
              <a:rPr lang="en-US" sz="800" i="1" dirty="0">
                <a:solidFill>
                  <a:srgbClr val="64748B"/>
                </a:solidFill>
                <a:latin typeface="Calibri" pitchFamily="34" charset="0"/>
                <a:ea typeface="Calibri" pitchFamily="34" charset="-122"/>
                <a:cs typeface="Calibri" pitchFamily="34" charset="-120"/>
              </a:rPr>
              <a:t>   PO ↔ CR ↔ SWE ↔ SQA</a:t>
            </a:r>
            <a:endParaRPr lang="en-US" sz="1000" dirty="0"/>
          </a:p>
          <a:p>
            <a:pPr marL="0" indent="0" algn="l">
              <a:buNone/>
            </a:pPr>
            <a:r>
              <a:rPr lang="en-US" sz="850" dirty="0">
                <a:solidFill>
                  <a:srgbClr val="334155"/>
                </a:solidFill>
                <a:latin typeface="Calibri" pitchFamily="34" charset="0"/>
                <a:ea typeface="Calibri" pitchFamily="34" charset="-122"/>
                <a:cs typeface="Calibri" pitchFamily="34" charset="-120"/>
              </a:rPr>
              <a:t>Drives an open change to merge-ready; the reviewer approves only at zero Blockers.</a:t>
            </a:r>
            <a:endParaRPr lang="en-US" sz="850" dirty="0"/>
          </a:p>
        </p:txBody>
      </p:sp>
      <p:sp>
        <p:nvSpPr>
          <p:cNvPr id="35" name="Footer Bar"/>
          <p:cNvSpPr/>
          <p:nvPr/>
        </p:nvSpPr>
        <p:spPr>
          <a:xfrm>
            <a:off x="457200" y="4434840"/>
            <a:ext cx="8229600" cy="502920"/>
          </a:xfrm>
          <a:prstGeom prst="roundRect">
            <a:avLst>
              <a:gd name="adj" fmla="val 14545"/>
            </a:avLst>
          </a:prstGeom>
          <a:solidFill>
            <a:srgbClr val="1E2761"/>
          </a:solidFill>
          <a:ln/>
        </p:spPr>
        <p:txBody>
          <a:bodyPr/>
          <a:lstStyle/>
          <a:p>
            <a:endParaRPr lang="en-US"/>
          </a:p>
        </p:txBody>
      </p:sp>
      <p:sp>
        <p:nvSpPr>
          <p:cNvPr id="36" name="Footer Text"/>
          <p:cNvSpPr/>
          <p:nvPr/>
        </p:nvSpPr>
        <p:spPr>
          <a:xfrm>
            <a:off x="640080" y="4434840"/>
            <a:ext cx="7863840" cy="502920"/>
          </a:xfrm>
          <a:prstGeom prst="rect">
            <a:avLst/>
          </a:prstGeom>
          <a:noFill/>
          <a:ln/>
        </p:spPr>
        <p:txBody>
          <a:bodyPr wrap="square" lIns="0" tIns="0" rIns="0" bIns="0" rtlCol="0" anchor="ctr"/>
          <a:lstStyle/>
          <a:p>
            <a:pPr marL="0" indent="0" algn="ctr">
              <a:buNone/>
            </a:pPr>
            <a:r>
              <a:rPr lang="en-US" sz="1050" b="1" dirty="0">
                <a:solidFill>
                  <a:srgbClr val="2EC4B6"/>
                </a:solidFill>
                <a:latin typeface="Calibri" pitchFamily="34" charset="0"/>
                <a:ea typeface="Calibri" pitchFamily="34" charset="-122"/>
                <a:cs typeface="Calibri" pitchFamily="34" charset="-120"/>
              </a:rPr>
              <a:t>Routing layer:  </a:t>
            </a:r>
            <a:r>
              <a:rPr lang="en-US" sz="1050" dirty="0">
                <a:solidFill>
                  <a:srgbClr val="FFFFFF"/>
                </a:solidFill>
                <a:latin typeface="Calibri" pitchFamily="34" charset="0"/>
                <a:ea typeface="Calibri" pitchFamily="34" charset="-122"/>
                <a:cs typeface="Calibri" pitchFamily="34" charset="-120"/>
              </a:rPr>
              <a:t>ai-dlc picks the lifecycle · agent-selection the mode · agent-invocation spawns · handoff carries the artifact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Skills: Reusable Playbooks, Not One-Off Prompts</a:t>
            </a:r>
            <a:endParaRPr lang="en-US" sz="3000" dirty="0"/>
          </a:p>
        </p:txBody>
      </p:sp>
      <p:sp>
        <p:nvSpPr>
          <p:cNvPr id="3" name="Text 1"/>
          <p:cNvSpPr/>
          <p:nvPr/>
        </p:nvSpPr>
        <p:spPr>
          <a:xfrm>
            <a:off x="457200" y="1143000"/>
            <a:ext cx="2103120" cy="1005840"/>
          </a:xfrm>
          <a:prstGeom prst="rect">
            <a:avLst/>
          </a:prstGeom>
          <a:noFill/>
          <a:ln/>
        </p:spPr>
        <p:txBody>
          <a:bodyPr wrap="square" lIns="0" tIns="0" rIns="0" bIns="0" rtlCol="0" anchor="ctr"/>
          <a:lstStyle/>
          <a:p>
            <a:pPr marL="0" indent="0" algn="l">
              <a:buNone/>
            </a:pPr>
            <a:r>
              <a:rPr lang="en-US" sz="7200" b="1" dirty="0">
                <a:solidFill>
                  <a:srgbClr val="1E2761"/>
                </a:solidFill>
                <a:latin typeface="Cambria" pitchFamily="34" charset="0"/>
                <a:ea typeface="Cambria" pitchFamily="34" charset="-122"/>
                <a:cs typeface="Cambria" pitchFamily="34" charset="-120"/>
              </a:rPr>
              <a:t>43</a:t>
            </a:r>
            <a:endParaRPr lang="en-US" sz="7200" dirty="0"/>
          </a:p>
        </p:txBody>
      </p:sp>
      <p:sp>
        <p:nvSpPr>
          <p:cNvPr id="4" name="Text 2"/>
          <p:cNvSpPr/>
          <p:nvPr/>
        </p:nvSpPr>
        <p:spPr>
          <a:xfrm>
            <a:off x="457200" y="2286000"/>
            <a:ext cx="2148840" cy="1828800"/>
          </a:xfrm>
          <a:prstGeom prst="rect">
            <a:avLst/>
          </a:prstGeom>
          <a:noFill/>
          <a:ln/>
        </p:spPr>
        <p:txBody>
          <a:bodyPr wrap="square" lIns="0" tIns="0" rIns="0" bIns="0" rtlCol="0" anchor="t"/>
          <a:lstStyle/>
          <a:p>
            <a:pPr marL="0" indent="0" algn="l">
              <a:buNone/>
            </a:pPr>
            <a:r>
              <a:rPr lang="en-US" sz="1000" dirty="0">
                <a:solidFill>
                  <a:srgbClr val="334155"/>
                </a:solidFill>
                <a:latin typeface="Calibri" pitchFamily="34" charset="0"/>
                <a:ea typeface="Calibri" pitchFamily="34" charset="-122"/>
                <a:cs typeface="Calibri" pitchFamily="34" charset="-120"/>
              </a:rPr>
              <a:t>version-controlled skills — step-by-step procedures an agent loads on demand, reviewed and improved like code.</a:t>
            </a:r>
            <a:endParaRPr lang="en-US" sz="1000" dirty="0"/>
          </a:p>
          <a:p>
            <a:pPr marL="0" indent="0" algn="l">
              <a:spcBef>
                <a:spcPts val="600"/>
              </a:spcBef>
              <a:buNone/>
            </a:pPr>
            <a:r>
              <a:rPr lang="en-US" sz="900" i="1" dirty="0">
                <a:solidFill>
                  <a:srgbClr val="64748B"/>
                </a:solidFill>
                <a:latin typeface="Calibri" pitchFamily="34" charset="0"/>
                <a:ea typeface="Calibri" pitchFamily="34" charset="-122"/>
                <a:cs typeface="Calibri" pitchFamily="34" charset="-120"/>
              </a:rPr>
              <a:t>Plus 29 slash commands that invoke them by name.</a:t>
            </a:r>
            <a:endParaRPr lang="en-US" sz="900" dirty="0"/>
          </a:p>
        </p:txBody>
      </p:sp>
      <p:sp>
        <p:nvSpPr>
          <p:cNvPr id="5" name="Shape 3"/>
          <p:cNvSpPr/>
          <p:nvPr/>
        </p:nvSpPr>
        <p:spPr>
          <a:xfrm>
            <a:off x="2880360" y="1143000"/>
            <a:ext cx="2999232" cy="1417320"/>
          </a:xfrm>
          <a:prstGeom prst="roundRect">
            <a:avLst>
              <a:gd name="adj" fmla="val 5161"/>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6" name="Shape 4"/>
          <p:cNvSpPr/>
          <p:nvPr/>
        </p:nvSpPr>
        <p:spPr>
          <a:xfrm>
            <a:off x="3063240" y="1325880"/>
            <a:ext cx="457200" cy="457200"/>
          </a:xfrm>
          <a:prstGeom prst="ellipse">
            <a:avLst/>
          </a:prstGeom>
          <a:solidFill>
            <a:srgbClr val="1E2761"/>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3182112" y="1444752"/>
            <a:ext cx="219456" cy="219456"/>
          </a:xfrm>
          <a:prstGeom prst="rect">
            <a:avLst/>
          </a:prstGeom>
        </p:spPr>
      </p:pic>
      <p:sp>
        <p:nvSpPr>
          <p:cNvPr id="8" name="Text 5"/>
          <p:cNvSpPr/>
          <p:nvPr/>
        </p:nvSpPr>
        <p:spPr>
          <a:xfrm>
            <a:off x="3657600" y="1344168"/>
            <a:ext cx="2039112" cy="411480"/>
          </a:xfrm>
          <a:prstGeom prst="rect">
            <a:avLst/>
          </a:prstGeom>
          <a:noFill/>
          <a:ln/>
        </p:spPr>
        <p:txBody>
          <a:bodyPr wrap="square" lIns="0" tIns="0" rIns="0" bIns="0" rtlCol="0" anchor="ctr"/>
          <a:lstStyle/>
          <a:p>
            <a:pPr marL="0" indent="0" algn="l">
              <a:buNone/>
            </a:pPr>
            <a:r>
              <a:rPr lang="en-US" sz="1400" b="1" dirty="0">
                <a:solidFill>
                  <a:srgbClr val="1E2761"/>
                </a:solidFill>
                <a:latin typeface="Calibri" pitchFamily="34" charset="0"/>
                <a:ea typeface="Calibri" pitchFamily="34" charset="-122"/>
                <a:cs typeface="Calibri" pitchFamily="34" charset="-120"/>
              </a:rPr>
              <a:t>Lifecycle</a:t>
            </a:r>
            <a:endParaRPr lang="en-US" sz="1400" dirty="0"/>
          </a:p>
        </p:txBody>
      </p:sp>
      <p:sp>
        <p:nvSpPr>
          <p:cNvPr id="9" name="Text 6"/>
          <p:cNvSpPr/>
          <p:nvPr/>
        </p:nvSpPr>
        <p:spPr>
          <a:xfrm>
            <a:off x="3108960" y="1892808"/>
            <a:ext cx="2542032" cy="594360"/>
          </a:xfrm>
          <a:prstGeom prst="rect">
            <a:avLst/>
          </a:prstGeom>
          <a:noFill/>
          <a:ln/>
        </p:spPr>
        <p:txBody>
          <a:bodyPr wrap="square" lIns="0" tIns="0" rIns="0" bIns="0" rtlCol="0" anchor="t"/>
          <a:lstStyle/>
          <a:p>
            <a:pPr marL="0" indent="0" algn="l">
              <a:buNone/>
            </a:pPr>
            <a:r>
              <a:rPr lang="en-US" sz="900" dirty="0">
                <a:solidFill>
                  <a:srgbClr val="334155"/>
                </a:solidFill>
                <a:latin typeface="Calibri" pitchFamily="34" charset="0"/>
                <a:ea typeface="Calibri" pitchFamily="34" charset="-122"/>
                <a:cs typeface="Calibri" pitchFamily="34" charset="-120"/>
              </a:rPr>
              <a:t>requirement-analysis · architecture-design · system-design · spec-driven-development · implement-feature · fix-bug</a:t>
            </a:r>
            <a:endParaRPr lang="en-US" sz="900" dirty="0"/>
          </a:p>
        </p:txBody>
      </p:sp>
      <p:sp>
        <p:nvSpPr>
          <p:cNvPr id="10" name="Shape 7"/>
          <p:cNvSpPr/>
          <p:nvPr/>
        </p:nvSpPr>
        <p:spPr>
          <a:xfrm>
            <a:off x="6035040" y="1143000"/>
            <a:ext cx="2999232" cy="1417320"/>
          </a:xfrm>
          <a:prstGeom prst="roundRect">
            <a:avLst>
              <a:gd name="adj" fmla="val 5161"/>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11" name="Shape 8"/>
          <p:cNvSpPr/>
          <p:nvPr/>
        </p:nvSpPr>
        <p:spPr>
          <a:xfrm>
            <a:off x="6217920" y="1325880"/>
            <a:ext cx="457200" cy="457200"/>
          </a:xfrm>
          <a:prstGeom prst="ellipse">
            <a:avLst/>
          </a:prstGeom>
          <a:solidFill>
            <a:srgbClr val="1E2761"/>
          </a:solidFill>
          <a:ln/>
        </p:spPr>
        <p:txBody>
          <a:bodyPr/>
          <a:lstStyle/>
          <a:p>
            <a:endParaRPr lang="en-US"/>
          </a:p>
        </p:txBody>
      </p:sp>
      <p:pic>
        <p:nvPicPr>
          <p:cNvPr id="12" name="Image 1" descr="preencoded.png"/>
          <p:cNvPicPr>
            <a:picLocks noChangeAspect="1"/>
          </p:cNvPicPr>
          <p:nvPr/>
        </p:nvPicPr>
        <p:blipFill>
          <a:blip r:embed="rId4"/>
          <a:stretch>
            <a:fillRect/>
          </a:stretch>
        </p:blipFill>
        <p:spPr>
          <a:xfrm>
            <a:off x="6336792" y="1444752"/>
            <a:ext cx="219456" cy="219456"/>
          </a:xfrm>
          <a:prstGeom prst="rect">
            <a:avLst/>
          </a:prstGeom>
        </p:spPr>
      </p:pic>
      <p:sp>
        <p:nvSpPr>
          <p:cNvPr id="13" name="Text 9"/>
          <p:cNvSpPr/>
          <p:nvPr/>
        </p:nvSpPr>
        <p:spPr>
          <a:xfrm>
            <a:off x="6812280" y="1344168"/>
            <a:ext cx="2039112" cy="411480"/>
          </a:xfrm>
          <a:prstGeom prst="rect">
            <a:avLst/>
          </a:prstGeom>
          <a:noFill/>
          <a:ln/>
        </p:spPr>
        <p:txBody>
          <a:bodyPr wrap="square" lIns="0" tIns="0" rIns="0" bIns="0" rtlCol="0" anchor="ctr"/>
          <a:lstStyle/>
          <a:p>
            <a:pPr marL="0" indent="0" algn="l">
              <a:buNone/>
            </a:pPr>
            <a:r>
              <a:rPr lang="en-US" sz="1400" b="1" dirty="0">
                <a:solidFill>
                  <a:srgbClr val="1E2761"/>
                </a:solidFill>
                <a:latin typeface="Calibri" pitchFamily="34" charset="0"/>
                <a:ea typeface="Calibri" pitchFamily="34" charset="-122"/>
                <a:cs typeface="Calibri" pitchFamily="34" charset="-120"/>
              </a:rPr>
              <a:t>Quality</a:t>
            </a:r>
            <a:endParaRPr lang="en-US" sz="1400" dirty="0"/>
          </a:p>
        </p:txBody>
      </p:sp>
      <p:sp>
        <p:nvSpPr>
          <p:cNvPr id="14" name="Text 10"/>
          <p:cNvSpPr/>
          <p:nvPr/>
        </p:nvSpPr>
        <p:spPr>
          <a:xfrm>
            <a:off x="6263640" y="1892808"/>
            <a:ext cx="2542032" cy="594360"/>
          </a:xfrm>
          <a:prstGeom prst="rect">
            <a:avLst/>
          </a:prstGeom>
          <a:noFill/>
          <a:ln/>
        </p:spPr>
        <p:txBody>
          <a:bodyPr wrap="square" lIns="0" tIns="0" rIns="0" bIns="0" rtlCol="0" anchor="t"/>
          <a:lstStyle/>
          <a:p>
            <a:pPr marL="0" indent="0" algn="l">
              <a:buNone/>
            </a:pPr>
            <a:r>
              <a:rPr lang="en-US" sz="900" dirty="0">
                <a:solidFill>
                  <a:srgbClr val="334155"/>
                </a:solidFill>
                <a:latin typeface="Calibri" pitchFamily="34" charset="0"/>
                <a:ea typeface="Calibri" pitchFamily="34" charset="-122"/>
                <a:cs typeface="Calibri" pitchFamily="34" charset="-120"/>
              </a:rPr>
              <a:t>design-test-cases · write-tests · unit / integration / architecture · csharp-mutation-testing · review · security-review · k6</a:t>
            </a:r>
            <a:endParaRPr lang="en-US" sz="900" dirty="0"/>
          </a:p>
        </p:txBody>
      </p:sp>
      <p:sp>
        <p:nvSpPr>
          <p:cNvPr id="15" name="Shape 11"/>
          <p:cNvSpPr/>
          <p:nvPr/>
        </p:nvSpPr>
        <p:spPr>
          <a:xfrm>
            <a:off x="2880360" y="2743200"/>
            <a:ext cx="2999232" cy="1417320"/>
          </a:xfrm>
          <a:prstGeom prst="roundRect">
            <a:avLst>
              <a:gd name="adj" fmla="val 5161"/>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16" name="Shape 12"/>
          <p:cNvSpPr/>
          <p:nvPr/>
        </p:nvSpPr>
        <p:spPr>
          <a:xfrm>
            <a:off x="3063240" y="2926080"/>
            <a:ext cx="457200" cy="457200"/>
          </a:xfrm>
          <a:prstGeom prst="ellipse">
            <a:avLst/>
          </a:prstGeom>
          <a:solidFill>
            <a:srgbClr val="1E2761"/>
          </a:solidFill>
          <a:ln/>
        </p:spPr>
        <p:txBody>
          <a:bodyPr/>
          <a:lstStyle/>
          <a:p>
            <a:endParaRPr lang="en-US"/>
          </a:p>
        </p:txBody>
      </p:sp>
      <p:pic>
        <p:nvPicPr>
          <p:cNvPr id="17" name="Image 2" descr="preencoded.png"/>
          <p:cNvPicPr>
            <a:picLocks noChangeAspect="1"/>
          </p:cNvPicPr>
          <p:nvPr/>
        </p:nvPicPr>
        <p:blipFill>
          <a:blip r:embed="rId5"/>
          <a:stretch>
            <a:fillRect/>
          </a:stretch>
        </p:blipFill>
        <p:spPr>
          <a:xfrm>
            <a:off x="3182112" y="3044952"/>
            <a:ext cx="219456" cy="219456"/>
          </a:xfrm>
          <a:prstGeom prst="rect">
            <a:avLst/>
          </a:prstGeom>
        </p:spPr>
      </p:pic>
      <p:sp>
        <p:nvSpPr>
          <p:cNvPr id="18" name="Text 13"/>
          <p:cNvSpPr/>
          <p:nvPr/>
        </p:nvSpPr>
        <p:spPr>
          <a:xfrm>
            <a:off x="3657600" y="2944368"/>
            <a:ext cx="2039112" cy="411480"/>
          </a:xfrm>
          <a:prstGeom prst="rect">
            <a:avLst/>
          </a:prstGeom>
          <a:noFill/>
          <a:ln/>
        </p:spPr>
        <p:txBody>
          <a:bodyPr wrap="square" lIns="0" tIns="0" rIns="0" bIns="0" rtlCol="0" anchor="ctr"/>
          <a:lstStyle/>
          <a:p>
            <a:pPr marL="0" indent="0" algn="l">
              <a:buNone/>
            </a:pPr>
            <a:r>
              <a:rPr lang="en-US" sz="1400" b="1" dirty="0">
                <a:solidFill>
                  <a:srgbClr val="1E2761"/>
                </a:solidFill>
                <a:latin typeface="Calibri" pitchFamily="34" charset="0"/>
                <a:ea typeface="Calibri" pitchFamily="34" charset="-122"/>
                <a:cs typeface="Calibri" pitchFamily="34" charset="-120"/>
              </a:rPr>
              <a:t>Delivery</a:t>
            </a:r>
            <a:endParaRPr lang="en-US" sz="1400" dirty="0"/>
          </a:p>
        </p:txBody>
      </p:sp>
      <p:sp>
        <p:nvSpPr>
          <p:cNvPr id="19" name="Text 14"/>
          <p:cNvSpPr/>
          <p:nvPr/>
        </p:nvSpPr>
        <p:spPr>
          <a:xfrm>
            <a:off x="3108960" y="3493008"/>
            <a:ext cx="2542032" cy="594360"/>
          </a:xfrm>
          <a:prstGeom prst="rect">
            <a:avLst/>
          </a:prstGeom>
          <a:noFill/>
          <a:ln/>
        </p:spPr>
        <p:txBody>
          <a:bodyPr wrap="square" lIns="0" tIns="0" rIns="0" bIns="0" rtlCol="0" anchor="t"/>
          <a:lstStyle/>
          <a:p>
            <a:pPr marL="0" indent="0" algn="l">
              <a:buNone/>
            </a:pPr>
            <a:r>
              <a:rPr lang="en-US" sz="900" dirty="0">
                <a:solidFill>
                  <a:srgbClr val="334155"/>
                </a:solidFill>
                <a:latin typeface="Calibri" pitchFamily="34" charset="0"/>
                <a:ea typeface="Calibri" pitchFamily="34" charset="-122"/>
                <a:cs typeface="Calibri" pitchFamily="34" charset="-120"/>
              </a:rPr>
              <a:t>github-ci-automation · github-cd-automation · nuget-package-deployment · sonarqube-pr-quality-gate</a:t>
            </a:r>
            <a:endParaRPr lang="en-US" sz="900" dirty="0"/>
          </a:p>
        </p:txBody>
      </p:sp>
      <p:sp>
        <p:nvSpPr>
          <p:cNvPr id="20" name="Shape 15"/>
          <p:cNvSpPr/>
          <p:nvPr/>
        </p:nvSpPr>
        <p:spPr>
          <a:xfrm>
            <a:off x="6035040" y="2743200"/>
            <a:ext cx="2999232" cy="1417320"/>
          </a:xfrm>
          <a:prstGeom prst="roundRect">
            <a:avLst>
              <a:gd name="adj" fmla="val 5161"/>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21" name="Shape 16"/>
          <p:cNvSpPr/>
          <p:nvPr/>
        </p:nvSpPr>
        <p:spPr>
          <a:xfrm>
            <a:off x="6217920" y="2926080"/>
            <a:ext cx="457200" cy="457200"/>
          </a:xfrm>
          <a:prstGeom prst="ellipse">
            <a:avLst/>
          </a:prstGeom>
          <a:solidFill>
            <a:srgbClr val="1E2761"/>
          </a:solidFill>
          <a:ln/>
        </p:spPr>
        <p:txBody>
          <a:bodyPr/>
          <a:lstStyle/>
          <a:p>
            <a:endParaRPr lang="en-US"/>
          </a:p>
        </p:txBody>
      </p:sp>
      <p:pic>
        <p:nvPicPr>
          <p:cNvPr id="22" name="Image 3" descr="preencoded.png"/>
          <p:cNvPicPr>
            <a:picLocks noChangeAspect="1"/>
          </p:cNvPicPr>
          <p:nvPr/>
        </p:nvPicPr>
        <p:blipFill>
          <a:blip r:embed="rId6"/>
          <a:stretch>
            <a:fillRect/>
          </a:stretch>
        </p:blipFill>
        <p:spPr>
          <a:xfrm>
            <a:off x="6336792" y="3044952"/>
            <a:ext cx="219456" cy="219456"/>
          </a:xfrm>
          <a:prstGeom prst="rect">
            <a:avLst/>
          </a:prstGeom>
        </p:spPr>
      </p:pic>
      <p:sp>
        <p:nvSpPr>
          <p:cNvPr id="23" name="Text 17"/>
          <p:cNvSpPr/>
          <p:nvPr/>
        </p:nvSpPr>
        <p:spPr>
          <a:xfrm>
            <a:off x="6812280" y="2944368"/>
            <a:ext cx="2039112" cy="411480"/>
          </a:xfrm>
          <a:prstGeom prst="rect">
            <a:avLst/>
          </a:prstGeom>
          <a:noFill/>
          <a:ln/>
        </p:spPr>
        <p:txBody>
          <a:bodyPr wrap="square" lIns="0" tIns="0" rIns="0" bIns="0" rtlCol="0" anchor="ctr"/>
          <a:lstStyle/>
          <a:p>
            <a:pPr marL="0" indent="0" algn="l">
              <a:buNone/>
            </a:pPr>
            <a:r>
              <a:rPr lang="en-US" sz="1400" b="1" dirty="0">
                <a:solidFill>
                  <a:srgbClr val="1E2761"/>
                </a:solidFill>
                <a:latin typeface="Calibri" pitchFamily="34" charset="0"/>
                <a:ea typeface="Calibri" pitchFamily="34" charset="-122"/>
                <a:cs typeface="Calibri" pitchFamily="34" charset="-120"/>
              </a:rPr>
              <a:t>Self-Management</a:t>
            </a:r>
            <a:endParaRPr lang="en-US" sz="1400" dirty="0"/>
          </a:p>
        </p:txBody>
      </p:sp>
      <p:sp>
        <p:nvSpPr>
          <p:cNvPr id="24" name="Text 18"/>
          <p:cNvSpPr/>
          <p:nvPr/>
        </p:nvSpPr>
        <p:spPr>
          <a:xfrm>
            <a:off x="6263640" y="3493008"/>
            <a:ext cx="2542032" cy="594360"/>
          </a:xfrm>
          <a:prstGeom prst="rect">
            <a:avLst/>
          </a:prstGeom>
          <a:noFill/>
          <a:ln/>
        </p:spPr>
        <p:txBody>
          <a:bodyPr wrap="square" lIns="0" tIns="0" rIns="0" bIns="0" rtlCol="0" anchor="t"/>
          <a:lstStyle/>
          <a:p>
            <a:pPr marL="0" indent="0" algn="l">
              <a:buNone/>
            </a:pPr>
            <a:r>
              <a:rPr lang="en-US" sz="900" dirty="0">
                <a:solidFill>
                  <a:srgbClr val="334155"/>
                </a:solidFill>
                <a:latin typeface="Calibri" pitchFamily="34" charset="0"/>
                <a:ea typeface="Calibri" pitchFamily="34" charset="-122"/>
                <a:cs typeface="Calibri" pitchFamily="34" charset="-120"/>
              </a:rPr>
              <a:t>agent- · skill- · command- · hook- · rules-management · manage-memory — the setup maintains itself</a:t>
            </a:r>
            <a:endParaRPr lang="en-US" sz="900" dirty="0"/>
          </a:p>
        </p:txBody>
      </p:sp>
      <p:sp>
        <p:nvSpPr>
          <p:cNvPr id="25" name="Text 19"/>
          <p:cNvSpPr/>
          <p:nvPr/>
        </p:nvSpPr>
        <p:spPr>
          <a:xfrm>
            <a:off x="457200" y="4434840"/>
            <a:ext cx="8229600" cy="320040"/>
          </a:xfrm>
          <a:prstGeom prst="rect">
            <a:avLst/>
          </a:prstGeom>
          <a:noFill/>
          <a:ln/>
        </p:spPr>
        <p:txBody>
          <a:bodyPr wrap="square" rtlCol="0" anchor="ctr"/>
          <a:lstStyle/>
          <a:p>
            <a:pPr marL="0" indent="0" algn="ctr">
              <a:buNone/>
            </a:pPr>
            <a:r>
              <a:rPr lang="en-US" sz="1350" i="1" dirty="0">
                <a:solidFill>
                  <a:srgbClr val="64748B"/>
                </a:solidFill>
                <a:latin typeface="Calibri" pitchFamily="34" charset="0"/>
                <a:ea typeface="Calibri" pitchFamily="34" charset="-122"/>
                <a:cs typeface="Calibri" pitchFamily="34" charset="-120"/>
              </a:rPr>
              <a:t>A good prompt helps once. A skill helps every teammate, every time.</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277586" y="303494"/>
            <a:ext cx="8588828" cy="566928"/>
          </a:xfrm>
          <a:prstGeom prst="rect">
            <a:avLst/>
          </a:prstGeom>
          <a:noFill/>
          <a:ln/>
        </p:spPr>
        <p:txBody>
          <a:bodyPr wrap="square" lIns="0" tIns="0" rIns="0" bIns="0" rtlCol="0" anchor="ctr"/>
          <a:lstStyle/>
          <a:p>
            <a:r>
              <a:rPr lang="en-US" sz="3000" b="1">
                <a:solidFill>
                  <a:srgbClr val="1E2761"/>
                </a:solidFill>
                <a:latin typeface="Cambria"/>
                <a:ea typeface="Cambria"/>
                <a:cs typeface="Cambria" pitchFamily="34" charset="-120"/>
              </a:rPr>
              <a:t>Guardrails: What Keeps Agents Honest &amp; Verified</a:t>
            </a:r>
            <a:endParaRPr lang="en-US" sz="3000" dirty="0"/>
          </a:p>
        </p:txBody>
      </p:sp>
      <p:sp>
        <p:nvSpPr>
          <p:cNvPr id="3" name="Shape 1"/>
          <p:cNvSpPr/>
          <p:nvPr/>
        </p:nvSpPr>
        <p:spPr>
          <a:xfrm>
            <a:off x="640080" y="1202436"/>
            <a:ext cx="566928" cy="566928"/>
          </a:xfrm>
          <a:prstGeom prst="ellipse">
            <a:avLst/>
          </a:prstGeom>
          <a:solidFill>
            <a:srgbClr val="1E2761"/>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787481" y="1349837"/>
            <a:ext cx="272125" cy="272125"/>
          </a:xfrm>
          <a:prstGeom prst="rect">
            <a:avLst/>
          </a:prstGeom>
        </p:spPr>
      </p:pic>
      <p:sp>
        <p:nvSpPr>
          <p:cNvPr id="5" name="Text 2"/>
          <p:cNvSpPr/>
          <p:nvPr/>
        </p:nvSpPr>
        <p:spPr>
          <a:xfrm>
            <a:off x="1463040" y="1051560"/>
            <a:ext cx="7223760" cy="868680"/>
          </a:xfrm>
          <a:prstGeom prst="rect">
            <a:avLst/>
          </a:prstGeom>
          <a:noFill/>
          <a:ln/>
        </p:spPr>
        <p:txBody>
          <a:bodyPr wrap="square" lIns="0" tIns="0" rIns="0" bIns="0" rtlCol="0" anchor="ctr"/>
          <a:lstStyle/>
          <a:p>
            <a:pPr marL="0" indent="0" algn="l">
              <a:buNone/>
            </a:pPr>
            <a:r>
              <a:rPr lang="en-US" sz="1550" b="1" dirty="0">
                <a:solidFill>
                  <a:srgbClr val="1E2761"/>
                </a:solidFill>
                <a:latin typeface="Calibri" pitchFamily="34" charset="0"/>
                <a:ea typeface="Calibri" pitchFamily="34" charset="-122"/>
                <a:cs typeface="Calibri" pitchFamily="34" charset="-120"/>
              </a:rPr>
              <a:t>Anti-Hallucination Protocol</a:t>
            </a:r>
            <a:endParaRPr lang="en-US" sz="1550" dirty="0"/>
          </a:p>
          <a:p>
            <a:pPr marL="0" indent="0" algn="l">
              <a:buNone/>
            </a:pPr>
            <a:r>
              <a:rPr lang="en-US" sz="1250" dirty="0">
                <a:solidFill>
                  <a:srgbClr val="334155"/>
                </a:solidFill>
                <a:latin typeface="Calibri" pitchFamily="34" charset="0"/>
                <a:ea typeface="Calibri" pitchFamily="34" charset="-122"/>
                <a:cs typeface="Calibri" pitchFamily="34" charset="-120"/>
              </a:rPr>
              <a:t>Unsure? Verify — spawn research agents or ask the user. Never invent APIs, versions, or file paths.</a:t>
            </a:r>
            <a:endParaRPr lang="en-US" sz="1550" dirty="0"/>
          </a:p>
        </p:txBody>
      </p:sp>
      <p:sp>
        <p:nvSpPr>
          <p:cNvPr id="6" name="Shape 3"/>
          <p:cNvSpPr/>
          <p:nvPr/>
        </p:nvSpPr>
        <p:spPr>
          <a:xfrm>
            <a:off x="640080" y="2272284"/>
            <a:ext cx="566928" cy="566928"/>
          </a:xfrm>
          <a:prstGeom prst="ellipse">
            <a:avLst/>
          </a:prstGeom>
          <a:solidFill>
            <a:srgbClr val="1E2761"/>
          </a:solidFill>
          <a:ln/>
        </p:spPr>
        <p:txBody>
          <a:bodyPr/>
          <a:lstStyle/>
          <a:p>
            <a:endParaRPr lang="en-US"/>
          </a:p>
        </p:txBody>
      </p:sp>
      <p:pic>
        <p:nvPicPr>
          <p:cNvPr id="7" name="Image 1" descr="preencoded.png"/>
          <p:cNvPicPr>
            <a:picLocks noChangeAspect="1"/>
          </p:cNvPicPr>
          <p:nvPr/>
        </p:nvPicPr>
        <p:blipFill>
          <a:blip r:embed="rId4"/>
          <a:stretch>
            <a:fillRect/>
          </a:stretch>
        </p:blipFill>
        <p:spPr>
          <a:xfrm>
            <a:off x="787481" y="2419685"/>
            <a:ext cx="272125" cy="272125"/>
          </a:xfrm>
          <a:prstGeom prst="rect">
            <a:avLst/>
          </a:prstGeom>
        </p:spPr>
      </p:pic>
      <p:sp>
        <p:nvSpPr>
          <p:cNvPr id="8" name="Text 4"/>
          <p:cNvSpPr/>
          <p:nvPr/>
        </p:nvSpPr>
        <p:spPr>
          <a:xfrm>
            <a:off x="1463040" y="2121408"/>
            <a:ext cx="7223760" cy="868680"/>
          </a:xfrm>
          <a:prstGeom prst="rect">
            <a:avLst/>
          </a:prstGeom>
          <a:noFill/>
          <a:ln/>
        </p:spPr>
        <p:txBody>
          <a:bodyPr wrap="square" lIns="0" tIns="0" rIns="0" bIns="0" rtlCol="0" anchor="ctr"/>
          <a:lstStyle/>
          <a:p>
            <a:pPr marL="0" indent="0" algn="l">
              <a:buNone/>
            </a:pPr>
            <a:r>
              <a:rPr lang="en-US" sz="1550" b="1" dirty="0">
                <a:solidFill>
                  <a:srgbClr val="1E2761"/>
                </a:solidFill>
                <a:latin typeface="Calibri" pitchFamily="34" charset="0"/>
                <a:ea typeface="Calibri" pitchFamily="34" charset="-122"/>
                <a:cs typeface="Calibri" pitchFamily="34" charset="-120"/>
              </a:rPr>
              <a:t>Rules as Code</a:t>
            </a:r>
            <a:endParaRPr lang="en-US" sz="1550" dirty="0"/>
          </a:p>
          <a:p>
            <a:pPr marL="0" indent="0" algn="l">
              <a:buNone/>
            </a:pPr>
            <a:r>
              <a:rPr lang="en-US" sz="1250" dirty="0">
                <a:solidFill>
                  <a:srgbClr val="334155"/>
                </a:solidFill>
                <a:latin typeface="Calibri" pitchFamily="34" charset="0"/>
                <a:ea typeface="Calibri" pitchFamily="34" charset="-122"/>
                <a:cs typeface="Calibri" pitchFamily="34" charset="-120"/>
              </a:rPr>
              <a:t>13 convention files — naming, async/await, null-handling, testing — loaded into every agent's context, enforced in review.</a:t>
            </a:r>
            <a:endParaRPr lang="en-US" sz="1550" dirty="0"/>
          </a:p>
        </p:txBody>
      </p:sp>
      <p:sp>
        <p:nvSpPr>
          <p:cNvPr id="9" name="Shape 5"/>
          <p:cNvSpPr/>
          <p:nvPr/>
        </p:nvSpPr>
        <p:spPr>
          <a:xfrm>
            <a:off x="640080" y="3342132"/>
            <a:ext cx="566928" cy="566928"/>
          </a:xfrm>
          <a:prstGeom prst="ellipse">
            <a:avLst/>
          </a:prstGeom>
          <a:solidFill>
            <a:srgbClr val="1E2761"/>
          </a:solidFill>
          <a:ln/>
        </p:spPr>
        <p:txBody>
          <a:bodyPr/>
          <a:lstStyle/>
          <a:p>
            <a:endParaRPr lang="en-US"/>
          </a:p>
        </p:txBody>
      </p:sp>
      <p:pic>
        <p:nvPicPr>
          <p:cNvPr id="10" name="Image 2" descr="preencoded.png"/>
          <p:cNvPicPr>
            <a:picLocks noChangeAspect="1"/>
          </p:cNvPicPr>
          <p:nvPr/>
        </p:nvPicPr>
        <p:blipFill>
          <a:blip r:embed="rId5"/>
          <a:stretch>
            <a:fillRect/>
          </a:stretch>
        </p:blipFill>
        <p:spPr>
          <a:xfrm>
            <a:off x="787481" y="3489533"/>
            <a:ext cx="272125" cy="272125"/>
          </a:xfrm>
          <a:prstGeom prst="rect">
            <a:avLst/>
          </a:prstGeom>
        </p:spPr>
      </p:pic>
      <p:sp>
        <p:nvSpPr>
          <p:cNvPr id="11" name="Text 6"/>
          <p:cNvSpPr/>
          <p:nvPr/>
        </p:nvSpPr>
        <p:spPr>
          <a:xfrm>
            <a:off x="1463040" y="3191256"/>
            <a:ext cx="7223760" cy="868680"/>
          </a:xfrm>
          <a:prstGeom prst="rect">
            <a:avLst/>
          </a:prstGeom>
          <a:noFill/>
          <a:ln/>
        </p:spPr>
        <p:txBody>
          <a:bodyPr wrap="square" lIns="0" tIns="0" rIns="0" bIns="0" rtlCol="0" anchor="ctr"/>
          <a:lstStyle/>
          <a:p>
            <a:pPr marL="0" indent="0" algn="l">
              <a:buNone/>
            </a:pPr>
            <a:r>
              <a:rPr lang="en-US" sz="1550" b="1" dirty="0">
                <a:solidFill>
                  <a:srgbClr val="1E2761"/>
                </a:solidFill>
                <a:latin typeface="Calibri" pitchFamily="34" charset="0"/>
                <a:ea typeface="Calibri" pitchFamily="34" charset="-122"/>
                <a:cs typeface="Calibri" pitchFamily="34" charset="-120"/>
              </a:rPr>
              <a:t>Hard Gates via Hooks</a:t>
            </a:r>
            <a:endParaRPr lang="en-US" sz="1550" dirty="0"/>
          </a:p>
          <a:p>
            <a:pPr marL="0" indent="0" algn="l">
              <a:buNone/>
            </a:pPr>
            <a:r>
              <a:rPr lang="en-US" sz="1250" dirty="0">
                <a:solidFill>
                  <a:srgbClr val="334155"/>
                </a:solidFill>
                <a:latin typeface="Calibri" pitchFamily="34" charset="0"/>
                <a:ea typeface="Calibri" pitchFamily="34" charset="-122"/>
                <a:cs typeface="Calibri" pitchFamily="34" charset="-120"/>
              </a:rPr>
              <a:t>A PowerShell Stop hook runs dotnet test and refuses to let the agent finish while it fails. Mutation testing is the sqa-engineer’s exclusive gate, mandated in rules/testing.md. Two Company Provided Hooks</a:t>
            </a:r>
            <a:endParaRPr lang="en-US" sz="1250" dirty="0"/>
          </a:p>
        </p:txBody>
      </p:sp>
      <p:sp>
        <p:nvSpPr>
          <p:cNvPr id="12" name="Shape 7"/>
          <p:cNvSpPr/>
          <p:nvPr/>
        </p:nvSpPr>
        <p:spPr>
          <a:xfrm>
            <a:off x="1188720" y="4297680"/>
            <a:ext cx="6766560" cy="566928"/>
          </a:xfrm>
          <a:prstGeom prst="roundRect">
            <a:avLst>
              <a:gd name="adj" fmla="val 14516"/>
            </a:avLst>
          </a:prstGeom>
          <a:solidFill>
            <a:srgbClr val="1E2761"/>
          </a:solidFill>
          <a:ln/>
        </p:spPr>
        <p:txBody>
          <a:bodyPr/>
          <a:lstStyle/>
          <a:p>
            <a:endParaRPr lang="en-US"/>
          </a:p>
        </p:txBody>
      </p:sp>
      <p:sp>
        <p:nvSpPr>
          <p:cNvPr id="13" name="Text 8"/>
          <p:cNvSpPr/>
          <p:nvPr/>
        </p:nvSpPr>
        <p:spPr>
          <a:xfrm>
            <a:off x="1371600" y="4297680"/>
            <a:ext cx="6400800" cy="566928"/>
          </a:xfrm>
          <a:prstGeom prst="rect">
            <a:avLst/>
          </a:prstGeom>
          <a:noFill/>
          <a:ln/>
        </p:spPr>
        <p:txBody>
          <a:bodyPr wrap="square" lIns="0" tIns="0" rIns="0" bIns="0" rtlCol="0" anchor="ctr"/>
          <a:lstStyle/>
          <a:p>
            <a:pPr marL="0" indent="0" algn="ctr">
              <a:buNone/>
            </a:pPr>
            <a:r>
              <a:rPr lang="en-US" sz="1300" i="1" dirty="0">
                <a:solidFill>
                  <a:srgbClr val="FFFFFF"/>
                </a:solidFill>
                <a:latin typeface="Calibri" pitchFamily="34" charset="0"/>
                <a:ea typeface="Calibri" pitchFamily="34" charset="-122"/>
                <a:cs typeface="Calibri" pitchFamily="34" charset="-120"/>
              </a:rPr>
              <a:t>If the gate isn't green, the work isn't done — no matter how confident the agent sounds.</a:t>
            </a:r>
            <a:endParaRPr lang="en-US" sz="1300" dirty="0"/>
          </a:p>
        </p:txBody>
      </p:sp>
    </p:spTree>
    <p:extLst>
      <p:ext uri="{BB962C8B-B14F-4D97-AF65-F5344CB8AC3E}">
        <p14:creationId xmlns:p14="http://schemas.microsoft.com/office/powerpoint/2010/main" val="10985581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lIns="0" tIns="0" rIns="0" bIns="0"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Learnings from Running It for Real</a:t>
            </a:r>
            <a:endParaRPr lang="en-US" sz="3000" dirty="0"/>
          </a:p>
        </p:txBody>
      </p:sp>
      <p:sp>
        <p:nvSpPr>
          <p:cNvPr id="3" name="Shape 1"/>
          <p:cNvSpPr/>
          <p:nvPr/>
        </p:nvSpPr>
        <p:spPr>
          <a:xfrm>
            <a:off x="457200" y="1051560"/>
            <a:ext cx="3977640" cy="3383280"/>
          </a:xfrm>
          <a:prstGeom prst="roundRect">
            <a:avLst>
              <a:gd name="adj" fmla="val 2432"/>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4" name="Shape 2"/>
          <p:cNvSpPr/>
          <p:nvPr/>
        </p:nvSpPr>
        <p:spPr>
          <a:xfrm>
            <a:off x="713232" y="1252728"/>
            <a:ext cx="475488" cy="475488"/>
          </a:xfrm>
          <a:prstGeom prst="ellipse">
            <a:avLst/>
          </a:prstGeom>
          <a:solidFill>
            <a:srgbClr val="2EC4B6"/>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836859" y="1376355"/>
            <a:ext cx="228234" cy="228234"/>
          </a:xfrm>
          <a:prstGeom prst="rect">
            <a:avLst/>
          </a:prstGeom>
        </p:spPr>
      </p:pic>
      <p:sp>
        <p:nvSpPr>
          <p:cNvPr id="6" name="Text 3"/>
          <p:cNvSpPr/>
          <p:nvPr/>
        </p:nvSpPr>
        <p:spPr>
          <a:xfrm>
            <a:off x="1325880" y="1289304"/>
            <a:ext cx="2880360" cy="411480"/>
          </a:xfrm>
          <a:prstGeom prst="rect">
            <a:avLst/>
          </a:prstGeom>
          <a:noFill/>
          <a:ln/>
        </p:spPr>
        <p:txBody>
          <a:bodyPr wrap="square" lIns="0" tIns="0" rIns="0" bIns="0" rtlCol="0" anchor="ctr"/>
          <a:lstStyle/>
          <a:p>
            <a:pPr marL="0" indent="0" algn="l">
              <a:buNone/>
            </a:pPr>
            <a:r>
              <a:rPr lang="en-US" sz="1700" b="1" dirty="0">
                <a:solidFill>
                  <a:srgbClr val="1E2761"/>
                </a:solidFill>
                <a:latin typeface="Cambria" pitchFamily="34" charset="0"/>
                <a:ea typeface="Cambria" pitchFamily="34" charset="-122"/>
                <a:cs typeface="Cambria" pitchFamily="34" charset="-120"/>
              </a:rPr>
              <a:t>What worked</a:t>
            </a:r>
            <a:endParaRPr lang="en-US" sz="1700" dirty="0"/>
          </a:p>
        </p:txBody>
      </p:sp>
      <p:sp>
        <p:nvSpPr>
          <p:cNvPr id="7" name="Text 4"/>
          <p:cNvSpPr/>
          <p:nvPr/>
        </p:nvSpPr>
        <p:spPr>
          <a:xfrm>
            <a:off x="777240" y="1920240"/>
            <a:ext cx="3337560" cy="2286000"/>
          </a:xfrm>
          <a:prstGeom prst="rect">
            <a:avLst/>
          </a:prstGeom>
          <a:noFill/>
          <a:ln/>
        </p:spPr>
        <p:txBody>
          <a:bodyPr wrap="square" lIns="0" tIns="0" rIns="0" bIns="0" rtlCol="0" anchor="t"/>
          <a:lstStyle/>
          <a:p>
            <a:pPr marL="342900" indent="-342900" algn="l">
              <a:spcAft>
                <a:spcPts val="700"/>
              </a:spcAft>
              <a:buSzPct val="100000"/>
              <a:buChar char="•"/>
            </a:pPr>
            <a:r>
              <a:rPr lang="en-US" sz="1150" dirty="0">
                <a:solidFill>
                  <a:srgbClr val="334155"/>
                </a:solidFill>
                <a:latin typeface="Calibri" pitchFamily="34" charset="0"/>
                <a:ea typeface="Calibri" pitchFamily="34" charset="-122"/>
                <a:cs typeface="Calibri" pitchFamily="34" charset="-120"/>
              </a:rPr>
              <a:t>Hard gates catch overconfidence — agents claim “done”; Stryker disagrees.</a:t>
            </a:r>
            <a:endParaRPr lang="en-US" sz="1150" dirty="0"/>
          </a:p>
          <a:p>
            <a:pPr marL="342900" indent="-342900" algn="l">
              <a:spcAft>
                <a:spcPts val="700"/>
              </a:spcAft>
              <a:buSzPct val="100000"/>
              <a:buChar char="•"/>
            </a:pPr>
            <a:r>
              <a:rPr lang="en-US" sz="1150" dirty="0">
                <a:solidFill>
                  <a:srgbClr val="334155"/>
                </a:solidFill>
                <a:latin typeface="Calibri" pitchFamily="34" charset="0"/>
                <a:ea typeface="Calibri" pitchFamily="34" charset="-122"/>
                <a:cs typeface="Calibri" pitchFamily="34" charset="-120"/>
              </a:rPr>
              <a:t>Small, role-scoped agents beat one mega-prompt every time.</a:t>
            </a:r>
            <a:endParaRPr lang="en-US" sz="1150" dirty="0"/>
          </a:p>
          <a:p>
            <a:pPr marL="342900" indent="-342900" algn="l">
              <a:spcAft>
                <a:spcPts val="700"/>
              </a:spcAft>
              <a:buSzPct val="100000"/>
              <a:buChar char="•"/>
            </a:pPr>
            <a:r>
              <a:rPr lang="en-US" sz="1150" dirty="0">
                <a:solidFill>
                  <a:srgbClr val="334155"/>
                </a:solidFill>
                <a:latin typeface="Calibri" pitchFamily="34" charset="0"/>
                <a:ea typeface="Calibri" pitchFamily="34" charset="-122"/>
                <a:cs typeface="Calibri" pitchFamily="34" charset="-120"/>
              </a:rPr>
              <a:t>Reviewing specs and ACs is far cheaper than reviewing diffs.</a:t>
            </a:r>
            <a:endParaRPr lang="en-US" sz="1150" dirty="0"/>
          </a:p>
          <a:p>
            <a:pPr marL="342900" indent="-342900" algn="l">
              <a:spcAft>
                <a:spcPts val="700"/>
              </a:spcAft>
              <a:buSzPct val="100000"/>
              <a:buChar char="•"/>
            </a:pPr>
            <a:r>
              <a:rPr lang="en-US" sz="1150" dirty="0">
                <a:solidFill>
                  <a:srgbClr val="334155"/>
                </a:solidFill>
                <a:latin typeface="Calibri" pitchFamily="34" charset="0"/>
                <a:ea typeface="Calibri" pitchFamily="34" charset="-122"/>
                <a:cs typeface="Calibri" pitchFamily="34" charset="-120"/>
              </a:rPr>
              <a:t>Persistent memory ends re-explaining the codebase every session.</a:t>
            </a:r>
            <a:endParaRPr lang="en-US" sz="1150" dirty="0"/>
          </a:p>
        </p:txBody>
      </p:sp>
      <p:sp>
        <p:nvSpPr>
          <p:cNvPr id="8" name="Shape 5"/>
          <p:cNvSpPr/>
          <p:nvPr/>
        </p:nvSpPr>
        <p:spPr>
          <a:xfrm>
            <a:off x="4709160" y="1051560"/>
            <a:ext cx="3977640" cy="3383280"/>
          </a:xfrm>
          <a:prstGeom prst="roundRect">
            <a:avLst>
              <a:gd name="adj" fmla="val 2432"/>
            </a:avLst>
          </a:prstGeom>
          <a:solidFill>
            <a:srgbClr val="EEF4FE"/>
          </a:solidFill>
          <a:ln/>
          <a:effectLst>
            <a:outerShdw blurRad="88900" dist="25400" dir="2700000" algn="bl" rotWithShape="0">
              <a:srgbClr val="000000">
                <a:alpha val="14000"/>
              </a:srgbClr>
            </a:outerShdw>
          </a:effectLst>
        </p:spPr>
        <p:txBody>
          <a:bodyPr/>
          <a:lstStyle/>
          <a:p>
            <a:endParaRPr lang="en-US"/>
          </a:p>
        </p:txBody>
      </p:sp>
      <p:sp>
        <p:nvSpPr>
          <p:cNvPr id="9" name="Shape 6"/>
          <p:cNvSpPr/>
          <p:nvPr/>
        </p:nvSpPr>
        <p:spPr>
          <a:xfrm>
            <a:off x="4965192" y="1252728"/>
            <a:ext cx="475488" cy="475488"/>
          </a:xfrm>
          <a:prstGeom prst="ellipse">
            <a:avLst/>
          </a:prstGeom>
          <a:solidFill>
            <a:srgbClr val="E8A33D"/>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5088819" y="1376355"/>
            <a:ext cx="228234" cy="228234"/>
          </a:xfrm>
          <a:prstGeom prst="rect">
            <a:avLst/>
          </a:prstGeom>
        </p:spPr>
      </p:pic>
      <p:sp>
        <p:nvSpPr>
          <p:cNvPr id="11" name="Text 7"/>
          <p:cNvSpPr/>
          <p:nvPr/>
        </p:nvSpPr>
        <p:spPr>
          <a:xfrm>
            <a:off x="5577840" y="1289304"/>
            <a:ext cx="2880360" cy="411480"/>
          </a:xfrm>
          <a:prstGeom prst="rect">
            <a:avLst/>
          </a:prstGeom>
          <a:noFill/>
          <a:ln/>
        </p:spPr>
        <p:txBody>
          <a:bodyPr wrap="square" lIns="0" tIns="0" rIns="0" bIns="0" rtlCol="0" anchor="ctr"/>
          <a:lstStyle/>
          <a:p>
            <a:pPr marL="0" indent="0" algn="l">
              <a:buNone/>
            </a:pPr>
            <a:r>
              <a:rPr lang="en-US" sz="1700" b="1" dirty="0">
                <a:solidFill>
                  <a:srgbClr val="1E2761"/>
                </a:solidFill>
                <a:latin typeface="Cambria" pitchFamily="34" charset="0"/>
                <a:ea typeface="Cambria" pitchFamily="34" charset="-122"/>
                <a:cs typeface="Cambria" pitchFamily="34" charset="-120"/>
              </a:rPr>
              <a:t>What to watch</a:t>
            </a:r>
            <a:endParaRPr lang="en-US" sz="1700" dirty="0"/>
          </a:p>
        </p:txBody>
      </p:sp>
      <p:sp>
        <p:nvSpPr>
          <p:cNvPr id="12" name="Text 8"/>
          <p:cNvSpPr/>
          <p:nvPr/>
        </p:nvSpPr>
        <p:spPr>
          <a:xfrm>
            <a:off x="5029200" y="1920240"/>
            <a:ext cx="3337560" cy="2286000"/>
          </a:xfrm>
          <a:prstGeom prst="rect">
            <a:avLst/>
          </a:prstGeom>
          <a:noFill/>
          <a:ln/>
        </p:spPr>
        <p:txBody>
          <a:bodyPr wrap="square" lIns="0" tIns="0" rIns="0" bIns="0" rtlCol="0" anchor="t"/>
          <a:lstStyle/>
          <a:p>
            <a:pPr marL="342900" indent="-342900" algn="l">
              <a:spcAft>
                <a:spcPts val="700"/>
              </a:spcAft>
              <a:buSzPct val="100000"/>
              <a:buChar char="•"/>
            </a:pPr>
            <a:r>
              <a:rPr lang="en-US" sz="1150" dirty="0">
                <a:solidFill>
                  <a:srgbClr val="334155"/>
                </a:solidFill>
                <a:latin typeface="Calibri" pitchFamily="34" charset="0"/>
                <a:ea typeface="Calibri" pitchFamily="34" charset="-122"/>
                <a:cs typeface="Calibri" pitchFamily="34" charset="-120"/>
              </a:rPr>
              <a:t>Orchestration burns tokens — cache discipline is what keeps it at $95, not $1,000.</a:t>
            </a:r>
            <a:endParaRPr lang="en-US" sz="1150" dirty="0"/>
          </a:p>
          <a:p>
            <a:pPr marL="342900" indent="-342900" algn="l">
              <a:spcAft>
                <a:spcPts val="700"/>
              </a:spcAft>
              <a:buSzPct val="100000"/>
              <a:buChar char="•"/>
            </a:pPr>
            <a:r>
              <a:rPr lang="en-US" sz="1150" dirty="0">
                <a:solidFill>
                  <a:srgbClr val="334155"/>
                </a:solidFill>
                <a:latin typeface="Calibri" pitchFamily="34" charset="0"/>
                <a:ea typeface="Calibri" pitchFamily="34" charset="-122"/>
                <a:cs typeface="Calibri" pitchFamily="34" charset="-120"/>
              </a:rPr>
              <a:t>Weak tests get gamed; mutation testing keeps them honest.</a:t>
            </a:r>
            <a:endParaRPr lang="en-US" sz="1150" dirty="0"/>
          </a:p>
          <a:p>
            <a:pPr marL="342900" indent="-342900" algn="l">
              <a:spcAft>
                <a:spcPts val="700"/>
              </a:spcAft>
              <a:buSzPct val="100000"/>
              <a:buChar char="•"/>
            </a:pPr>
            <a:r>
              <a:rPr lang="en-US" sz="1150" dirty="0">
                <a:solidFill>
                  <a:srgbClr val="334155"/>
                </a:solidFill>
                <a:latin typeface="Calibri" pitchFamily="34" charset="0"/>
                <a:ea typeface="Calibri" pitchFamily="34" charset="-122"/>
                <a:cs typeface="Calibri" pitchFamily="34" charset="-120"/>
              </a:rPr>
              <a:t>Long sessions drift — re-anchor agents on the spec.</a:t>
            </a:r>
            <a:endParaRPr lang="en-US" sz="1150" dirty="0"/>
          </a:p>
          <a:p>
            <a:pPr marL="342900" indent="-342900" algn="l">
              <a:spcAft>
                <a:spcPts val="700"/>
              </a:spcAft>
              <a:buSzPct val="100000"/>
              <a:buChar char="•"/>
            </a:pPr>
            <a:r>
              <a:rPr lang="en-US" sz="1150" dirty="0">
                <a:solidFill>
                  <a:srgbClr val="334155"/>
                </a:solidFill>
                <a:latin typeface="Calibri" pitchFamily="34" charset="0"/>
                <a:ea typeface="Calibri" pitchFamily="34" charset="-122"/>
                <a:cs typeface="Calibri" pitchFamily="34" charset="-120"/>
              </a:rPr>
              <a:t>Ambiguity is still a human job; agents will guess if you let them.</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L11">
            <a:extLst>
              <a:ext uri="{FF2B5EF4-FFF2-40B4-BE49-F238E27FC236}">
                <a16:creationId xmlns:a16="http://schemas.microsoft.com/office/drawing/2014/main" id="{DA7CE1CE-9849-45FD-A6EE-301C00EEA8CB}"/>
              </a:ext>
            </a:extLst>
          </p:cNvPr>
          <p:cNvSpPr txBox="1"/>
          <p:nvPr/>
        </p:nvSpPr>
        <p:spPr>
          <a:xfrm>
            <a:off x="457200" y="127000"/>
            <a:ext cx="8229600" cy="406400"/>
          </a:xfrm>
          <a:prstGeom prst="rect">
            <a:avLst/>
          </a:prstGeom>
          <a:noFill/>
        </p:spPr>
        <p:txBody>
          <a:bodyPr vertOverflow="overflow" vert="horz" wrap="square" rtlCol="0" anchor="t">
            <a:noAutofit/>
          </a:bodyPr>
          <a:lstStyle/>
          <a:p>
            <a:pPr algn="l">
              <a:buNone/>
            </a:pPr>
            <a:r>
              <a:rPr lang="en-US" sz="2600" b="1" dirty="0">
                <a:solidFill>
                  <a:srgbClr val="1E2761"/>
                </a:solidFill>
                <a:latin typeface="Cambria"/>
              </a:rPr>
              <a:t>We Need Your Input: Splitting the Architect Agent</a:t>
            </a:r>
          </a:p>
        </p:txBody>
      </p:sp>
      <p:sp>
        <p:nvSpPr>
          <p:cNvPr id="3" name="L12">
            <a:extLst>
              <a:ext uri="{FF2B5EF4-FFF2-40B4-BE49-F238E27FC236}">
                <a16:creationId xmlns:a16="http://schemas.microsoft.com/office/drawing/2014/main" id="{7E5C62BF-0CA5-45CE-91AD-06947BC416BE}"/>
              </a:ext>
            </a:extLst>
          </p:cNvPr>
          <p:cNvSpPr txBox="1"/>
          <p:nvPr/>
        </p:nvSpPr>
        <p:spPr>
          <a:xfrm>
            <a:off x="457200" y="571500"/>
            <a:ext cx="8229600" cy="165100"/>
          </a:xfrm>
          <a:prstGeom prst="rect">
            <a:avLst/>
          </a:prstGeom>
          <a:noFill/>
        </p:spPr>
        <p:txBody>
          <a:bodyPr vertOverflow="overflow" vert="horz" wrap="square" rtlCol="0" anchor="t">
            <a:noAutofit/>
          </a:bodyPr>
          <a:lstStyle/>
          <a:p>
            <a:pPr algn="l">
              <a:buNone/>
            </a:pPr>
            <a:r>
              <a:rPr lang="en-US" sz="1100" b="0" dirty="0">
                <a:solidFill>
                  <a:srgbClr val="334155"/>
                </a:solidFill>
                <a:latin typeface="Calibri"/>
              </a:rPr>
              <a:t>Two open questions on how we design the architecture agents in our AI-DLC workflow</a:t>
            </a:r>
          </a:p>
        </p:txBody>
      </p:sp>
      <p:sp>
        <p:nvSpPr>
          <p:cNvPr id="4" name="CARD0">
            <a:extLst>
              <a:ext uri="{FF2B5EF4-FFF2-40B4-BE49-F238E27FC236}">
                <a16:creationId xmlns:a16="http://schemas.microsoft.com/office/drawing/2014/main" id="{EB1A4ECB-D8BC-469C-9371-C905F314DE8C}"/>
              </a:ext>
            </a:extLst>
          </p:cNvPr>
          <p:cNvSpPr/>
          <p:nvPr/>
        </p:nvSpPr>
        <p:spPr>
          <a:xfrm>
            <a:off x="457200" y="914400"/>
            <a:ext cx="3962400" cy="2997200"/>
          </a:xfrm>
          <a:prstGeom prst="roundRect">
            <a:avLst/>
          </a:prstGeom>
          <a:solidFill>
            <a:srgbClr val="F8FAFC"/>
          </a:solidFill>
          <a:ln w="9525" cap="flat" cmpd="sng" algn="ctr">
            <a:solidFill>
              <a:srgbClr val="CBD5E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CH0">
            <a:extLst>
              <a:ext uri="{FF2B5EF4-FFF2-40B4-BE49-F238E27FC236}">
                <a16:creationId xmlns:a16="http://schemas.microsoft.com/office/drawing/2014/main" id="{917E0B77-5116-4C5F-9F9B-48B28409658E}"/>
              </a:ext>
            </a:extLst>
          </p:cNvPr>
          <p:cNvSpPr/>
          <p:nvPr/>
        </p:nvSpPr>
        <p:spPr>
          <a:xfrm>
            <a:off x="457200" y="914400"/>
            <a:ext cx="3962400" cy="279400"/>
          </a:xfrm>
          <a:prstGeom prst="rect">
            <a:avLst/>
          </a:prstGeom>
          <a:solidFill>
            <a:srgbClr val="1E276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CT0">
            <a:extLst>
              <a:ext uri="{FF2B5EF4-FFF2-40B4-BE49-F238E27FC236}">
                <a16:creationId xmlns:a16="http://schemas.microsoft.com/office/drawing/2014/main" id="{0C1D631B-DB2D-4CF0-B8D1-A70177D643D8}"/>
              </a:ext>
            </a:extLst>
          </p:cNvPr>
          <p:cNvSpPr txBox="1"/>
          <p:nvPr/>
        </p:nvSpPr>
        <p:spPr>
          <a:xfrm>
            <a:off x="584200" y="977900"/>
            <a:ext cx="3708400" cy="177800"/>
          </a:xfrm>
          <a:prstGeom prst="rect">
            <a:avLst/>
          </a:prstGeom>
          <a:noFill/>
        </p:spPr>
        <p:txBody>
          <a:bodyPr vertOverflow="overflow" vert="horz" wrap="square" rtlCol="0" anchor="t">
            <a:noAutofit/>
          </a:bodyPr>
          <a:lstStyle/>
          <a:p>
            <a:pPr algn="l">
              <a:buNone/>
            </a:pPr>
            <a:r>
              <a:rPr lang="en-US" sz="1100" b="1" dirty="0">
                <a:solidFill>
                  <a:srgbClr val="FFFFFF"/>
                </a:solidFill>
                <a:latin typeface="Calibri"/>
              </a:rPr>
              <a:t>Question 1 - One agent or three?</a:t>
            </a:r>
          </a:p>
        </p:txBody>
      </p:sp>
      <p:sp>
        <p:nvSpPr>
          <p:cNvPr id="7" name="CB0">
            <a:extLst>
              <a:ext uri="{FF2B5EF4-FFF2-40B4-BE49-F238E27FC236}">
                <a16:creationId xmlns:a16="http://schemas.microsoft.com/office/drawing/2014/main" id="{7DFBC695-B854-4421-86EF-A144A823019E}"/>
              </a:ext>
            </a:extLst>
          </p:cNvPr>
          <p:cNvSpPr txBox="1"/>
          <p:nvPr/>
        </p:nvSpPr>
        <p:spPr>
          <a:xfrm>
            <a:off x="584200" y="1295400"/>
            <a:ext cx="3708400" cy="2514600"/>
          </a:xfrm>
          <a:prstGeom prst="rect">
            <a:avLst/>
          </a:prstGeom>
          <a:noFill/>
        </p:spPr>
        <p:txBody>
          <a:bodyPr vertOverflow="overflow" vert="horz" wrap="square" rtlCol="0" anchor="t">
            <a:noAutofit/>
          </a:bodyPr>
          <a:lstStyle/>
          <a:p>
            <a:pPr marL="127000" indent="-127000" algn="l">
              <a:lnSpc>
                <a:spcPct val="100000"/>
              </a:lnSpc>
              <a:spcBef>
                <a:spcPts val="0"/>
              </a:spcBef>
              <a:buFont typeface="Arial"/>
              <a:buChar char="•"/>
            </a:pPr>
            <a:r>
              <a:rPr lang="en-US" sz="1000" dirty="0">
                <a:solidFill>
                  <a:srgbClr val="334155"/>
                </a:solidFill>
                <a:latin typeface="Calibri"/>
              </a:rPr>
              <a:t>Today a single Architect agent handles everything from portfolio standards down to service-level code</a:t>
            </a:r>
          </a:p>
          <a:p>
            <a:pPr marL="127000" indent="-127000" algn="l">
              <a:lnSpc>
                <a:spcPct val="100000"/>
              </a:lnSpc>
              <a:spcBef>
                <a:spcPts val="600"/>
              </a:spcBef>
              <a:buFont typeface="Arial"/>
              <a:buChar char="•"/>
            </a:pPr>
            <a:r>
              <a:rPr lang="en-US" sz="1000" dirty="0">
                <a:solidFill>
                  <a:srgbClr val="334155"/>
                </a:solidFill>
                <a:latin typeface="Calibri"/>
              </a:rPr>
              <a:t>Should we split it into three specialised agents mapped to the architecture layers?</a:t>
            </a:r>
          </a:p>
          <a:p>
            <a:pPr marL="127000" indent="0" algn="l">
              <a:lnSpc>
                <a:spcPct val="100000"/>
              </a:lnSpc>
              <a:spcBef>
                <a:spcPts val="900"/>
              </a:spcBef>
              <a:buNone/>
            </a:pPr>
            <a:r>
              <a:rPr lang="en-US" sz="1000" b="1" dirty="0">
                <a:solidFill>
                  <a:srgbClr val="1E2761"/>
                </a:solidFill>
                <a:latin typeface="Calibri"/>
              </a:rPr>
              <a:t>Enterprise Architect agent</a:t>
            </a:r>
            <a:r>
              <a:rPr lang="en-US" sz="1000" b="0" dirty="0">
                <a:solidFill>
                  <a:srgbClr val="334155"/>
                </a:solidFill>
                <a:latin typeface="Calibri"/>
              </a:rPr>
              <a:t> — cross-portfolio standards, capability and investment alignment</a:t>
            </a:r>
          </a:p>
          <a:p>
            <a:pPr marL="127000" indent="0" algn="l">
              <a:lnSpc>
                <a:spcPct val="100000"/>
              </a:lnSpc>
              <a:spcBef>
                <a:spcPts val="600"/>
              </a:spcBef>
              <a:buNone/>
            </a:pPr>
            <a:r>
              <a:rPr lang="en-US" sz="1000" b="1" dirty="0">
                <a:solidFill>
                  <a:srgbClr val="1E2761"/>
                </a:solidFill>
                <a:latin typeface="Calibri"/>
              </a:rPr>
              <a:t>Solution Architect agent</a:t>
            </a:r>
            <a:r>
              <a:rPr lang="en-US" sz="1000" b="0" dirty="0">
                <a:solidFill>
                  <a:srgbClr val="334155"/>
                </a:solidFill>
                <a:latin typeface="Calibri"/>
              </a:rPr>
              <a:t> — end-to-end design of a product or domain across services</a:t>
            </a:r>
          </a:p>
          <a:p>
            <a:pPr marL="127000" indent="0" algn="l">
              <a:lnSpc>
                <a:spcPct val="100000"/>
              </a:lnSpc>
              <a:spcBef>
                <a:spcPts val="600"/>
              </a:spcBef>
              <a:buNone/>
            </a:pPr>
            <a:r>
              <a:rPr lang="en-US" sz="1000" b="1" dirty="0">
                <a:solidFill>
                  <a:srgbClr val="1E2761"/>
                </a:solidFill>
                <a:latin typeface="Calibri"/>
              </a:rPr>
              <a:t>Software Architect agent</a:t>
            </a:r>
            <a:r>
              <a:rPr lang="en-US" sz="1000" b="0" dirty="0">
                <a:solidFill>
                  <a:srgbClr val="334155"/>
                </a:solidFill>
                <a:latin typeface="Calibri"/>
              </a:rPr>
              <a:t> — service-level patterns, code structure and implementation guardrails</a:t>
            </a:r>
          </a:p>
          <a:p>
            <a:pPr marL="127000" indent="-127000" algn="l">
              <a:lnSpc>
                <a:spcPct val="100000"/>
              </a:lnSpc>
              <a:spcBef>
                <a:spcPts val="900"/>
              </a:spcBef>
              <a:buFont typeface="Arial"/>
              <a:buChar char="•"/>
            </a:pPr>
            <a:r>
              <a:rPr lang="en-US" sz="1000" dirty="0">
                <a:solidFill>
                  <a:srgbClr val="334155"/>
                </a:solidFill>
                <a:latin typeface="Calibri"/>
              </a:rPr>
              <a:t>Or does one broad-context architect agent still perform better end to end?</a:t>
            </a:r>
          </a:p>
        </p:txBody>
      </p:sp>
      <p:sp>
        <p:nvSpPr>
          <p:cNvPr id="8" name="CARD1">
            <a:extLst>
              <a:ext uri="{FF2B5EF4-FFF2-40B4-BE49-F238E27FC236}">
                <a16:creationId xmlns:a16="http://schemas.microsoft.com/office/drawing/2014/main" id="{3A7D4E2D-E33B-448B-BF4B-946FF0FCBB41}"/>
              </a:ext>
            </a:extLst>
          </p:cNvPr>
          <p:cNvSpPr/>
          <p:nvPr/>
        </p:nvSpPr>
        <p:spPr>
          <a:xfrm>
            <a:off x="4724400" y="914400"/>
            <a:ext cx="3962400" cy="2997200"/>
          </a:xfrm>
          <a:prstGeom prst="roundRect">
            <a:avLst/>
          </a:prstGeom>
          <a:solidFill>
            <a:srgbClr val="F8FAFC"/>
          </a:solidFill>
          <a:ln w="9525" cap="flat" cmpd="sng" algn="ctr">
            <a:solidFill>
              <a:srgbClr val="CBD5E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CH1">
            <a:extLst>
              <a:ext uri="{FF2B5EF4-FFF2-40B4-BE49-F238E27FC236}">
                <a16:creationId xmlns:a16="http://schemas.microsoft.com/office/drawing/2014/main" id="{AA5926C8-48FD-4C8A-B9D7-2831D455A8CE}"/>
              </a:ext>
            </a:extLst>
          </p:cNvPr>
          <p:cNvSpPr/>
          <p:nvPr/>
        </p:nvSpPr>
        <p:spPr>
          <a:xfrm>
            <a:off x="4724400" y="914400"/>
            <a:ext cx="3962400" cy="279400"/>
          </a:xfrm>
          <a:prstGeom prst="rect">
            <a:avLst/>
          </a:prstGeom>
          <a:solidFill>
            <a:srgbClr val="1E276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CT1">
            <a:extLst>
              <a:ext uri="{FF2B5EF4-FFF2-40B4-BE49-F238E27FC236}">
                <a16:creationId xmlns:a16="http://schemas.microsoft.com/office/drawing/2014/main" id="{B3BCF00E-3935-47F7-907F-83B5CD5EE2C7}"/>
              </a:ext>
            </a:extLst>
          </p:cNvPr>
          <p:cNvSpPr txBox="1"/>
          <p:nvPr/>
        </p:nvSpPr>
        <p:spPr>
          <a:xfrm>
            <a:off x="4851400" y="977900"/>
            <a:ext cx="3708400" cy="177800"/>
          </a:xfrm>
          <a:prstGeom prst="rect">
            <a:avLst/>
          </a:prstGeom>
          <a:noFill/>
        </p:spPr>
        <p:txBody>
          <a:bodyPr vertOverflow="overflow" vert="horz" wrap="square" rtlCol="0" anchor="t">
            <a:noAutofit/>
          </a:bodyPr>
          <a:lstStyle/>
          <a:p>
            <a:pPr algn="l">
              <a:buNone/>
            </a:pPr>
            <a:r>
              <a:rPr lang="en-US" sz="1100" b="1" dirty="0">
                <a:solidFill>
                  <a:srgbClr val="FFFFFF"/>
                </a:solidFill>
                <a:latin typeface="Calibri"/>
              </a:rPr>
              <a:t>Question 2 - If yes, how do we define each agent?</a:t>
            </a:r>
          </a:p>
        </p:txBody>
      </p:sp>
      <p:sp>
        <p:nvSpPr>
          <p:cNvPr id="11" name="CB1">
            <a:extLst>
              <a:ext uri="{FF2B5EF4-FFF2-40B4-BE49-F238E27FC236}">
                <a16:creationId xmlns:a16="http://schemas.microsoft.com/office/drawing/2014/main" id="{7E882DDE-D8E6-47D7-8130-575366225A06}"/>
              </a:ext>
            </a:extLst>
          </p:cNvPr>
          <p:cNvSpPr txBox="1"/>
          <p:nvPr/>
        </p:nvSpPr>
        <p:spPr>
          <a:xfrm>
            <a:off x="4851400" y="1295400"/>
            <a:ext cx="3708400" cy="2514600"/>
          </a:xfrm>
          <a:prstGeom prst="rect">
            <a:avLst/>
          </a:prstGeom>
          <a:noFill/>
        </p:spPr>
        <p:txBody>
          <a:bodyPr vertOverflow="overflow" vert="horz" wrap="square" rtlCol="0" anchor="t">
            <a:noAutofit/>
          </a:bodyPr>
          <a:lstStyle/>
          <a:p>
            <a:pPr marL="127000" indent="-127000" algn="l">
              <a:lnSpc>
                <a:spcPct val="100000"/>
              </a:lnSpc>
              <a:spcBef>
                <a:spcPts val="0"/>
              </a:spcBef>
              <a:buFont typeface="Arial"/>
              <a:buChar char="•"/>
            </a:pPr>
            <a:r>
              <a:rPr lang="en-US" sz="1000" dirty="0">
                <a:solidFill>
                  <a:srgbClr val="334155"/>
                </a:solidFill>
                <a:latin typeface="Calibri"/>
              </a:rPr>
              <a:t>Persona: system prompt, scope of authority and the voice each agent adopts</a:t>
            </a:r>
          </a:p>
          <a:p>
            <a:pPr marL="127000" indent="-127000" algn="l">
              <a:lnSpc>
                <a:spcPct val="100000"/>
              </a:lnSpc>
              <a:spcBef>
                <a:spcPts val="600"/>
              </a:spcBef>
              <a:buFont typeface="Arial"/>
              <a:buChar char="•"/>
            </a:pPr>
            <a:r>
              <a:rPr lang="en-US" sz="1000" dirty="0">
                <a:solidFill>
                  <a:srgbClr val="334155"/>
                </a:solidFill>
                <a:latin typeface="Calibri"/>
              </a:rPr>
              <a:t>Context window: which repos, ADRs and domain models each agent is grounded in</a:t>
            </a:r>
          </a:p>
          <a:p>
            <a:pPr marL="127000" indent="-127000" algn="l">
              <a:lnSpc>
                <a:spcPct val="100000"/>
              </a:lnSpc>
              <a:spcBef>
                <a:spcPts val="600"/>
              </a:spcBef>
              <a:buFont typeface="Arial"/>
              <a:buChar char="•"/>
            </a:pPr>
            <a:r>
              <a:rPr lang="en-US" sz="1000" dirty="0">
                <a:solidFill>
                  <a:srgbClr val="334155"/>
                </a:solidFill>
                <a:latin typeface="Calibri"/>
              </a:rPr>
              <a:t>Tools: which MCP servers, diagrams and code access each agent is granted</a:t>
            </a:r>
          </a:p>
          <a:p>
            <a:pPr marL="127000" indent="-127000" algn="l">
              <a:lnSpc>
                <a:spcPct val="100000"/>
              </a:lnSpc>
              <a:spcBef>
                <a:spcPts val="600"/>
              </a:spcBef>
              <a:buFont typeface="Arial"/>
              <a:buChar char="•"/>
            </a:pPr>
            <a:r>
              <a:rPr lang="en-US" sz="1000" dirty="0">
                <a:solidFill>
                  <a:srgbClr val="334155"/>
                </a:solidFill>
                <a:latin typeface="Calibri"/>
              </a:rPr>
              <a:t>Outputs: the artifacts each agent produces and where they are written back</a:t>
            </a:r>
          </a:p>
          <a:p>
            <a:pPr marL="127000" indent="-127000" algn="l">
              <a:lnSpc>
                <a:spcPct val="100000"/>
              </a:lnSpc>
              <a:spcBef>
                <a:spcPts val="600"/>
              </a:spcBef>
              <a:buFont typeface="Arial"/>
              <a:buChar char="•"/>
            </a:pPr>
            <a:r>
              <a:rPr lang="en-US" sz="1000" dirty="0">
                <a:solidFill>
                  <a:srgbClr val="334155"/>
                </a:solidFill>
                <a:latin typeface="Calibri"/>
              </a:rPr>
              <a:t>Hand-offs: how the three chain together without looping or contradicting each other</a:t>
            </a:r>
          </a:p>
          <a:p>
            <a:pPr marL="127000" indent="-127000" algn="l">
              <a:lnSpc>
                <a:spcPct val="100000"/>
              </a:lnSpc>
              <a:spcBef>
                <a:spcPts val="600"/>
              </a:spcBef>
              <a:buFont typeface="Arial"/>
              <a:buChar char="•"/>
            </a:pPr>
            <a:r>
              <a:rPr lang="en-US" sz="1000" dirty="0">
                <a:solidFill>
                  <a:srgbClr val="334155"/>
                </a:solidFill>
                <a:latin typeface="Calibri"/>
              </a:rPr>
              <a:t>Human in the loop: which decisions still escalate to a person for sign-off</a:t>
            </a:r>
          </a:p>
        </p:txBody>
      </p:sp>
      <p:sp>
        <p:nvSpPr>
          <p:cNvPr id="12" name="TAKE">
            <a:extLst>
              <a:ext uri="{FF2B5EF4-FFF2-40B4-BE49-F238E27FC236}">
                <a16:creationId xmlns:a16="http://schemas.microsoft.com/office/drawing/2014/main" id="{D78B9A45-1F91-4DDA-A658-26E761F899B8}"/>
              </a:ext>
            </a:extLst>
          </p:cNvPr>
          <p:cNvSpPr/>
          <p:nvPr/>
        </p:nvSpPr>
        <p:spPr>
          <a:xfrm>
            <a:off x="457200" y="4089400"/>
            <a:ext cx="8229600" cy="355600"/>
          </a:xfrm>
          <a:prstGeom prst="roundRect">
            <a:avLst/>
          </a:prstGeom>
          <a:solidFill>
            <a:srgbClr val="E8ECF7"/>
          </a:solidFill>
          <a:ln w="9525" cap="flat" cmpd="sng" algn="ctr">
            <a:solidFill>
              <a:srgbClr val="1E276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TAKET">
            <a:extLst>
              <a:ext uri="{FF2B5EF4-FFF2-40B4-BE49-F238E27FC236}">
                <a16:creationId xmlns:a16="http://schemas.microsoft.com/office/drawing/2014/main" id="{0DE1B727-0F61-476D-B0A5-6AD885AEEE9F}"/>
              </a:ext>
            </a:extLst>
          </p:cNvPr>
          <p:cNvSpPr txBox="1"/>
          <p:nvPr/>
        </p:nvSpPr>
        <p:spPr>
          <a:xfrm>
            <a:off x="584200" y="4178300"/>
            <a:ext cx="7975600" cy="203200"/>
          </a:xfrm>
          <a:prstGeom prst="rect">
            <a:avLst/>
          </a:prstGeom>
          <a:noFill/>
        </p:spPr>
        <p:txBody>
          <a:bodyPr vertOverflow="overflow" vert="horz" wrap="square" rtlCol="0" anchor="t">
            <a:noAutofit/>
          </a:bodyPr>
          <a:lstStyle/>
          <a:p>
            <a:pPr algn="ctr">
              <a:buNone/>
            </a:pPr>
            <a:r>
              <a:rPr lang="en-US" sz="1050" b="1" dirty="0">
                <a:solidFill>
                  <a:srgbClr val="1E2761"/>
                </a:solidFill>
                <a:latin typeface="Calibri"/>
              </a:rPr>
              <a:t>The question is not headcount - it is whether narrower agent scope &amp; context produces better architecture decisions.</a:t>
            </a:r>
          </a:p>
        </p:txBody>
      </p:sp>
      <p:sp>
        <p:nvSpPr>
          <p:cNvPr id="14" name="L66">
            <a:extLst>
              <a:ext uri="{FF2B5EF4-FFF2-40B4-BE49-F238E27FC236}">
                <a16:creationId xmlns:a16="http://schemas.microsoft.com/office/drawing/2014/main" id="{F968BEA6-9750-4AF2-BBF9-213158E1C3CC}"/>
              </a:ext>
            </a:extLst>
          </p:cNvPr>
          <p:cNvSpPr txBox="1"/>
          <p:nvPr/>
        </p:nvSpPr>
        <p:spPr>
          <a:xfrm>
            <a:off x="457200" y="4572000"/>
            <a:ext cx="8229600" cy="203200"/>
          </a:xfrm>
          <a:prstGeom prst="rect">
            <a:avLst/>
          </a:prstGeom>
          <a:noFill/>
        </p:spPr>
        <p:txBody>
          <a:bodyPr vertOverflow="overflow" vert="horz" wrap="square" rtlCol="0" anchor="t">
            <a:noAutofit/>
          </a:bodyPr>
          <a:lstStyle/>
          <a:p>
            <a:pPr algn="ctr">
              <a:buNone/>
            </a:pPr>
            <a:r>
              <a:rPr lang="en-US" sz="1000" b="0" dirty="0">
                <a:solidFill>
                  <a:srgbClr val="334155"/>
                </a:solidFill>
                <a:latin typeface="Calibri"/>
              </a:rPr>
              <a:t>Please share views now or in the follow-up thread; we will consolidate into an agent design proposal.</a:t>
            </a:r>
          </a:p>
        </p:txBody>
      </p:sp>
    </p:spTree>
    <p:extLst>
      <p:ext uri="{BB962C8B-B14F-4D97-AF65-F5344CB8AC3E}">
        <p14:creationId xmlns:p14="http://schemas.microsoft.com/office/powerpoint/2010/main" val="15942949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L11"/>
          <p:cNvSpPr txBox="1"/>
          <p:nvPr/>
        </p:nvSpPr>
        <p:spPr>
          <a:xfrm>
            <a:off x="457200" y="127000"/>
            <a:ext cx="8229600" cy="307777"/>
          </a:xfrm>
          <a:prstGeom prst="rect">
            <a:avLst/>
          </a:prstGeom>
          <a:noFill/>
        </p:spPr>
        <p:txBody>
          <a:bodyPr wrap="square" lIns="0" tIns="0" rIns="0" bIns="0" anchor="t">
            <a:spAutoFit/>
          </a:bodyPr>
          <a:lstStyle/>
          <a:p>
            <a:r>
              <a:rPr lang="en-US" sz="2000" b="1" dirty="0">
                <a:solidFill>
                  <a:srgbClr val="1E2761"/>
                </a:solidFill>
                <a:latin typeface="Cambria"/>
              </a:rPr>
              <a:t>We Need Your Input: Centralizing Agent Artifacts Across Services</a:t>
            </a:r>
          </a:p>
        </p:txBody>
      </p:sp>
      <p:sp>
        <p:nvSpPr>
          <p:cNvPr id="101" name="L12"/>
          <p:cNvSpPr txBox="1"/>
          <p:nvPr/>
        </p:nvSpPr>
        <p:spPr>
          <a:xfrm>
            <a:off x="457200" y="571500"/>
            <a:ext cx="8229600" cy="153888"/>
          </a:xfrm>
          <a:prstGeom prst="rect">
            <a:avLst/>
          </a:prstGeom>
          <a:noFill/>
        </p:spPr>
        <p:txBody>
          <a:bodyPr wrap="square" lIns="0" tIns="0" rIns="0" bIns="0" anchor="t">
            <a:spAutoFit/>
          </a:bodyPr>
          <a:lstStyle/>
          <a:p>
            <a:pPr algn="l">
              <a:buNone/>
            </a:pPr>
            <a:r>
              <a:rPr lang="en-US" sz="1000" dirty="0">
                <a:solidFill>
                  <a:srgbClr val="334155"/>
                </a:solidFill>
                <a:latin typeface="Calibri"/>
              </a:rPr>
              <a:t>Three strategies for one source of truth across Microservices, BFFs and MFEs</a:t>
            </a:r>
          </a:p>
        </p:txBody>
      </p:sp>
      <p:sp>
        <p:nvSpPr>
          <p:cNvPr id="102" name="CARD0"/>
          <p:cNvSpPr/>
          <p:nvPr/>
        </p:nvSpPr>
        <p:spPr>
          <a:xfrm>
            <a:off x="457200" y="914400"/>
            <a:ext cx="2641600" cy="1549400"/>
          </a:xfrm>
          <a:prstGeom prst="roundRect">
            <a:avLst>
              <a:gd name="adj" fmla="val 6000"/>
            </a:avLst>
          </a:prstGeom>
          <a:solidFill>
            <a:srgbClr val="F8FAFC"/>
          </a:solidFill>
          <a:ln w="9525">
            <a:solidFill>
              <a:srgbClr val="CBD5E1"/>
            </a:solidFill>
          </a:ln>
        </p:spPr>
        <p:txBody>
          <a:bodyPr/>
          <a:lstStyle/>
          <a:p>
            <a:pPr>
              <a:buNone/>
            </a:pPr>
            <a:endParaRPr lang="en-US"/>
          </a:p>
        </p:txBody>
      </p:sp>
      <p:sp>
        <p:nvSpPr>
          <p:cNvPr id="103" name="CH0"/>
          <p:cNvSpPr/>
          <p:nvPr/>
        </p:nvSpPr>
        <p:spPr>
          <a:xfrm>
            <a:off x="457200" y="914400"/>
            <a:ext cx="2641600" cy="279400"/>
          </a:xfrm>
          <a:prstGeom prst="rect">
            <a:avLst/>
          </a:prstGeom>
          <a:solidFill>
            <a:srgbClr val="1E2761"/>
          </a:solidFill>
          <a:ln>
            <a:noFill/>
          </a:ln>
        </p:spPr>
        <p:txBody>
          <a:bodyPr/>
          <a:lstStyle/>
          <a:p>
            <a:pPr>
              <a:buNone/>
            </a:pPr>
            <a:endParaRPr lang="en-US"/>
          </a:p>
        </p:txBody>
      </p:sp>
      <p:sp>
        <p:nvSpPr>
          <p:cNvPr id="104" name="CT0"/>
          <p:cNvSpPr txBox="1"/>
          <p:nvPr/>
        </p:nvSpPr>
        <p:spPr>
          <a:xfrm>
            <a:off x="584200" y="977900"/>
            <a:ext cx="2387600" cy="177800"/>
          </a:xfrm>
          <a:prstGeom prst="rect">
            <a:avLst/>
          </a:prstGeom>
          <a:noFill/>
        </p:spPr>
        <p:txBody>
          <a:bodyPr wrap="square" lIns="0" tIns="0" rIns="0" bIns="0" anchor="t">
            <a:spAutoFit/>
          </a:bodyPr>
          <a:lstStyle/>
          <a:p>
            <a:pPr algn="l">
              <a:buNone/>
            </a:pPr>
            <a:r>
              <a:rPr lang="en-US" sz="1100" b="1" dirty="0">
                <a:solidFill>
                  <a:srgbClr val="FFFFFF"/>
                </a:solidFill>
                <a:latin typeface="Calibri"/>
              </a:rPr>
              <a:t>Option 1 - Centralized Obsidian Vault</a:t>
            </a:r>
          </a:p>
        </p:txBody>
      </p:sp>
      <p:sp>
        <p:nvSpPr>
          <p:cNvPr id="105" name="CB0"/>
          <p:cNvSpPr txBox="1"/>
          <p:nvPr/>
        </p:nvSpPr>
        <p:spPr>
          <a:xfrm>
            <a:off x="584200" y="1295400"/>
            <a:ext cx="2387600" cy="1092200"/>
          </a:xfrm>
          <a:prstGeom prst="rect">
            <a:avLst/>
          </a:prstGeom>
          <a:noFill/>
        </p:spPr>
        <p:txBody>
          <a:bodyPr wrap="square" lIns="0" tIns="0" rIns="0" bIns="0" anchor="t">
            <a:spAutoFit/>
          </a:bodyPr>
          <a:lstStyle/>
          <a:p>
            <a:pPr marL="127000" indent="-127000" algn="l">
              <a:lnSpc>
                <a:spcPct val="100000"/>
              </a:lnSpc>
              <a:spcBef>
                <a:spcPts val="400"/>
              </a:spcBef>
              <a:buFont typeface="Arial"/>
              <a:buChar char="•"/>
            </a:pPr>
            <a:r>
              <a:rPr lang="en-US" sz="1000" dirty="0">
                <a:solidFill>
                  <a:srgbClr val="334155"/>
                </a:solidFill>
                <a:latin typeface="Calibri"/>
              </a:rPr>
              <a:t>One vault indexes ADRs, domain models and agent prompts for every service</a:t>
            </a:r>
          </a:p>
          <a:p>
            <a:pPr marL="127000" indent="-127000" algn="l">
              <a:lnSpc>
                <a:spcPct val="100000"/>
              </a:lnSpc>
              <a:spcBef>
                <a:spcPts val="400"/>
              </a:spcBef>
              <a:buFont typeface="Arial"/>
              <a:buChar char="•"/>
            </a:pPr>
            <a:r>
              <a:rPr lang="en-US" sz="1000" dirty="0">
                <a:solidFill>
                  <a:srgbClr val="334155"/>
                </a:solidFill>
                <a:latin typeface="Calibri"/>
              </a:rPr>
              <a:t>Backlinks and graph view expose cross-service dependencies people actually read</a:t>
            </a:r>
          </a:p>
          <a:p>
            <a:pPr marL="127000" indent="-127000" algn="l">
              <a:lnSpc>
                <a:spcPct val="100000"/>
              </a:lnSpc>
              <a:spcBef>
                <a:spcPts val="400"/>
              </a:spcBef>
              <a:buFont typeface="Arial"/>
              <a:buChar char="•"/>
            </a:pPr>
            <a:r>
              <a:rPr lang="en-US" sz="1000" dirty="0">
                <a:solidFill>
                  <a:srgbClr val="334155"/>
                </a:solidFill>
                <a:latin typeface="Calibri"/>
              </a:rPr>
              <a:t>Weak point: no commit-level tie to code, so docs drift silently</a:t>
            </a:r>
          </a:p>
        </p:txBody>
      </p:sp>
      <p:sp>
        <p:nvSpPr>
          <p:cNvPr id="106" name="CARD1"/>
          <p:cNvSpPr/>
          <p:nvPr/>
        </p:nvSpPr>
        <p:spPr>
          <a:xfrm>
            <a:off x="3251200" y="914400"/>
            <a:ext cx="2641600" cy="1549400"/>
          </a:xfrm>
          <a:prstGeom prst="roundRect">
            <a:avLst>
              <a:gd name="adj" fmla="val 6000"/>
            </a:avLst>
          </a:prstGeom>
          <a:solidFill>
            <a:srgbClr val="F8FAFC"/>
          </a:solidFill>
          <a:ln w="9525">
            <a:solidFill>
              <a:srgbClr val="CBD5E1"/>
            </a:solidFill>
          </a:ln>
        </p:spPr>
        <p:txBody>
          <a:bodyPr/>
          <a:lstStyle/>
          <a:p>
            <a:pPr>
              <a:buNone/>
            </a:pPr>
            <a:endParaRPr lang="en-US"/>
          </a:p>
        </p:txBody>
      </p:sp>
      <p:sp>
        <p:nvSpPr>
          <p:cNvPr id="107" name="CH1"/>
          <p:cNvSpPr/>
          <p:nvPr/>
        </p:nvSpPr>
        <p:spPr>
          <a:xfrm>
            <a:off x="3251200" y="914400"/>
            <a:ext cx="2641600" cy="279400"/>
          </a:xfrm>
          <a:prstGeom prst="rect">
            <a:avLst/>
          </a:prstGeom>
          <a:solidFill>
            <a:srgbClr val="1E2761"/>
          </a:solidFill>
          <a:ln>
            <a:noFill/>
          </a:ln>
        </p:spPr>
        <p:txBody>
          <a:bodyPr/>
          <a:lstStyle/>
          <a:p>
            <a:pPr>
              <a:buNone/>
            </a:pPr>
            <a:endParaRPr lang="en-US"/>
          </a:p>
        </p:txBody>
      </p:sp>
      <p:sp>
        <p:nvSpPr>
          <p:cNvPr id="108" name="CT1"/>
          <p:cNvSpPr txBox="1"/>
          <p:nvPr/>
        </p:nvSpPr>
        <p:spPr>
          <a:xfrm>
            <a:off x="3378200" y="977900"/>
            <a:ext cx="2387600" cy="177800"/>
          </a:xfrm>
          <a:prstGeom prst="rect">
            <a:avLst/>
          </a:prstGeom>
          <a:noFill/>
        </p:spPr>
        <p:txBody>
          <a:bodyPr wrap="square" lIns="0" tIns="0" rIns="0" bIns="0" anchor="t">
            <a:spAutoFit/>
          </a:bodyPr>
          <a:lstStyle/>
          <a:p>
            <a:pPr algn="l">
              <a:buNone/>
            </a:pPr>
            <a:r>
              <a:rPr lang="en-US" sz="1100" b="1" dirty="0">
                <a:solidFill>
                  <a:srgbClr val="FFFFFF"/>
                </a:solidFill>
                <a:latin typeface="Calibri"/>
              </a:rPr>
              <a:t>Option 2 - Umbrella Repo with Git Submodules</a:t>
            </a:r>
          </a:p>
        </p:txBody>
      </p:sp>
      <p:sp>
        <p:nvSpPr>
          <p:cNvPr id="109" name="CB1"/>
          <p:cNvSpPr txBox="1"/>
          <p:nvPr/>
        </p:nvSpPr>
        <p:spPr>
          <a:xfrm>
            <a:off x="3378200" y="1295400"/>
            <a:ext cx="2387600" cy="1092200"/>
          </a:xfrm>
          <a:prstGeom prst="rect">
            <a:avLst/>
          </a:prstGeom>
          <a:noFill/>
        </p:spPr>
        <p:txBody>
          <a:bodyPr wrap="square" lIns="0" tIns="0" rIns="0" bIns="0" anchor="t">
            <a:spAutoFit/>
          </a:bodyPr>
          <a:lstStyle/>
          <a:p>
            <a:pPr marL="127000" indent="-127000" algn="l">
              <a:lnSpc>
                <a:spcPct val="100000"/>
              </a:lnSpc>
              <a:spcBef>
                <a:spcPts val="400"/>
              </a:spcBef>
              <a:buFont typeface="Arial"/>
              <a:buChar char="•"/>
            </a:pPr>
            <a:r>
              <a:rPr lang="en-US" sz="1000" dirty="0">
                <a:solidFill>
                  <a:srgbClr val="334155"/>
                </a:solidFill>
                <a:latin typeface="Calibri"/>
              </a:rPr>
              <a:t>Each Microservice, BFF and MFE pinned at an exact commit under one repo</a:t>
            </a:r>
          </a:p>
          <a:p>
            <a:pPr marL="127000" indent="-127000" algn="l">
              <a:lnSpc>
                <a:spcPct val="100000"/>
              </a:lnSpc>
              <a:spcBef>
                <a:spcPts val="400"/>
              </a:spcBef>
              <a:buFont typeface="Arial"/>
              <a:buChar char="•"/>
            </a:pPr>
            <a:r>
              <a:rPr lang="en-US" sz="1000" dirty="0">
                <a:solidFill>
                  <a:srgbClr val="334155"/>
                </a:solidFill>
                <a:latin typeface="Calibri"/>
              </a:rPr>
              <a:t>Agents get the whole solution in one clone; cross-service changes stay reviewable</a:t>
            </a:r>
          </a:p>
          <a:p>
            <a:pPr marL="127000" indent="-127000" algn="l">
              <a:lnSpc>
                <a:spcPct val="100000"/>
              </a:lnSpc>
              <a:spcBef>
                <a:spcPts val="400"/>
              </a:spcBef>
              <a:buFont typeface="Arial"/>
              <a:buChar char="•"/>
            </a:pPr>
            <a:r>
              <a:rPr lang="en-US" sz="1000" dirty="0">
                <a:solidFill>
                  <a:srgbClr val="334155"/>
                </a:solidFill>
                <a:latin typeface="Calibri"/>
              </a:rPr>
              <a:t>Weak point: submodule hygiene is real work and needs contributor discipline</a:t>
            </a:r>
          </a:p>
        </p:txBody>
      </p:sp>
      <p:sp>
        <p:nvSpPr>
          <p:cNvPr id="110" name="CARD2"/>
          <p:cNvSpPr/>
          <p:nvPr/>
        </p:nvSpPr>
        <p:spPr>
          <a:xfrm>
            <a:off x="457200" y="2565400"/>
            <a:ext cx="3962400" cy="1549400"/>
          </a:xfrm>
          <a:prstGeom prst="roundRect">
            <a:avLst>
              <a:gd name="adj" fmla="val 6000"/>
            </a:avLst>
          </a:prstGeom>
          <a:solidFill>
            <a:srgbClr val="F8FAFC"/>
          </a:solidFill>
          <a:ln w="9525">
            <a:solidFill>
              <a:srgbClr val="CBD5E1"/>
            </a:solidFill>
          </a:ln>
        </p:spPr>
        <p:txBody>
          <a:bodyPr/>
          <a:lstStyle/>
          <a:p>
            <a:pPr>
              <a:buNone/>
            </a:pPr>
            <a:endParaRPr lang="en-US"/>
          </a:p>
        </p:txBody>
      </p:sp>
      <p:sp>
        <p:nvSpPr>
          <p:cNvPr id="111" name="CH2"/>
          <p:cNvSpPr/>
          <p:nvPr/>
        </p:nvSpPr>
        <p:spPr>
          <a:xfrm>
            <a:off x="457200" y="2565400"/>
            <a:ext cx="3962400" cy="279400"/>
          </a:xfrm>
          <a:prstGeom prst="rect">
            <a:avLst/>
          </a:prstGeom>
          <a:solidFill>
            <a:srgbClr val="1E2761"/>
          </a:solidFill>
          <a:ln>
            <a:noFill/>
          </a:ln>
        </p:spPr>
        <p:txBody>
          <a:bodyPr/>
          <a:lstStyle/>
          <a:p>
            <a:pPr>
              <a:buNone/>
            </a:pPr>
            <a:endParaRPr lang="en-US"/>
          </a:p>
        </p:txBody>
      </p:sp>
      <p:sp>
        <p:nvSpPr>
          <p:cNvPr id="112" name="CT2"/>
          <p:cNvSpPr txBox="1"/>
          <p:nvPr/>
        </p:nvSpPr>
        <p:spPr>
          <a:xfrm>
            <a:off x="584200" y="2628900"/>
            <a:ext cx="3708400" cy="177800"/>
          </a:xfrm>
          <a:prstGeom prst="rect">
            <a:avLst/>
          </a:prstGeom>
          <a:noFill/>
        </p:spPr>
        <p:txBody>
          <a:bodyPr wrap="square" lIns="0" tIns="0" rIns="0" bIns="0" anchor="t">
            <a:spAutoFit/>
          </a:bodyPr>
          <a:lstStyle/>
          <a:p>
            <a:pPr algn="l">
              <a:buNone/>
            </a:pPr>
            <a:r>
              <a:rPr lang="en-US" sz="1100" b="1" dirty="0">
                <a:solidFill>
                  <a:srgbClr val="FFFFFF"/>
                </a:solidFill>
                <a:latin typeface="Calibri"/>
              </a:rPr>
              <a:t>Trade-offs to Weigh</a:t>
            </a:r>
          </a:p>
        </p:txBody>
      </p:sp>
      <p:sp>
        <p:nvSpPr>
          <p:cNvPr id="113" name="CB2"/>
          <p:cNvSpPr txBox="1"/>
          <p:nvPr/>
        </p:nvSpPr>
        <p:spPr>
          <a:xfrm>
            <a:off x="584200" y="2946400"/>
            <a:ext cx="3708400" cy="1092200"/>
          </a:xfrm>
          <a:prstGeom prst="rect">
            <a:avLst/>
          </a:prstGeom>
          <a:noFill/>
        </p:spPr>
        <p:txBody>
          <a:bodyPr wrap="square" lIns="0" tIns="0" rIns="0" bIns="0" anchor="t">
            <a:spAutoFit/>
          </a:bodyPr>
          <a:lstStyle/>
          <a:p>
            <a:pPr marL="127000" indent="-127000" algn="l">
              <a:lnSpc>
                <a:spcPct val="100000"/>
              </a:lnSpc>
              <a:spcBef>
                <a:spcPts val="400"/>
              </a:spcBef>
              <a:buFont typeface="Arial"/>
              <a:buChar char="•"/>
            </a:pPr>
            <a:r>
              <a:rPr lang="en-US" sz="1000" dirty="0">
                <a:solidFill>
                  <a:srgbClr val="334155"/>
                </a:solidFill>
                <a:latin typeface="Calibri"/>
              </a:rPr>
              <a:t>Freshness: submodules version with the code; a vault relies on habit</a:t>
            </a:r>
          </a:p>
          <a:p>
            <a:pPr marL="127000" indent="-127000" algn="l">
              <a:lnSpc>
                <a:spcPct val="100000"/>
              </a:lnSpc>
              <a:spcBef>
                <a:spcPts val="400"/>
              </a:spcBef>
              <a:buFont typeface="Arial"/>
              <a:buChar char="•"/>
            </a:pPr>
            <a:r>
              <a:rPr lang="en-US" sz="1000" dirty="0">
                <a:solidFill>
                  <a:srgbClr val="334155"/>
                </a:solidFill>
                <a:latin typeface="Calibri"/>
              </a:rPr>
              <a:t>Audience: vault suits architects and onboarding, repo suits agents and CI</a:t>
            </a:r>
          </a:p>
          <a:p>
            <a:pPr marL="127000" indent="-127000" algn="l">
              <a:lnSpc>
                <a:spcPct val="100000"/>
              </a:lnSpc>
              <a:spcBef>
                <a:spcPts val="400"/>
              </a:spcBef>
              <a:buFont typeface="Arial"/>
              <a:buChar char="•"/>
            </a:pPr>
            <a:r>
              <a:rPr lang="en-US" sz="1000" dirty="0">
                <a:solidFill>
                  <a:srgbClr val="334155"/>
                </a:solidFill>
                <a:latin typeface="Calibri"/>
              </a:rPr>
              <a:t>Cost: vault is near-zero setup; submodules need tooling and update automation</a:t>
            </a:r>
          </a:p>
        </p:txBody>
      </p:sp>
      <p:sp>
        <p:nvSpPr>
          <p:cNvPr id="114" name="CARD3"/>
          <p:cNvSpPr/>
          <p:nvPr/>
        </p:nvSpPr>
        <p:spPr>
          <a:xfrm>
            <a:off x="4724400" y="2565400"/>
            <a:ext cx="3962400" cy="1549400"/>
          </a:xfrm>
          <a:prstGeom prst="roundRect">
            <a:avLst>
              <a:gd name="adj" fmla="val 6000"/>
            </a:avLst>
          </a:prstGeom>
          <a:solidFill>
            <a:srgbClr val="F8FAFC"/>
          </a:solidFill>
          <a:ln w="9525">
            <a:solidFill>
              <a:srgbClr val="CBD5E1"/>
            </a:solidFill>
          </a:ln>
        </p:spPr>
        <p:txBody>
          <a:bodyPr/>
          <a:lstStyle/>
          <a:p>
            <a:pPr>
              <a:buNone/>
            </a:pPr>
            <a:endParaRPr lang="en-US"/>
          </a:p>
        </p:txBody>
      </p:sp>
      <p:sp>
        <p:nvSpPr>
          <p:cNvPr id="115" name="CH3"/>
          <p:cNvSpPr/>
          <p:nvPr/>
        </p:nvSpPr>
        <p:spPr>
          <a:xfrm>
            <a:off x="4724400" y="2565400"/>
            <a:ext cx="3962400" cy="279400"/>
          </a:xfrm>
          <a:prstGeom prst="rect">
            <a:avLst/>
          </a:prstGeom>
          <a:solidFill>
            <a:srgbClr val="1E2761"/>
          </a:solidFill>
          <a:ln>
            <a:noFill/>
          </a:ln>
        </p:spPr>
        <p:txBody>
          <a:bodyPr/>
          <a:lstStyle/>
          <a:p>
            <a:pPr>
              <a:buNone/>
            </a:pPr>
            <a:endParaRPr lang="en-US"/>
          </a:p>
        </p:txBody>
      </p:sp>
      <p:sp>
        <p:nvSpPr>
          <p:cNvPr id="116" name="CT3"/>
          <p:cNvSpPr txBox="1"/>
          <p:nvPr/>
        </p:nvSpPr>
        <p:spPr>
          <a:xfrm>
            <a:off x="4851400" y="2628900"/>
            <a:ext cx="3708400" cy="177800"/>
          </a:xfrm>
          <a:prstGeom prst="rect">
            <a:avLst/>
          </a:prstGeom>
          <a:noFill/>
        </p:spPr>
        <p:txBody>
          <a:bodyPr wrap="square" lIns="0" tIns="0" rIns="0" bIns="0" anchor="t">
            <a:spAutoFit/>
          </a:bodyPr>
          <a:lstStyle/>
          <a:p>
            <a:pPr algn="l">
              <a:buNone/>
            </a:pPr>
            <a:r>
              <a:rPr lang="en-US" sz="1100" b="1" dirty="0">
                <a:solidFill>
                  <a:srgbClr val="FFFFFF"/>
                </a:solidFill>
                <a:latin typeface="Calibri"/>
              </a:rPr>
              <a:t>Recommendation - Run Both, One Owner</a:t>
            </a:r>
          </a:p>
        </p:txBody>
      </p:sp>
      <p:sp>
        <p:nvSpPr>
          <p:cNvPr id="117" name="CB3"/>
          <p:cNvSpPr txBox="1"/>
          <p:nvPr/>
        </p:nvSpPr>
        <p:spPr>
          <a:xfrm>
            <a:off x="4851400" y="2946400"/>
            <a:ext cx="3708400" cy="1092200"/>
          </a:xfrm>
          <a:prstGeom prst="rect">
            <a:avLst/>
          </a:prstGeom>
          <a:noFill/>
        </p:spPr>
        <p:txBody>
          <a:bodyPr wrap="square" lIns="0" tIns="0" rIns="0" bIns="0" anchor="t">
            <a:spAutoFit/>
          </a:bodyPr>
          <a:lstStyle/>
          <a:p>
            <a:pPr marL="127000" indent="-127000" algn="l">
              <a:lnSpc>
                <a:spcPct val="100000"/>
              </a:lnSpc>
              <a:spcBef>
                <a:spcPts val="400"/>
              </a:spcBef>
              <a:buFont typeface="Arial"/>
              <a:buChar char="•"/>
            </a:pPr>
            <a:r>
              <a:rPr lang="en-US" sz="1000" dirty="0">
                <a:solidFill>
                  <a:srgbClr val="334155"/>
                </a:solidFill>
                <a:latin typeface="Calibri"/>
              </a:rPr>
              <a:t>Umbrella repo is the system of record: versioned, CI-checked, agent-readable</a:t>
            </a:r>
          </a:p>
          <a:p>
            <a:pPr marL="127000" indent="-127000" algn="l">
              <a:lnSpc>
                <a:spcPct val="100000"/>
              </a:lnSpc>
              <a:spcBef>
                <a:spcPts val="400"/>
              </a:spcBef>
              <a:buFont typeface="Arial"/>
              <a:buChar char="•"/>
            </a:pPr>
            <a:r>
              <a:rPr lang="en-US" sz="1000" dirty="0">
                <a:solidFill>
                  <a:srgbClr val="334155"/>
                </a:solidFill>
                <a:latin typeface="Calibri"/>
              </a:rPr>
              <a:t>Vault sits on top of that repo as the human reading and knowledge layer</a:t>
            </a:r>
          </a:p>
          <a:p>
            <a:pPr marL="127000" indent="-127000" algn="l">
              <a:lnSpc>
                <a:spcPct val="100000"/>
              </a:lnSpc>
              <a:spcBef>
                <a:spcPts val="400"/>
              </a:spcBef>
              <a:buFont typeface="Arial"/>
              <a:buChar char="•"/>
            </a:pPr>
            <a:r>
              <a:rPr lang="en-US" sz="1000" dirty="0">
                <a:solidFill>
                  <a:srgbClr val="334155"/>
                </a:solidFill>
                <a:latin typeface="Calibri"/>
              </a:rPr>
              <a:t>Single CODEOWNERS and one update pipeline keep the two in step</a:t>
            </a:r>
          </a:p>
        </p:txBody>
      </p:sp>
      <p:sp>
        <p:nvSpPr>
          <p:cNvPr id="118" name="TAKE"/>
          <p:cNvSpPr/>
          <p:nvPr/>
        </p:nvSpPr>
        <p:spPr>
          <a:xfrm>
            <a:off x="457200" y="4241800"/>
            <a:ext cx="8229600" cy="355600"/>
          </a:xfrm>
          <a:prstGeom prst="rect">
            <a:avLst/>
          </a:prstGeom>
          <a:solidFill>
            <a:srgbClr val="E8ECF7"/>
          </a:solidFill>
          <a:ln w="9525">
            <a:solidFill>
              <a:srgbClr val="1E2761"/>
            </a:solidFill>
          </a:ln>
        </p:spPr>
        <p:txBody>
          <a:bodyPr/>
          <a:lstStyle/>
          <a:p>
            <a:pPr>
              <a:buNone/>
            </a:pPr>
            <a:endParaRPr lang="en-US"/>
          </a:p>
        </p:txBody>
      </p:sp>
      <p:sp>
        <p:nvSpPr>
          <p:cNvPr id="119" name="TAKET"/>
          <p:cNvSpPr txBox="1"/>
          <p:nvPr/>
        </p:nvSpPr>
        <p:spPr>
          <a:xfrm>
            <a:off x="584200" y="4330700"/>
            <a:ext cx="7975600" cy="203200"/>
          </a:xfrm>
          <a:prstGeom prst="rect">
            <a:avLst/>
          </a:prstGeom>
          <a:noFill/>
        </p:spPr>
        <p:txBody>
          <a:bodyPr wrap="square" lIns="0" tIns="0" rIns="0" bIns="0" anchor="ctr">
            <a:spAutoFit/>
          </a:bodyPr>
          <a:lstStyle/>
          <a:p>
            <a:pPr algn="ctr">
              <a:buNone/>
            </a:pPr>
            <a:r>
              <a:rPr lang="en-US" sz="1050" b="1" dirty="0">
                <a:solidFill>
                  <a:srgbClr val="1E2761"/>
                </a:solidFill>
                <a:latin typeface="Calibri"/>
              </a:rPr>
              <a:t>Agent context belongs where the code is versioned; the knowledge layer makes it navigable.</a:t>
            </a:r>
          </a:p>
        </p:txBody>
      </p:sp>
      <p:sp>
        <p:nvSpPr>
          <p:cNvPr id="120" name="L66"/>
          <p:cNvSpPr txBox="1"/>
          <p:nvPr/>
        </p:nvSpPr>
        <p:spPr>
          <a:xfrm>
            <a:off x="457200" y="4724400"/>
            <a:ext cx="8229600" cy="203200"/>
          </a:xfrm>
          <a:prstGeom prst="rect">
            <a:avLst/>
          </a:prstGeom>
          <a:noFill/>
        </p:spPr>
        <p:txBody>
          <a:bodyPr wrap="square" lIns="0" tIns="0" rIns="0" bIns="0" anchor="t">
            <a:spAutoFit/>
          </a:bodyPr>
          <a:lstStyle/>
          <a:p>
            <a:pPr algn="ctr">
              <a:buNone/>
            </a:pPr>
            <a:r>
              <a:rPr lang="en-US" sz="1000" b="0" dirty="0">
                <a:solidFill>
                  <a:srgbClr val="334155"/>
                </a:solidFill>
                <a:latin typeface="Calibri"/>
              </a:rPr>
              <a:t>Pick the repo if agents are the primary consumer; add the vault the moment humans need to navigate it.</a:t>
            </a:r>
          </a:p>
        </p:txBody>
      </p:sp>
      <p:sp>
        <p:nvSpPr>
          <p:cNvPr id="2" name="CARD4">
            <a:extLst>
              <a:ext uri="{FF2B5EF4-FFF2-40B4-BE49-F238E27FC236}">
                <a16:creationId xmlns:a16="http://schemas.microsoft.com/office/drawing/2014/main" id="{EE30D558-A450-4C8E-BB1B-50250C468769}"/>
              </a:ext>
            </a:extLst>
          </p:cNvPr>
          <p:cNvSpPr/>
          <p:nvPr/>
        </p:nvSpPr>
        <p:spPr>
          <a:xfrm>
            <a:off x="6045200" y="914400"/>
            <a:ext cx="2641600" cy="1549400"/>
          </a:xfrm>
          <a:prstGeom prst="rect">
            <a:avLst/>
          </a:prstGeom>
          <a:solidFill>
            <a:srgbClr val="F8FAFC"/>
          </a:solidFill>
          <a:ln w="9525" cap="flat" cmpd="sng" algn="ctr">
            <a:solidFill>
              <a:srgbClr val="CBD5E1"/>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CH4">
            <a:extLst>
              <a:ext uri="{FF2B5EF4-FFF2-40B4-BE49-F238E27FC236}">
                <a16:creationId xmlns:a16="http://schemas.microsoft.com/office/drawing/2014/main" id="{7F5E8F76-76EC-45F7-A135-5A7BC08DBB97}"/>
              </a:ext>
            </a:extLst>
          </p:cNvPr>
          <p:cNvSpPr/>
          <p:nvPr/>
        </p:nvSpPr>
        <p:spPr>
          <a:xfrm>
            <a:off x="6045200" y="914400"/>
            <a:ext cx="2641600" cy="279400"/>
          </a:xfrm>
          <a:prstGeom prst="rect">
            <a:avLst/>
          </a:prstGeom>
          <a:solidFill>
            <a:srgbClr val="1E276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CT4">
            <a:extLst>
              <a:ext uri="{FF2B5EF4-FFF2-40B4-BE49-F238E27FC236}">
                <a16:creationId xmlns:a16="http://schemas.microsoft.com/office/drawing/2014/main" id="{5CBB5037-D45F-4B0B-B859-D3141B80348B}"/>
              </a:ext>
            </a:extLst>
          </p:cNvPr>
          <p:cNvSpPr txBox="1"/>
          <p:nvPr/>
        </p:nvSpPr>
        <p:spPr>
          <a:xfrm>
            <a:off x="6172200" y="934868"/>
            <a:ext cx="2387600" cy="261610"/>
          </a:xfrm>
          <a:prstGeom prst="rect">
            <a:avLst/>
          </a:prstGeom>
          <a:noFill/>
        </p:spPr>
        <p:txBody>
          <a:bodyPr vertOverflow="overflow" vert="horz" wrap="square" rtlCol="0" anchor="t">
            <a:spAutoFit/>
          </a:bodyPr>
          <a:lstStyle/>
          <a:p>
            <a:pPr algn="l">
              <a:buNone/>
            </a:pPr>
            <a:r>
              <a:rPr lang="en-US" sz="1100" b="1" dirty="0">
                <a:solidFill>
                  <a:srgbClr val="FFFFFF"/>
                </a:solidFill>
                <a:latin typeface="Calibri"/>
              </a:rPr>
              <a:t>Option 3 - Claude Artifacts</a:t>
            </a:r>
          </a:p>
        </p:txBody>
      </p:sp>
      <p:sp>
        <p:nvSpPr>
          <p:cNvPr id="5" name="CB4">
            <a:extLst>
              <a:ext uri="{FF2B5EF4-FFF2-40B4-BE49-F238E27FC236}">
                <a16:creationId xmlns:a16="http://schemas.microsoft.com/office/drawing/2014/main" id="{D1E526D3-84C1-4724-8644-5474A69139B2}"/>
              </a:ext>
            </a:extLst>
          </p:cNvPr>
          <p:cNvSpPr txBox="1"/>
          <p:nvPr/>
        </p:nvSpPr>
        <p:spPr>
          <a:xfrm>
            <a:off x="6172200" y="1220094"/>
            <a:ext cx="2387600" cy="1272143"/>
          </a:xfrm>
          <a:prstGeom prst="rect">
            <a:avLst/>
          </a:prstGeom>
          <a:noFill/>
        </p:spPr>
        <p:txBody>
          <a:bodyPr vertOverflow="overflow" vert="horz" wrap="square" rtlCol="0" anchor="t">
            <a:spAutoFit/>
          </a:bodyPr>
          <a:lstStyle/>
          <a:p>
            <a:pPr marL="127000" indent="-127000" algn="l">
              <a:lnSpc>
                <a:spcPct val="100000"/>
              </a:lnSpc>
              <a:spcBef>
                <a:spcPts val="400"/>
              </a:spcBef>
              <a:buFont typeface="Arial"/>
              <a:buChar char="•"/>
            </a:pPr>
            <a:r>
              <a:rPr lang="en-US" sz="1000" dirty="0">
                <a:solidFill>
                  <a:srgbClr val="334155"/>
                </a:solidFill>
                <a:latin typeface="Calibri"/>
              </a:rPr>
              <a:t>Agent-authored ADRs, domain models and diagrams published as shareable artifacts</a:t>
            </a:r>
          </a:p>
          <a:p>
            <a:pPr marL="127000" indent="-127000" algn="l">
              <a:lnSpc>
                <a:spcPct val="100000"/>
              </a:lnSpc>
              <a:spcBef>
                <a:spcPts val="400"/>
              </a:spcBef>
              <a:buFont typeface="Arial"/>
              <a:buChar char="•"/>
            </a:pPr>
            <a:r>
              <a:rPr lang="en-US" sz="1000" dirty="0">
                <a:solidFill>
                  <a:srgbClr val="334155"/>
                </a:solidFill>
                <a:latin typeface="Calibri"/>
              </a:rPr>
              <a:t>Zero setup — no repo hygiene or vault to maintain; agents publish directly</a:t>
            </a:r>
          </a:p>
          <a:p>
            <a:pPr marL="127000" indent="-127000" algn="l">
              <a:lnSpc>
                <a:spcPct val="100000"/>
              </a:lnSpc>
              <a:spcBef>
                <a:spcPts val="400"/>
              </a:spcBef>
              <a:buFont typeface="Arial"/>
              <a:buChar char="•"/>
            </a:pPr>
            <a:r>
              <a:rPr lang="en-US" sz="1000" dirty="0">
                <a:solidFill>
                  <a:srgbClr val="334155"/>
                </a:solidFill>
                <a:latin typeface="Calibri"/>
              </a:rPr>
              <a:t>Weak point: not versioned with the code and lives outside CI</a:t>
            </a:r>
          </a:p>
        </p:txBody>
      </p:sp>
    </p:spTree>
    <p:extLst>
      <p:ext uri="{BB962C8B-B14F-4D97-AF65-F5344CB8AC3E}">
        <p14:creationId xmlns:p14="http://schemas.microsoft.com/office/powerpoint/2010/main" val="41305201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685800"/>
            <a:ext cx="8229600" cy="64008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Where This Goes Next</a:t>
            </a:r>
            <a:endParaRPr lang="en-US" sz="3400" dirty="0"/>
          </a:p>
        </p:txBody>
      </p:sp>
      <p:sp>
        <p:nvSpPr>
          <p:cNvPr id="3" name="Text 1"/>
          <p:cNvSpPr/>
          <p:nvPr/>
        </p:nvSpPr>
        <p:spPr>
          <a:xfrm>
            <a:off x="1554480" y="1600200"/>
            <a:ext cx="6035040" cy="1554480"/>
          </a:xfrm>
          <a:prstGeom prst="rect">
            <a:avLst/>
          </a:prstGeom>
          <a:noFill/>
          <a:ln/>
        </p:spPr>
        <p:txBody>
          <a:bodyPr wrap="square" lIns="0" tIns="0" rIns="0" bIns="0" rtlCol="0" anchor="t"/>
          <a:lstStyle/>
          <a:p>
            <a:pPr marL="342900" indent="-342900" algn="l">
              <a:spcAft>
                <a:spcPts val="1200"/>
              </a:spcAft>
              <a:buSzPct val="100000"/>
              <a:buChar char="•"/>
            </a:pPr>
            <a:r>
              <a:rPr lang="en-US" sz="1500" dirty="0">
                <a:solidFill>
                  <a:srgbClr val="CADCFC"/>
                </a:solidFill>
                <a:latin typeface="Calibri" pitchFamily="34" charset="0"/>
                <a:ea typeface="Calibri" pitchFamily="34" charset="-122"/>
                <a:cs typeface="Calibri" pitchFamily="34" charset="-120"/>
              </a:rPr>
              <a:t>From one repo to a team platform — shared agents, skills and rules across projects.</a:t>
            </a:r>
            <a:endParaRPr lang="en-US" sz="1500" dirty="0"/>
          </a:p>
          <a:p>
            <a:pPr marL="342900" indent="-342900" algn="l">
              <a:spcAft>
                <a:spcPts val="1200"/>
              </a:spcAft>
              <a:buSzPct val="100000"/>
              <a:buChar char="•"/>
            </a:pPr>
            <a:r>
              <a:rPr lang="en-US" sz="1500" dirty="0">
                <a:solidFill>
                  <a:srgbClr val="CADCFC"/>
                </a:solidFill>
                <a:latin typeface="Calibri" pitchFamily="34" charset="0"/>
                <a:ea typeface="Calibri" pitchFamily="34" charset="-122"/>
                <a:cs typeface="Calibri" pitchFamily="34" charset="-120"/>
              </a:rPr>
              <a:t>More autonomy only as gates get stronger — CI-side agent loops with the same guardrails.</a:t>
            </a:r>
            <a:endParaRPr lang="en-US" sz="1500" dirty="0"/>
          </a:p>
          <a:p>
            <a:pPr marL="342900" indent="-342900" algn="l">
              <a:spcAft>
                <a:spcPts val="1200"/>
              </a:spcAft>
              <a:buSzPct val="100000"/>
              <a:buChar char="•"/>
            </a:pPr>
            <a:r>
              <a:rPr lang="en-US" sz="1500" dirty="0">
                <a:solidFill>
                  <a:srgbClr val="CADCFC"/>
                </a:solidFill>
                <a:latin typeface="Calibri" pitchFamily="34" charset="0"/>
                <a:ea typeface="Calibri" pitchFamily="34" charset="-122"/>
                <a:cs typeface="Calibri" pitchFamily="34" charset="-120"/>
              </a:rPr>
              <a:t>Measure agents like engineers — cycle time, defect escape rate, mutation score.</a:t>
            </a:r>
            <a:endParaRPr lang="en-US" sz="1500" dirty="0"/>
          </a:p>
        </p:txBody>
      </p:sp>
      <p:sp>
        <p:nvSpPr>
          <p:cNvPr id="4" name="Text 2"/>
          <p:cNvSpPr/>
          <p:nvPr/>
        </p:nvSpPr>
        <p:spPr>
          <a:xfrm>
            <a:off x="457200" y="3520440"/>
            <a:ext cx="8229600" cy="548640"/>
          </a:xfrm>
          <a:prstGeom prst="rect">
            <a:avLst/>
          </a:prstGeom>
          <a:noFill/>
          <a:ln/>
        </p:spPr>
        <p:txBody>
          <a:bodyPr wrap="square" rtlCol="0" anchor="ctr"/>
          <a:lstStyle/>
          <a:p>
            <a:pPr marL="0" indent="0" algn="ctr">
              <a:buNone/>
            </a:pPr>
            <a:r>
              <a:rPr lang="en-US" sz="3000" b="1" dirty="0">
                <a:solidFill>
                  <a:srgbClr val="2EC4B6"/>
                </a:solidFill>
                <a:latin typeface="Cambria" pitchFamily="34" charset="0"/>
                <a:ea typeface="Cambria" pitchFamily="34" charset="-122"/>
                <a:cs typeface="Cambria" pitchFamily="34" charset="-120"/>
              </a:rPr>
              <a:t>Thank you</a:t>
            </a:r>
            <a:endParaRPr lang="en-US" sz="3000" dirty="0"/>
          </a:p>
        </p:txBody>
      </p:sp>
      <p:sp>
        <p:nvSpPr>
          <p:cNvPr id="5" name="Text 3"/>
          <p:cNvSpPr/>
          <p:nvPr/>
        </p:nvSpPr>
        <p:spPr>
          <a:xfrm>
            <a:off x="457200" y="4160520"/>
            <a:ext cx="8229600" cy="320040"/>
          </a:xfrm>
          <a:prstGeom prst="rect">
            <a:avLst/>
          </a:prstGeom>
          <a:noFill/>
          <a:ln/>
        </p:spPr>
        <p:txBody>
          <a:bodyPr wrap="square" rtlCol="0" anchor="ctr"/>
          <a:lstStyle/>
          <a:p>
            <a:pPr marL="0" indent="0" algn="ctr">
              <a:buNone/>
            </a:pPr>
            <a:r>
              <a:rPr lang="en-US" sz="1250" dirty="0">
                <a:solidFill>
                  <a:srgbClr val="CADCFC"/>
                </a:solidFill>
                <a:latin typeface="Calibri" pitchFamily="34" charset="0"/>
                <a:ea typeface="Calibri" pitchFamily="34" charset="-122"/>
                <a:cs typeface="Calibri" pitchFamily="34" charset="-120"/>
              </a:rPr>
              <a:t>Rafsan Hasan</a:t>
            </a:r>
          </a:p>
          <a:p>
            <a:pPr marL="0" indent="0" algn="ctr">
              <a:buNone/>
            </a:pPr>
            <a:r>
              <a:rPr lang="en-US" sz="1250" dirty="0">
                <a:solidFill>
                  <a:srgbClr val="CADCFC"/>
                </a:solidFill>
                <a:latin typeface="Calibri" pitchFamily="34" charset="0"/>
                <a:ea typeface="Calibri" pitchFamily="34" charset="-122"/>
                <a:cs typeface="Calibri" pitchFamily="34" charset="-120"/>
              </a:rPr>
              <a:t>Rafsanul.hasan@brainstation-23.com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 dockstate="right" visibility="0" width="454" row="2">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F8043E13-3AE3-47CB-9E0D-9BF1C6A4E11D}">
  <we:reference id="wa200010001" version="1.0.0.1" store="en-US" storeType="OMEX"/>
  <we:alternateReferences>
    <we:reference id="WA200010001" version="1.0.0.1" store="WA200010001" storeType="OMEX"/>
  </we:alternateReferences>
  <we:properties>
    <we:property name="claude.fileId" value="&quot;fecb0b2d-65f4-42cd-9a22-4e9d35b89eef&quot;"/>
  </we:properties>
  <we:bindings/>
  <we:snapshot xmlns:r="http://schemas.openxmlformats.org/officeDocument/2006/relationships"/>
</we:webextension>
</file>

<file path=ppt/webextensions/webextension2.xml><?xml version="1.0" encoding="utf-8"?>
<we:webextension xmlns:we="http://schemas.microsoft.com/office/webextensions/webextension/2010/11" id="{FFE814D1-7618-4B86-A9D9-9081D5AA06B7}">
  <we:reference id="wa200010725" version="1.0.0.1" store="en-US" storeType="OMEX"/>
  <we:alternateReferences>
    <we:reference id="WA200010725" version="1.0.0.1" store="WA200010725" storeType="OMEX"/>
  </we:alternateReferences>
  <we:properties>
    <we:property name="claude.fileId" value="&quot;42078fae-441d-45d4-8740-e0fb71c1ddf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3936</TotalTime>
  <Words>7408</Words>
  <Application>Microsoft Office PowerPoint</Application>
  <PresentationFormat>On-screen Show (16:9)</PresentationFormat>
  <Paragraphs>662</Paragraphs>
  <Slides>26</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AI-DLC in Practice: Agentic Software Development with Claude Code</dc:title>
  <dc:subject>PptxGenJS Presentation</dc:subject>
  <dc:creator>Rafsan Hasan</dc:creator>
  <cp:lastModifiedBy>Rafsanul Hasan</cp:lastModifiedBy>
  <cp:revision>137</cp:revision>
  <dcterms:created xsi:type="dcterms:W3CDTF">2026-07-07T18:29:33Z</dcterms:created>
  <dcterms:modified xsi:type="dcterms:W3CDTF">2026-08-01T15:59:19Z</dcterms:modified>
</cp:coreProperties>
</file>